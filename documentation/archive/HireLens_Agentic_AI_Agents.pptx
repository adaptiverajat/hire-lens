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02920"/>
            <a:ext cx="6126480" cy="5806440"/>
          </a:xfrm>
          <a:prstGeom prst="roundRect">
            <a:avLst>
              <a:gd name="adj" fmla="val 3142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2423160" cy="29260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889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73252"/>
            <a:ext cx="242316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AGENTIC RECRUITMENT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52525"/>
                </a:solidFill>
                <a:latin typeface="Segoe UI"/>
              </a:rPr>
              <a:t>HireLens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52525"/>
                </a:solidFill>
                <a:latin typeface="Segoe UI"/>
              </a:rPr>
              <a:t>The multi-agent system
behind evidence-led hiring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01568"/>
            <a:ext cx="51663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37373"/>
                </a:solidFill>
                <a:latin typeface="Segoe UI"/>
              </a:rPr>
              <a:t>Eight specialised agents. Four LangGraph workflows.
One human decision boundary.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224528"/>
            <a:ext cx="5212080" cy="0"/>
          </a:xfrm>
          <a:prstGeom prst="line">
            <a:avLst/>
          </a:prstGeom>
          <a:ln w="1524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44805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0118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44805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490118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44805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52525"/>
                </a:solidFill>
                <a:latin typeface="Segoe UI"/>
              </a:rPr>
              <a:t>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4901184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37373"/>
                </a:solidFill>
                <a:latin typeface="Segoe UI"/>
              </a:rPr>
              <a:t>DECISION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37373"/>
                </a:solidFill>
                <a:latin typeface="Segoe UI"/>
              </a:rPr>
              <a:t>Architecture overview · 2026</a:t>
            </a:r>
          </a:p>
        </p:txBody>
      </p:sp>
      <p:pic>
        <p:nvPicPr>
          <p:cNvPr id="16" name="Picture 15" descr="HireL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60120"/>
            <a:ext cx="45720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5715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37373"/>
                </a:solidFill>
                <a:latin typeface="Segoe UI"/>
              </a:rPr>
              <a:t>Privacy-aware  •  Observable  •  Advisory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HIRELENS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28016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8016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SYSTEM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From documents to defensible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HireLens turns hiring inputs into structured, traceable evidence while keeping the final decision human.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8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Convert JDs, resumes and transcripts into validated domain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11880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Retrieve comparable, expert-verified cases before model reasoning.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3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73951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1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1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Mechanically check quotes, case IDs, schemas and severity consistency.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2029968"/>
            <a:ext cx="2606040" cy="295351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36024" y="224028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36024" y="224485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52525"/>
                </a:solidFill>
                <a:latin typeface="Segoe UI"/>
              </a:rPr>
              <a:t>HAND 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310128"/>
            <a:ext cx="2176272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Package recommendations, uncertainty and open questions for a reviewer.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5468112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CORE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376672"/>
            <a:ext cx="9006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Agents advise. Evidence constrains. Humans decide.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SYSTEM PURPOSE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21158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2115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Four workflows, one evidence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A deterministic control plane routes state through specialised agents and durable handoffs.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969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144268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JD INTAKE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56816"/>
            <a:ext cx="82296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215798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72384" y="2295144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01568" y="1956816"/>
            <a:ext cx="123444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93008" y="2157984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JD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90872" y="2295144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0056" y="1956816"/>
            <a:ext cx="96012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11496" y="215798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Persist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295144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64224" y="1956816"/>
            <a:ext cx="868680" cy="676656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2157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159252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RESUME INTAKE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82296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86000" y="3172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Load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72384" y="3310128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01568" y="2971800"/>
            <a:ext cx="137160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93008" y="3172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Resume Agent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28031" y="3310128"/>
            <a:ext cx="219457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57216" y="2971800"/>
            <a:ext cx="96012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48655" y="317296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Persist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72199" y="3310128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01383" y="2971800"/>
            <a:ext cx="868680" cy="676656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92823" y="317296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Segoe UI"/>
              </a:rPr>
              <a:t>Index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16966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4174236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CANDIDATE ANALYSIS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3986784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0" y="418795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Supervisor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92424" y="4325112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721608" y="3986784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13048" y="4187952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RAG plan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28032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157216" y="3986784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48656" y="418795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Gap Agent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55080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684264" y="3986784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75704" y="4187952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RAG gaps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90688" y="4325112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19872" y="3986784"/>
            <a:ext cx="1097280" cy="676656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11312" y="4187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657D9"/>
                </a:solidFill>
                <a:latin typeface="Segoe UI"/>
              </a:rPr>
              <a:t>Question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18464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5189220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TRANSCRIPT REVIEW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86000" y="5202936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Eval RAG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300984" y="5340096"/>
            <a:ext cx="219455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630168" y="5001768"/>
            <a:ext cx="114300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21607" y="5202936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Transcript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828031" y="5340096"/>
            <a:ext cx="219457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157216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248655" y="5202936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Flag RAG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63639" y="5340096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592823" y="5001768"/>
            <a:ext cx="105156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84263" y="5202936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Red Flag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699248" y="5340096"/>
            <a:ext cx="219456" cy="0"/>
          </a:xfrm>
          <a:prstGeom prst="line">
            <a:avLst/>
          </a:prstGeom>
          <a:ln w="1778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028431" y="5001768"/>
            <a:ext cx="1005840" cy="676656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016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19871" y="5202936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2368" y="1965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Segoe UI"/>
              </a:rPr>
              <a:t>Shared services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84080" y="2331720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784080" y="2336291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PGVECTOR MEMORY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2953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84080" y="2958084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84080" y="357530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784080" y="3579876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AGENT MEMORY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784080" y="419709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4201668"/>
            <a:ext cx="14173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HUMAN FEEDBACK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WORKFLOW MAP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1430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AGENT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Eight agents, deliberately narrow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Specialisation keeps extraction, retrieval, reasoning, validation and review independently observable.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JD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Requirements 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47872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47872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Resume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Privacy-filtered 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64224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Evidence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Intent + semantic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938528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80576" y="2121408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0576" y="2125980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5420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Gap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29718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Fit reasoning + gaps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Question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Targeted interview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2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547872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47872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Transcript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Answer scoring + quotes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64224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64224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4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Red Flag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Case-grounded concerns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7696" y="3840480"/>
            <a:ext cx="2578608" cy="1627632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180576" y="4023360"/>
            <a:ext cx="43891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80576" y="4027932"/>
            <a:ext cx="43891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4443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2525"/>
                </a:solidFill>
                <a:latin typeface="Segoe UI"/>
              </a:rPr>
              <a:t>Human Review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0576" y="487375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Decision packet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15584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dirty="0">
                <a:solidFill>
                  <a:srgbClr val="737373"/>
                </a:solidFill>
                <a:latin typeface="Segoe UI"/>
              </a:rPr>
              <a:t>AGENT ROSTER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JD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Turns an unstructured role description into a weighted requirement contract.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1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JD intake
load → extract
→ persist →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raw job description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title, seniority, 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Extracts </a:t>
            </a:r>
            <a:r>
              <a:rPr sz="1230">
                <a:solidFill>
                  <a:srgbClr val="737373"/>
                </a:solidFill>
                <a:latin typeface="Segoe UI"/>
              </a:rPr>
              <a:t>skills, technologies, experience, certifications and domains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Weights </a:t>
            </a:r>
            <a:r>
              <a:rPr sz="1230">
                <a:solidFill>
                  <a:srgbClr val="737373"/>
                </a:solidFill>
                <a:latin typeface="Segoe UI"/>
              </a:rPr>
              <a:t>importance from 0–100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Classifies </a:t>
            </a:r>
            <a:r>
              <a:rPr sz="1230">
                <a:solidFill>
                  <a:srgbClr val="737373"/>
                </a:solidFill>
                <a:latin typeface="Segoe UI"/>
              </a:rPr>
              <a:t>required vs. nice-to-have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Structured JD </a:t>
            </a:r>
            <a:r>
              <a:rPr sz="1230">
                <a:solidFill>
                  <a:srgbClr val="737373"/>
                </a:solidFill>
                <a:latin typeface="Segoe UI"/>
              </a:rPr>
              <a:t>validated by Zod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Requirement rows </a:t>
            </a:r>
            <a:r>
              <a:rPr sz="1230">
                <a:solidFill>
                  <a:srgbClr val="737373"/>
                </a:solidFill>
                <a:latin typeface="Segoe UI"/>
              </a:rPr>
              <a:t>for deterministic matching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Privacy-safe vectors </a:t>
            </a:r>
            <a:r>
              <a:rPr sz="1230">
                <a:solidFill>
                  <a:srgbClr val="737373"/>
                </a:solidFill>
                <a:latin typeface="Segoe UI"/>
              </a:rPr>
              <a:t>for retrieval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Structured output — </a:t>
            </a:r>
            <a:r>
              <a:rPr sz="1130">
                <a:solidFill>
                  <a:srgbClr val="737373"/>
                </a:solidFill>
                <a:latin typeface="Segoe UI"/>
              </a:rPr>
              <a:t>prevents free-form drift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Persistence + indexing — </a:t>
            </a:r>
            <a:r>
              <a:rPr sz="1130">
                <a:solidFill>
                  <a:srgbClr val="737373"/>
                </a:solidFill>
                <a:latin typeface="Segoe UI"/>
              </a:rPr>
              <a:t>occur after validation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Resume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Builds an anonymous, evidence-bearing candidate profile.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2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Resume intake
local contact → redact
→ extract → persist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resume text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Local fields: </a:t>
            </a:r>
            <a:r>
              <a:rPr sz="1230">
                <a:solidFill>
                  <a:srgbClr val="737373"/>
                </a:solidFill>
                <a:latin typeface="Segoe UI"/>
              </a:rPr>
              <a:t>name, email, 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Redacts </a:t>
            </a:r>
            <a:r>
              <a:rPr sz="1230">
                <a:solidFill>
                  <a:srgbClr val="737373"/>
                </a:solidFill>
                <a:latin typeface="Segoe UI"/>
              </a:rPr>
              <a:t>identity, contact, URLs, location and institutions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Extracts </a:t>
            </a:r>
            <a:r>
              <a:rPr sz="1230">
                <a:solidFill>
                  <a:srgbClr val="737373"/>
                </a:solidFill>
                <a:latin typeface="Segoe UI"/>
              </a:rPr>
              <a:t>skills with proficiency and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Normalises </a:t>
            </a:r>
            <a:r>
              <a:rPr sz="1230">
                <a:solidFill>
                  <a:srgbClr val="737373"/>
                </a:solidFill>
                <a:latin typeface="Segoe UI"/>
              </a:rPr>
              <a:t>employment, projects and total experience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Candidate profile </a:t>
            </a:r>
            <a:r>
              <a:rPr sz="1230">
                <a:solidFill>
                  <a:srgbClr val="737373"/>
                </a:solidFill>
                <a:latin typeface="Segoe UI"/>
              </a:rPr>
              <a:t>without outbound PII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Skill evidence </a:t>
            </a:r>
            <a:r>
              <a:rPr sz="1230">
                <a:solidFill>
                  <a:srgbClr val="737373"/>
                </a:solidFill>
                <a:latin typeface="Segoe UI"/>
              </a:rPr>
              <a:t>for matching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Anonymous vectors </a:t>
            </a:r>
            <a:r>
              <a:rPr sz="1230">
                <a:solidFill>
                  <a:srgbClr val="737373"/>
                </a:solidFill>
                <a:latin typeface="Segoe UI"/>
              </a:rPr>
              <a:t>for future retrieval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Original source — </a:t>
            </a:r>
            <a:r>
              <a:rPr sz="1130">
                <a:solidFill>
                  <a:srgbClr val="737373"/>
                </a:solidFill>
                <a:latin typeface="Segoe UI"/>
              </a:rPr>
              <a:t>retained for authorised users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Demo preview — </a:t>
            </a:r>
            <a:r>
              <a:rPr sz="1130">
                <a:solidFill>
                  <a:srgbClr val="737373"/>
                </a:solidFill>
                <a:latin typeface="Segoe UI"/>
              </a:rPr>
              <a:t>masked before display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AI boundary — </a:t>
            </a:r>
            <a:r>
              <a:rPr sz="1130">
                <a:solidFill>
                  <a:srgbClr val="737373"/>
                </a:solidFill>
                <a:latin typeface="Segoe UI"/>
              </a:rPr>
              <a:t>always centrally sanitised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Evidence Retrieval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Resolves intent before retrieving semantic context for reasoning.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3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Agentic RAG
intent → multi-query
→ rank →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Purpose: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 fit, gap validation, interview evaluation or red flags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Sources: </a:t>
            </a:r>
            <a:r>
              <a:rPr sz="1230">
                <a:solidFill>
                  <a:srgbClr val="737373"/>
                </a:solidFill>
                <a:latin typeface="Segoe UI"/>
              </a:rPr>
              <a:t>knowledge entries + evaluations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Plans </a:t>
            </a:r>
            <a:r>
              <a:rPr sz="1230">
                <a:solidFill>
                  <a:srgbClr val="737373"/>
                </a:solidFill>
                <a:latin typeface="Segoe UI"/>
              </a:rPr>
              <a:t>2–4 privacy-safe semantic queries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Searches </a:t>
            </a:r>
            <a:r>
              <a:rPr sz="1230">
                <a:solidFill>
                  <a:srgbClr val="737373"/>
                </a:solidFill>
                <a:latin typeface="Segoe UI"/>
              </a:rPr>
              <a:t>pgvector for comparable outcomes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Deduplicates </a:t>
            </a:r>
            <a:r>
              <a:rPr sz="1230">
                <a:solidFill>
                  <a:srgbClr val="737373"/>
                </a:solidFill>
                <a:latin typeface="Segoe UI"/>
              </a:rPr>
              <a:t>by case owner and ranks similarity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Returns </a:t>
            </a:r>
            <a:r>
              <a:rPr sz="1230">
                <a:solidFill>
                  <a:srgbClr val="737373"/>
                </a:solidFill>
                <a:latin typeface="Segoe UI"/>
              </a:rPr>
              <a:t>stable case IDs, excerpts and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Grounding packet </a:t>
            </a:r>
            <a:r>
              <a:rPr sz="1230">
                <a:solidFill>
                  <a:srgbClr val="737373"/>
                </a:solidFill>
                <a:latin typeface="Segoe UI"/>
              </a:rPr>
              <a:t>injected into reasoning prompts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Retrieval trace </a:t>
            </a:r>
            <a:r>
              <a:rPr sz="1230">
                <a:solidFill>
                  <a:srgbClr val="737373"/>
                </a:solidFill>
                <a:latin typeface="Segoe UI"/>
              </a:rPr>
              <a:t>intent + winning query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Fallback plan </a:t>
            </a:r>
            <a:r>
              <a:rPr sz="1230">
                <a:solidFill>
                  <a:srgbClr val="737373"/>
                </a:solidFill>
                <a:latin typeface="Segoe UI"/>
              </a:rPr>
              <a:t>if intent planning fails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No hiring answer — </a:t>
            </a:r>
            <a:r>
              <a:rPr sz="1130">
                <a:solidFill>
                  <a:srgbClr val="737373"/>
                </a:solidFill>
                <a:latin typeface="Segoe UI"/>
              </a:rPr>
              <a:t>during planning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Current candidate — </a:t>
            </a:r>
            <a:r>
              <a:rPr sz="1130">
                <a:solidFill>
                  <a:srgbClr val="737373"/>
                </a:solidFill>
                <a:latin typeface="Segoe UI"/>
              </a:rPr>
              <a:t>excluded from own precedent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PII — </a:t>
            </a:r>
            <a:r>
              <a:rPr sz="1130">
                <a:solidFill>
                  <a:srgbClr val="737373"/>
                </a:solidFill>
                <a:latin typeface="Segoe UI"/>
              </a:rPr>
              <a:t>redacted before planning and embedding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Gap Analysis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Combines deterministic coverage with qualitative fit reasoning.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4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Candidate analysis
coverage + evidence
→ reason →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Job: </a:t>
            </a:r>
            <a:r>
              <a:rPr sz="1230">
                <a:solidFill>
                  <a:srgbClr val="737373"/>
                </a:solidFill>
                <a:latin typeface="Segoe UI"/>
              </a:rPr>
              <a:t>weighted requirements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Candidate: </a:t>
            </a:r>
            <a:r>
              <a:rPr sz="1230">
                <a:solidFill>
                  <a:srgbClr val="737373"/>
                </a:solidFill>
                <a:latin typeface="Segoe UI"/>
              </a:rPr>
              <a:t>skills +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peer summary, RAG cases, calibration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Compares </a:t>
            </a:r>
            <a:r>
              <a:rPr sz="1230">
                <a:solidFill>
                  <a:srgbClr val="737373"/>
                </a:solidFill>
                <a:latin typeface="Segoe UI"/>
              </a:rPr>
              <a:t>strengths, partial matches and missing skills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Explains </a:t>
            </a:r>
            <a:r>
              <a:rPr sz="1230">
                <a:solidFill>
                  <a:srgbClr val="737373"/>
                </a:solidFill>
                <a:latin typeface="Segoe UI"/>
              </a:rPr>
              <a:t>match score and verdict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Identifies </a:t>
            </a:r>
            <a:r>
              <a:rPr sz="1230">
                <a:solidFill>
                  <a:srgbClr val="737373"/>
                </a:solidFill>
                <a:latin typeface="Segoe UI"/>
              </a:rPr>
              <a:t>areas requiring interview validation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Differentiates </a:t>
            </a:r>
            <a:r>
              <a:rPr sz="1230">
                <a:solidFill>
                  <a:srgbClr val="737373"/>
                </a:solidFill>
                <a:latin typeface="Segoe UI"/>
              </a:rPr>
              <a:t>against up to five pipeline peers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Match analysis </a:t>
            </a:r>
            <a:r>
              <a:rPr sz="1230">
                <a:solidFill>
                  <a:srgbClr val="737373"/>
                </a:solidFill>
                <a:latin typeface="Segoe UI"/>
              </a:rPr>
              <a:t>score + verdict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Gap set </a:t>
            </a:r>
            <a:r>
              <a:rPr sz="1230">
                <a:solidFill>
                  <a:srgbClr val="737373"/>
                </a:solidFill>
                <a:latin typeface="Segoe UI"/>
              </a:rPr>
              <a:t>severity and importance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Validation areas </a:t>
            </a:r>
            <a:r>
              <a:rPr sz="1230">
                <a:solidFill>
                  <a:srgbClr val="737373"/>
                </a:solidFill>
                <a:latin typeface="Segoe UI"/>
              </a:rPr>
              <a:t>for the Question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Supervisor depth — </a:t>
            </a:r>
            <a:r>
              <a:rPr sz="1130">
                <a:solidFill>
                  <a:srgbClr val="737373"/>
                </a:solidFill>
                <a:latin typeface="Segoe UI"/>
              </a:rPr>
              <a:t>minimal / standard / deep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Coverage anchor — </a:t>
            </a:r>
            <a:r>
              <a:rPr sz="1130">
                <a:solidFill>
                  <a:srgbClr val="737373"/>
                </a:solidFill>
                <a:latin typeface="Segoe UI"/>
              </a:rPr>
              <a:t>limits model drift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Memory notes — </a:t>
            </a:r>
            <a:r>
              <a:rPr sz="1130">
                <a:solidFill>
                  <a:srgbClr val="737373"/>
                </a:solidFill>
                <a:latin typeface="Segoe UI"/>
              </a:rPr>
              <a:t>adjust recurring blind spots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Question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Converts verified gaps into an interview validation plan.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5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Candidate analysis
gaps + precedent
→ targeted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gap analysis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Grounding: </a:t>
            </a:r>
            <a:r>
              <a:rPr sz="1230">
                <a:solidFill>
                  <a:srgbClr val="737373"/>
                </a:solidFill>
                <a:latin typeface="Segoe UI"/>
              </a:rPr>
              <a:t>targeted gap-evidence cases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Profile: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 history + role needs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Generates </a:t>
            </a:r>
            <a:r>
              <a:rPr sz="1230">
                <a:solidFill>
                  <a:srgbClr val="737373"/>
                </a:solidFill>
                <a:latin typeface="Segoe UI"/>
              </a:rPr>
              <a:t>screening, technical, gap and experience questions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Targets </a:t>
            </a:r>
            <a:r>
              <a:rPr sz="1230">
                <a:solidFill>
                  <a:srgbClr val="737373"/>
                </a:solidFill>
                <a:latin typeface="Segoe UI"/>
              </a:rPr>
              <a:t>strong claims, uncertainty and missing evidence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Defines </a:t>
            </a:r>
            <a:r>
              <a:rPr sz="1230">
                <a:solidFill>
                  <a:srgbClr val="737373"/>
                </a:solidFill>
                <a:latin typeface="Segoe UI"/>
              </a:rPr>
              <a:t>expected signals and rationale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Calibrates </a:t>
            </a:r>
            <a:r>
              <a:rPr sz="1230">
                <a:solidFill>
                  <a:srgbClr val="737373"/>
                </a:solidFill>
                <a:latin typeface="Segoe UI"/>
              </a:rPr>
              <a:t>difficulty to role and candidate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Question set </a:t>
            </a:r>
            <a:r>
              <a:rPr sz="1230">
                <a:solidFill>
                  <a:srgbClr val="737373"/>
                </a:solidFill>
                <a:latin typeface="Segoe UI"/>
              </a:rPr>
              <a:t>candidate-specific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Expected signals </a:t>
            </a:r>
            <a:r>
              <a:rPr sz="1230">
                <a:solidFill>
                  <a:srgbClr val="737373"/>
                </a:solidFill>
                <a:latin typeface="Segoe UI"/>
              </a:rPr>
              <a:t>for later scoring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Rationale </a:t>
            </a:r>
            <a:r>
              <a:rPr sz="1230">
                <a:solidFill>
                  <a:srgbClr val="737373"/>
                </a:solidFill>
                <a:latin typeface="Segoe UI"/>
              </a:rPr>
              <a:t>why each question matters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No generic bank dump — </a:t>
            </a:r>
            <a:r>
              <a:rPr sz="1130">
                <a:solidFill>
                  <a:srgbClr val="737373"/>
                </a:solidFill>
                <a:latin typeface="Segoe UI"/>
              </a:rPr>
              <a:t>questions follow observed evidence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Persisted set — </a:t>
            </a:r>
            <a:r>
              <a:rPr sz="1130">
                <a:solidFill>
                  <a:srgbClr val="737373"/>
                </a:solidFill>
                <a:latin typeface="Segoe UI"/>
              </a:rPr>
              <a:t>becomes reusable and retrievable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Transcript Evaluation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Scores demonstrated interview evidence against expected signals.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6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Transcript review
questions + transcript
→ score + 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raw transcript + participants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Plan: </a:t>
            </a:r>
            <a:r>
              <a:rPr sz="1230">
                <a:solidFill>
                  <a:srgbClr val="737373"/>
                </a:solidFill>
                <a:latin typeface="Segoe UI"/>
              </a:rPr>
              <a:t>question set + expected signals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RAG: </a:t>
            </a:r>
            <a:r>
              <a:rPr sz="1230">
                <a:solidFill>
                  <a:srgbClr val="737373"/>
                </a:solidFill>
                <a:latin typeface="Segoe UI"/>
              </a:rPr>
              <a:t>interview-evaluation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Scores </a:t>
            </a:r>
            <a:r>
              <a:rPr sz="1230">
                <a:solidFill>
                  <a:srgbClr val="737373"/>
                </a:solidFill>
                <a:latin typeface="Segoe UI"/>
              </a:rPr>
              <a:t>technical depth and communication separately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Maps </a:t>
            </a:r>
            <a:r>
              <a:rPr sz="1230">
                <a:solidFill>
                  <a:srgbClr val="737373"/>
                </a:solidFill>
                <a:latin typeface="Segoe UI"/>
              </a:rPr>
              <a:t>signals hit and missed per question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Quotes </a:t>
            </a:r>
            <a:r>
              <a:rPr sz="1230">
                <a:solidFill>
                  <a:srgbClr val="737373"/>
                </a:solidFill>
                <a:latin typeface="Segoe UI"/>
              </a:rPr>
              <a:t>the transcript for every judgement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Retries </a:t>
            </a:r>
            <a:r>
              <a:rPr sz="1230">
                <a:solidFill>
                  <a:srgbClr val="737373"/>
                </a:solidFill>
                <a:latin typeface="Segoe UI"/>
              </a:rPr>
              <a:t>when validation detects unsupported quotes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0–10 ratings </a:t>
            </a:r>
            <a:r>
              <a:rPr sz="1230">
                <a:solidFill>
                  <a:srgbClr val="737373"/>
                </a:solidFill>
                <a:latin typeface="Segoe UI"/>
              </a:rPr>
              <a:t>technical, communication, overall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Answer breakdown </a:t>
            </a:r>
            <a:r>
              <a:rPr sz="1230">
                <a:solidFill>
                  <a:srgbClr val="737373"/>
                </a:solidFill>
                <a:latin typeface="Segoe UI"/>
              </a:rPr>
              <a:t>question by question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Recommendation </a:t>
            </a:r>
            <a:r>
              <a:rPr sz="1230">
                <a:solidFill>
                  <a:srgbClr val="737373"/>
                </a:solidFill>
                <a:latin typeface="Segoe UI"/>
              </a:rPr>
              <a:t>with rationale and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Quote validator — </a:t>
            </a:r>
            <a:r>
              <a:rPr sz="1130">
                <a:solidFill>
                  <a:srgbClr val="737373"/>
                </a:solidFill>
                <a:latin typeface="Segoe UI"/>
              </a:rPr>
              <a:t>checks source text mechanically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Reflexion — </a:t>
            </a:r>
            <a:r>
              <a:rPr sz="1130">
                <a:solidFill>
                  <a:srgbClr val="737373"/>
                </a:solidFill>
                <a:latin typeface="Segoe UI"/>
              </a:rPr>
              <a:t>maximum two attempts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Durable artifact — </a:t>
            </a:r>
            <a:r>
              <a:rPr sz="1130">
                <a:solidFill>
                  <a:srgbClr val="737373"/>
                </a:solidFill>
                <a:latin typeface="Segoe UI"/>
              </a:rPr>
              <a:t>versioned and auditable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Red Flag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Surfaces only concerns grounded in candidate evidence and precedent.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7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Transcript review
flag RAG → detect
→ ground → 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Input: </a:t>
            </a:r>
            <a:r>
              <a:rPr sz="1230">
                <a:solidFill>
                  <a:srgbClr val="737373"/>
                </a:solidFill>
                <a:latin typeface="Segoe UI"/>
              </a:rPr>
              <a:t>resume claims + transcript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RAG: </a:t>
            </a:r>
            <a:r>
              <a:rPr sz="1230">
                <a:solidFill>
                  <a:srgbClr val="737373"/>
                </a:solidFill>
                <a:latin typeface="Segoe UI"/>
              </a:rPr>
              <a:t>dedicated red-flag precedents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role requirements + calibration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Checks </a:t>
            </a:r>
            <a:r>
              <a:rPr sz="1230">
                <a:solidFill>
                  <a:srgbClr val="737373"/>
                </a:solidFill>
                <a:latin typeface="Segoe UI"/>
              </a:rPr>
              <a:t>seniority, project depth, contradictions, claims and timelines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Requires </a:t>
            </a:r>
            <a:r>
              <a:rPr sz="1230">
                <a:solidFill>
                  <a:srgbClr val="737373"/>
                </a:solidFill>
                <a:latin typeface="Segoe UI"/>
              </a:rPr>
              <a:t>direct source quote for each flag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Cites </a:t>
            </a:r>
            <a:r>
              <a:rPr sz="1230">
                <a:solidFill>
                  <a:srgbClr val="737373"/>
                </a:solidFill>
                <a:latin typeface="Segoe UI"/>
              </a:rPr>
              <a:t>retrieved case ID + relevance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Frames </a:t>
            </a:r>
            <a:r>
              <a:rPr sz="1230">
                <a:solidFill>
                  <a:srgbClr val="737373"/>
                </a:solidFill>
                <a:latin typeface="Segoe UI"/>
              </a:rPr>
              <a:t>every concern as something to verify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GREEN / YELLOW / RED </a:t>
            </a:r>
            <a:r>
              <a:rPr sz="1230">
                <a:solidFill>
                  <a:srgbClr val="737373"/>
                </a:solidFill>
                <a:latin typeface="Segoe UI"/>
              </a:rPr>
              <a:t>advisory severity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Evidence bundle </a:t>
            </a:r>
            <a:r>
              <a:rPr sz="1230">
                <a:solidFill>
                  <a:srgbClr val="737373"/>
                </a:solidFill>
                <a:latin typeface="Segoe UI"/>
              </a:rPr>
              <a:t>source quotes + precedent IDs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Follow-up concern </a:t>
            </a:r>
            <a:r>
              <a:rPr sz="1230">
                <a:solidFill>
                  <a:srgbClr val="737373"/>
                </a:solidFill>
                <a:latin typeface="Segoe UI"/>
              </a:rPr>
              <a:t>never an automatic rejection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Mechanical validation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quote exists in claimed source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Case validation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ID must be actually retrieved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Reflexion — </a:t>
            </a:r>
            <a:r>
              <a:rPr sz="1130">
                <a:solidFill>
                  <a:srgbClr val="737373"/>
                </a:solidFill>
                <a:latin typeface="Segoe UI"/>
              </a:rPr>
              <a:t>retries invalid grounding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4859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SPECIALISED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Human Review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Synthesises evidence into a decision packet—not a decision.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960120" cy="42245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66543"/>
            <a:ext cx="9601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Segoe UI"/>
              </a:rPr>
              <a:t>0</a:t>
            </a:r>
            <a:r>
              <a:rPr lang="en-US" sz="3000" b="1" dirty="0">
                <a:solidFill>
                  <a:srgbClr val="FFFFFF"/>
                </a:solidFill>
                <a:latin typeface="Segoe UI"/>
              </a:rPr>
              <a:t>8</a:t>
            </a:r>
            <a:endParaRPr sz="3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99232"/>
            <a:ext cx="557784" cy="0"/>
          </a:xfrm>
          <a:prstGeom prst="line">
            <a:avLst/>
          </a:prstGeom>
          <a:ln w="12700">
            <a:solidFill>
              <a:srgbClr val="737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" y="3182112"/>
            <a:ext cx="731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Review synthesis
validated artifacts
→ human packet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19072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01952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CONSUMES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Inputs: </a:t>
            </a:r>
            <a:r>
              <a:rPr sz="1230">
                <a:solidFill>
                  <a:srgbClr val="737373"/>
                </a:solidFill>
                <a:latin typeface="Segoe UI"/>
              </a:rPr>
              <a:t>match, transcript evaluation, flags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Context: </a:t>
            </a:r>
            <a:r>
              <a:rPr sz="1230">
                <a:solidFill>
                  <a:srgbClr val="737373"/>
                </a:solidFill>
                <a:latin typeface="Segoe UI"/>
              </a:rPr>
              <a:t>comparable cases + reviewer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920240"/>
            <a:ext cx="3566160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98848" y="2084831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089403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CORE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42032"/>
            <a:ext cx="3200400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Weighs </a:t>
            </a:r>
            <a:r>
              <a:rPr sz="1230">
                <a:solidFill>
                  <a:srgbClr val="737373"/>
                </a:solidFill>
                <a:latin typeface="Segoe UI"/>
              </a:rPr>
              <a:t>scores, concerns and uncertainty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Summarises </a:t>
            </a:r>
            <a:r>
              <a:rPr sz="1230">
                <a:solidFill>
                  <a:srgbClr val="737373"/>
                </a:solidFill>
                <a:latin typeface="Segoe UI"/>
              </a:rPr>
              <a:t>key evidence and unresolved questions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Explains </a:t>
            </a:r>
            <a:r>
              <a:rPr sz="1230">
                <a:solidFill>
                  <a:srgbClr val="737373"/>
                </a:solidFill>
                <a:latin typeface="Segoe UI"/>
              </a:rPr>
              <a:t>why precedent is relevant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Routes </a:t>
            </a:r>
            <a:r>
              <a:rPr sz="1230">
                <a:solidFill>
                  <a:srgbClr val="737373"/>
                </a:solidFill>
                <a:latin typeface="Segoe UI"/>
              </a:rPr>
              <a:t>final judgement to a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20240"/>
            <a:ext cx="2395728" cy="28803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6175" y="2089403"/>
            <a:ext cx="8686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PRODUCES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2542032"/>
            <a:ext cx="2029968" cy="20116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Recommendation </a:t>
            </a:r>
            <a:r>
              <a:rPr sz="1230">
                <a:solidFill>
                  <a:srgbClr val="737373"/>
                </a:solidFill>
                <a:latin typeface="Segoe UI"/>
              </a:rPr>
              <a:t>advance / hold / reject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Headline + reasoning </a:t>
            </a:r>
            <a:r>
              <a:rPr sz="1230">
                <a:solidFill>
                  <a:srgbClr val="737373"/>
                </a:solidFill>
                <a:latin typeface="Segoe UI"/>
              </a:rPr>
              <a:t>review-ready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30" b="1">
                <a:solidFill>
                  <a:srgbClr val="252525"/>
                </a:solidFill>
                <a:latin typeface="Segoe UI"/>
              </a:rPr>
              <a:t>• Open questions </a:t>
            </a:r>
            <a:r>
              <a:rPr sz="1230">
                <a:solidFill>
                  <a:srgbClr val="737373"/>
                </a:solidFill>
                <a:latin typeface="Segoe UI"/>
              </a:rPr>
              <a:t>what a human must resolve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19072" y="5010912"/>
            <a:ext cx="875995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901952" y="5184648"/>
            <a:ext cx="18745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5189220"/>
            <a:ext cx="18745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GUARDRAILS &amp; 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5504688"/>
            <a:ext cx="8229600" cy="475488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GREEN optimisation — </a:t>
            </a:r>
            <a:r>
              <a:rPr sz="1130">
                <a:solidFill>
                  <a:srgbClr val="737373"/>
                </a:solidFill>
                <a:latin typeface="Segoe UI"/>
              </a:rPr>
              <a:t>deterministic packet when no flags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Human authority — </a:t>
            </a:r>
            <a:r>
              <a:rPr sz="1130">
                <a:solidFill>
                  <a:srgbClr val="737373"/>
                </a:solidFill>
                <a:latin typeface="Segoe UI"/>
              </a:rPr>
              <a:t>only reviewer changes status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30" b="1">
                <a:solidFill>
                  <a:srgbClr val="252525"/>
                </a:solidFill>
                <a:latin typeface="Segoe UI"/>
              </a:rPr>
              <a:t>• Overrides — </a:t>
            </a:r>
            <a:r>
              <a:rPr sz="1130">
                <a:solidFill>
                  <a:srgbClr val="737373"/>
                </a:solidFill>
                <a:latin typeface="Segoe UI"/>
              </a:rPr>
              <a:t>feed calibration memory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93725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93725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Agentic RAG: plan, retrieve, reason,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Retrieval is a first-class agent step—not a one-shot lookup attached to a prompt.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8940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0848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RESOLVE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Typed purpose: fit, gaps, interview or red flags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62272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208940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20848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PLAN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Generate 2–4 diverse, privacy-safe searches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190195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93023" y="208483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CFDFB"/>
          </a:solidFill>
          <a:ln w="8890">
            <a:solidFill>
              <a:srgbClr val="ECF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3" y="208940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208483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Embed and search expert-verified historical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96392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95935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RANK + DEDUPE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Keep strongest chunk per owner; preserve stable 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62272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62272" y="396392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395935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REASON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43484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Inject context into the specialised reasoning 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3776472"/>
            <a:ext cx="3474720" cy="157276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93023" y="3959352"/>
            <a:ext cx="41148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93023" y="3963924"/>
            <a:ext cx="4114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3959352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2525"/>
                </a:solidFill>
                <a:latin typeface="Segoe UI"/>
              </a:rPr>
              <a:t>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443484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737373"/>
                </a:solidFill>
                <a:latin typeface="Segoe UI"/>
              </a:rPr>
              <a:t>Index reviewer decisions and verified gaps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AGENTIC RAG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074419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07441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Evidence, reflexion and expert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Three loops tighten quality without allowing models to become the decision-maker.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8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FFF1F2"/>
          </a:solidFill>
          <a:ln w="889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44852"/>
            <a:ext cx="713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E123C"/>
                </a:solidFill>
                <a:latin typeface="Segoe UI"/>
              </a:rPr>
              <a:t>LOOP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MECHANICAL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Quotes must exist in source text. Red-flag case IDs must appear in retrieval results. Severity must be internally consistent.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80559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2244852"/>
            <a:ext cx="713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LOOP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REFLEXION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273552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Validation errors return as explicit feedback. The agent retries once; repeated failure becomes a bias-warning memory note.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011680"/>
            <a:ext cx="3474720" cy="333756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11312" y="2240280"/>
            <a:ext cx="713232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2244852"/>
            <a:ext cx="71323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LOOP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74320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Segoe UI"/>
              </a:rPr>
              <a:t>EXPERT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273552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</a:rPr>
              <a:t>Reviewers record decisions, overrides and verified gaps. They are embedded as future precedent and written to calibration memory.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59552"/>
            <a:ext cx="11091672" cy="566928"/>
          </a:xfrm>
          <a:prstGeom prst="roundRect">
            <a:avLst>
              <a:gd name="adj" fmla="val 12000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96712"/>
            <a:ext cx="10561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Result: evidence improves over time, while the human remains the only hiring authority.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TRUST &amp;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47472"/>
            <a:ext cx="1348740" cy="292608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889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52044"/>
            <a:ext cx="13487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252525"/>
                </a:solidFill>
                <a:latin typeface="Segoe UI"/>
              </a:rPr>
              <a:t>Private by boundary. Observable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37373"/>
                </a:solidFill>
                <a:latin typeface="Segoe UI"/>
              </a:rPr>
              <a:t>Demo mode explains what is running without weakening the production privacy boundary.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349240" cy="38862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21284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17420"/>
            <a:ext cx="132588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PRIVACY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4800600" cy="24688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Local preservation — </a:t>
            </a:r>
            <a:r>
              <a:rPr sz="1300">
                <a:solidFill>
                  <a:srgbClr val="737373"/>
                </a:solidFill>
                <a:latin typeface="Segoe UI"/>
              </a:rPr>
              <a:t>authorised users retain original resumes and transcripts.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Demo masking — </a:t>
            </a:r>
            <a:r>
              <a:rPr sz="1300">
                <a:solidFill>
                  <a:srgbClr val="737373"/>
                </a:solidFill>
                <a:latin typeface="Segoe UI"/>
              </a:rPr>
              <a:t>uploaded PII is redacted before textarea display.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Outbound sanitisation — </a:t>
            </a:r>
            <a:r>
              <a:rPr sz="1300">
                <a:solidFill>
                  <a:srgbClr val="737373"/>
                </a:solidFill>
                <a:latin typeface="Segoe UI"/>
              </a:rPr>
              <a:t>names, contacts, locations, institutions and URLs are removed.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Vector hygiene — </a:t>
            </a:r>
            <a:r>
              <a:rPr sz="1300">
                <a:solidFill>
                  <a:srgbClr val="737373"/>
                </a:solidFill>
                <a:latin typeface="Segoe UI"/>
              </a:rPr>
              <a:t>content and queries are privacy-filtered before embedding.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65960"/>
            <a:ext cx="5468112" cy="38862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2212848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217420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UNDER THE HOOD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61488"/>
            <a:ext cx="4800600" cy="2468880"/>
          </a:xfrm>
          <a:prstGeom prst="rect">
            <a:avLst/>
          </a:prstGeom>
          <a:noFill/>
        </p:spPr>
        <p:txBody>
          <a:bodyPr wrap="square" lIns="27432" tIns="0" rIns="18288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Running-agent history — </a:t>
            </a:r>
            <a:r>
              <a:rPr sz="1300">
                <a:solidFill>
                  <a:srgbClr val="737373"/>
                </a:solidFill>
                <a:latin typeface="Segoe UI"/>
              </a:rPr>
              <a:t>timestamped, persistent and manually reset.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Workflow path — </a:t>
            </a:r>
            <a:r>
              <a:rPr sz="1300">
                <a:solidFill>
                  <a:srgbClr val="737373"/>
                </a:solidFill>
                <a:latin typeface="Segoe UI"/>
              </a:rPr>
              <a:t>running, complete and failed lifecycle states.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Token visibility — </a:t>
            </a:r>
            <a:r>
              <a:rPr sz="1300">
                <a:solidFill>
                  <a:srgbClr val="737373"/>
                </a:solidFill>
                <a:latin typeface="Segoe UI"/>
              </a:rPr>
              <a:t>optional prompt, completion and total usage.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52525"/>
                </a:solidFill>
                <a:latin typeface="Segoe UI"/>
              </a:rPr>
              <a:t>• Prompt controls — </a:t>
            </a:r>
            <a:r>
              <a:rPr sz="1300">
                <a:solidFill>
                  <a:srgbClr val="737373"/>
                </a:solidFill>
                <a:latin typeface="Segoe UI"/>
              </a:rPr>
              <a:t>Demo overrides still pass central PII filtering.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PRIVACY &amp;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11091672" cy="5715000"/>
          </a:xfrm>
          <a:prstGeom prst="roundRect">
            <a:avLst>
              <a:gd name="adj" fmla="val 5833"/>
            </a:avLst>
          </a:prstGeom>
          <a:solidFill>
            <a:srgbClr val="202020"/>
          </a:solidFill>
          <a:ln w="1270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96112" y="896112"/>
            <a:ext cx="93268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900684"/>
            <a:ext cx="93268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2525"/>
                </a:solidFill>
                <a:latin typeface="Segoe UI"/>
              </a:rPr>
              <a:t>HIRELENS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658368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Specialised agents.
Grounded evidence.
Human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A recruitment intelligence architecture designed to make
AI useful, inspectable and appropriately constrained.</a:t>
            </a:r>
          </a:p>
        </p:txBody>
      </p:sp>
      <p:pic>
        <p:nvPicPr>
          <p:cNvPr id="7" name="Picture 6" descr="HireL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234440"/>
            <a:ext cx="324612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54112" y="4828032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8890">
            <a:solidFill>
              <a:srgbClr val="ECF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4112" y="4832604"/>
            <a:ext cx="11430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5803D"/>
                </a:solidFill>
                <a:latin typeface="Segoe UI"/>
              </a:rPr>
              <a:t>PRIVACY-AWARE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828032"/>
            <a:ext cx="1078992" cy="292608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8890">
            <a:solidFill>
              <a:srgbClr val="F0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4832604"/>
            <a:ext cx="107899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6657D9"/>
                </a:solidFill>
                <a:latin typeface="Segoe UI"/>
              </a:rPr>
              <a:t>EVIDENCE-LED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68712" y="4828032"/>
            <a:ext cx="1024128" cy="29260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889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68712" y="4832604"/>
            <a:ext cx="1024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B45309"/>
                </a:solidFill>
                <a:latin typeface="Segoe UI"/>
              </a:rPr>
              <a:t>HUMAN-OWNED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655624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Segoe UI"/>
              </a:rPr>
              <a:t>HireLens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55624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>
                <a:solidFill>
                  <a:srgbClr val="737373"/>
                </a:solidFill>
                <a:latin typeface="Segoe UI"/>
              </a:rPr>
              <a:t>CLOSING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562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1715</Words>
  <Application>Microsoft Office PowerPoint</Application>
  <PresentationFormat>Widescreen</PresentationFormat>
  <Paragraphs>405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HireLens — Agentic AI Agents</dc:title>
  <dc:subject>Application agent architecture, Agentic RAG, privacy and observability</dc:subject>
  <dc:creator>HireLens</dc:creator>
  <cp:keywords>HireLens, Agentic AI, RAG, recruitment, LangGraph</cp:keywords>
  <dc:description>generated using python-pptx</dc:description>
  <cp:lastModifiedBy>Rajat Srivastava</cp:lastModifiedBy>
  <cp:revision>6</cp:revision>
  <dcterms:created xsi:type="dcterms:W3CDTF">2013-01-27T09:14:16Z</dcterms:created>
  <dcterms:modified xsi:type="dcterms:W3CDTF">2026-09-21T16:16:15Z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caace6-0147-4eb4-9424-999efb4dea48_Enabled">
    <vt:lpwstr>true</vt:lpwstr>
  </property>
  <property fmtid="{D5CDD505-2E9C-101B-9397-08002B2CF9AE}" pid="3" name="MSIP_Label_c9caace6-0147-4eb4-9424-999efb4dea48_SetDate">
    <vt:lpwstr>2026-09-21T16:09:19Z</vt:lpwstr>
  </property>
  <property fmtid="{D5CDD505-2E9C-101B-9397-08002B2CF9AE}" pid="4" name="MSIP_Label_c9caace6-0147-4eb4-9424-999efb4dea48_Method">
    <vt:lpwstr>Standard</vt:lpwstr>
  </property>
  <property fmtid="{D5CDD505-2E9C-101B-9397-08002B2CF9AE}" pid="5" name="MSIP_Label_c9caace6-0147-4eb4-9424-999efb4dea48_Name">
    <vt:lpwstr>defa4170-0d19-0005-0004-bc88714345d2</vt:lpwstr>
  </property>
  <property fmtid="{D5CDD505-2E9C-101B-9397-08002B2CF9AE}" pid="6" name="MSIP_Label_c9caace6-0147-4eb4-9424-999efb4dea48_SiteId">
    <vt:lpwstr>c1edc258-9f36-468d-a860-685701f0c76b</vt:lpwstr>
  </property>
  <property fmtid="{D5CDD505-2E9C-101B-9397-08002B2CF9AE}" pid="7" name="MSIP_Label_c9caace6-0147-4eb4-9424-999efb4dea48_ActionId">
    <vt:lpwstr>30edabc2-a645-4b25-a8d8-7b7c04b6b8a5</vt:lpwstr>
  </property>
  <property fmtid="{D5CDD505-2E9C-101B-9397-08002B2CF9AE}" pid="8" name="MSIP_Label_c9caace6-0147-4eb4-9424-999efb4dea48_ContentBits">
    <vt:lpwstr>0</vt:lpwstr>
  </property>
  <property fmtid="{D5CDD505-2E9C-101B-9397-08002B2CF9AE}" pid="9" name="MSIP_Label_c9caace6-0147-4eb4-9424-999efb4dea48_Tag">
    <vt:lpwstr>10, 3, 0, 1</vt:lpwstr>
  </property>
</Properties>
</file>