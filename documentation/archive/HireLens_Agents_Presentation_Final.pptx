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6126480" cy="5806440"/>
          </a:xfrm>
          <a:prstGeom prst="roundRect">
            <a:avLst>
              <a:gd name="adj" fmla="val 5766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2423160" cy="29260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889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73252"/>
            <a:ext cx="242316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AGENTIC RECRUITMENT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2525"/>
                </a:solidFill>
                <a:latin typeface="Segoe UI"/>
              </a:rPr>
              <a:t>HireLens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52525"/>
                </a:solidFill>
                <a:latin typeface="Segoe UI"/>
              </a:rPr>
              <a:t>The multi-agent system
behind evidence-led hiring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01568"/>
            <a:ext cx="51663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37373"/>
                </a:solidFill>
                <a:latin typeface="Segoe UI"/>
              </a:rPr>
              <a:t>Eight specialised agents. Four LangGraph workflows.
One human decision boundary.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224528"/>
            <a:ext cx="5212080" cy="0"/>
          </a:xfrm>
          <a:prstGeom prst="line">
            <a:avLst/>
          </a:prstGeom>
          <a:ln w="1524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44805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01184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44805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4901184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44805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4901184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DECISION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37373"/>
                </a:solidFill>
                <a:latin typeface="Segoe UI"/>
              </a:rPr>
              <a:t>Architecture overview · 2026</a:t>
            </a:r>
          </a:p>
        </p:txBody>
      </p:sp>
      <p:pic>
        <p:nvPicPr>
          <p:cNvPr id="16" name="Picture 15" descr="HireL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60120"/>
            <a:ext cx="457200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5715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37373"/>
                </a:solidFill>
                <a:latin typeface="Segoe UI"/>
              </a:rPr>
              <a:t>Privacy-aware  •  Observable  •  Advisory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HIRELENS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28016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SYSTEM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From documents to defensible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HireLens turns hiring inputs into structured, traceable evidence while keeping the final decision human.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24485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310128"/>
            <a:ext cx="2176272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Convert JDs, resumes and transcripts into validated domain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11880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24485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310128"/>
            <a:ext cx="2176272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Retrieve comparable, expert-verified cases before model reasoning.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3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73951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1" y="224485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3310128"/>
            <a:ext cx="2176272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Mechanically check quotes, case IDs, schemas and severity consistency.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36024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224485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HAND 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310128"/>
            <a:ext cx="2176272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Package recommendations, uncertainty and open questions for a reviewer.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546811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CORE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376672"/>
            <a:ext cx="9006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Agents advise. Evidence constrains. Humans decide.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SYSTEM PURPOSE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21158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2115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Four workflows, one evidence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A deterministic control plane routes state through specialised agents and durable handoffs.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39696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144268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JD INTAKE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956816"/>
            <a:ext cx="82296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215798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72384" y="2295144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01568" y="1956816"/>
            <a:ext cx="123444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2157984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JD 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90872" y="2295144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0056" y="1956816"/>
            <a:ext cx="96012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11496" y="215798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Persist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2295144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64224" y="1956816"/>
            <a:ext cx="86868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55664" y="21579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15468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159252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RESUME INTAKE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2971800"/>
            <a:ext cx="82296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0" y="3172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Load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72384" y="3310128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01568" y="2971800"/>
            <a:ext cx="137160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93008" y="3172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Resume Agent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28031" y="3310128"/>
            <a:ext cx="219457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57216" y="2971800"/>
            <a:ext cx="96012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48655" y="3172968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Persist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72199" y="3310128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501383" y="2971800"/>
            <a:ext cx="86868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92823" y="317296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Index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6966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174236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CANDIDATE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3986784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0" y="418795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Supervisor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92424" y="4325112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721608" y="3986784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13048" y="4187952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RAG plan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28032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157216" y="3986784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48656" y="418795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Gap Agent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55080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684264" y="3986784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75704" y="4187952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RAG gaps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90688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119872" y="3986784"/>
            <a:ext cx="109728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1312" y="4187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Question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18464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5189220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TRANSCRIPT REVIEW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86000" y="5202936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Eval RAG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00984" y="5340096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630168" y="5001768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21607" y="5202936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Transcript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828031" y="5340096"/>
            <a:ext cx="219457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157216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48655" y="5202936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Flag RAG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263639" y="5340096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592823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84263" y="5202936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Red Flag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699248" y="5340096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8028431" y="5001768"/>
            <a:ext cx="100584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19871" y="520293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Review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02368" y="1965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Segoe UI"/>
              </a:rPr>
              <a:t>Shared services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84080" y="233172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84080" y="2336291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PGVECTOR MEMORY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84080" y="2953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784080" y="2958084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REFLEXION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84080" y="357530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784080" y="3579876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AGENT MEMORY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4197096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84080" y="4201668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HUMAN FEEDBACK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WORKFLOW MAP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1430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AGENT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Eight agents, deliberately narrow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Specialisation keeps extraction, retrieval, reasoning, validation and review independently observable.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25980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JD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Requirements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47872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2125980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Resume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9718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Privacy-filtered profile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64224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2125980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Evidence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9718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Intent + semantic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80576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2125980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Gap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9718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Fit reasoning + gaps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02793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43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Question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737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Targeted interview 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547872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47872" y="402793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443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Transcript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48737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Answer scoring + quotes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364224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64224" y="402793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4443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Red Flag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48737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Case-grounded concerns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97696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180576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80576" y="402793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4443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Human Review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0576" y="48737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Decision packet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ROSTER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JD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Turns an unstructured role description into a weighted requirement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JD intake
load → extract
→ persist →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CONSUMES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raw job description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Context: </a:t>
            </a:r>
            <a:r>
              <a:rPr sz="1230">
                <a:solidFill>
                  <a:srgbClr val="737373"/>
                </a:solidFill>
                <a:latin typeface="Segoe UI"/>
              </a:rPr>
              <a:t>title, seniority,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Extracts </a:t>
            </a:r>
            <a:r>
              <a:rPr sz="1230">
                <a:solidFill>
                  <a:srgbClr val="737373"/>
                </a:solidFill>
                <a:latin typeface="Segoe UI"/>
              </a:rPr>
              <a:t>skills, technologies, experience, certifications and domains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Weights </a:t>
            </a:r>
            <a:r>
              <a:rPr sz="1230">
                <a:solidFill>
                  <a:srgbClr val="737373"/>
                </a:solidFill>
                <a:latin typeface="Segoe UI"/>
              </a:rPr>
              <a:t>importance from 0–100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Classifies </a:t>
            </a:r>
            <a:r>
              <a:rPr sz="1230">
                <a:solidFill>
                  <a:srgbClr val="737373"/>
                </a:solidFill>
                <a:latin typeface="Segoe UI"/>
              </a:rPr>
              <a:t>required vs. nice-to-have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Structured JD </a:t>
            </a:r>
            <a:r>
              <a:rPr sz="1230">
                <a:solidFill>
                  <a:srgbClr val="737373"/>
                </a:solidFill>
                <a:latin typeface="Segoe UI"/>
              </a:rPr>
              <a:t>validated by Zod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Requirement rows </a:t>
            </a:r>
            <a:r>
              <a:rPr sz="1230">
                <a:solidFill>
                  <a:srgbClr val="737373"/>
                </a:solidFill>
                <a:latin typeface="Segoe UI"/>
              </a:rPr>
              <a:t>for deterministic matching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Privacy-safe vectors </a:t>
            </a:r>
            <a:r>
              <a:rPr sz="1230">
                <a:solidFill>
                  <a:srgbClr val="737373"/>
                </a:solidFill>
                <a:latin typeface="Segoe UI"/>
              </a:rPr>
              <a:t>for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Structured output — </a:t>
            </a:r>
            <a:r>
              <a:rPr sz="1130">
                <a:solidFill>
                  <a:srgbClr val="737373"/>
                </a:solidFill>
                <a:latin typeface="Segoe UI"/>
              </a:rPr>
              <a:t>prevents free-form drift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Persistence + indexing — </a:t>
            </a:r>
            <a:r>
              <a:rPr sz="1130">
                <a:solidFill>
                  <a:srgbClr val="737373"/>
                </a:solidFill>
                <a:latin typeface="Segoe UI"/>
              </a:rPr>
              <a:t>occur after validation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Resume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Builds an anonymous, evidence-bearing candidate profile.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Resume intake
local contact → redact
→ extract → persist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CONSUMES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resume text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Local fields: </a:t>
            </a:r>
            <a:r>
              <a:rPr sz="1230">
                <a:solidFill>
                  <a:srgbClr val="737373"/>
                </a:solidFill>
                <a:latin typeface="Segoe UI"/>
              </a:rPr>
              <a:t>name, email, phone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Redacts </a:t>
            </a:r>
            <a:r>
              <a:rPr sz="1230">
                <a:solidFill>
                  <a:srgbClr val="737373"/>
                </a:solidFill>
                <a:latin typeface="Segoe UI"/>
              </a:rPr>
              <a:t>identity, contact, URLs, location and institutions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Extracts </a:t>
            </a:r>
            <a:r>
              <a:rPr sz="1230">
                <a:solidFill>
                  <a:srgbClr val="737373"/>
                </a:solidFill>
                <a:latin typeface="Segoe UI"/>
              </a:rPr>
              <a:t>skills with proficiency and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Normalises </a:t>
            </a:r>
            <a:r>
              <a:rPr sz="1230">
                <a:solidFill>
                  <a:srgbClr val="737373"/>
                </a:solidFill>
                <a:latin typeface="Segoe UI"/>
              </a:rPr>
              <a:t>employment, projects and total 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Candidate profile </a:t>
            </a:r>
            <a:r>
              <a:rPr sz="1230">
                <a:solidFill>
                  <a:srgbClr val="737373"/>
                </a:solidFill>
                <a:latin typeface="Segoe UI"/>
              </a:rPr>
              <a:t>without outbound PII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Skill evidence </a:t>
            </a:r>
            <a:r>
              <a:rPr sz="1230">
                <a:solidFill>
                  <a:srgbClr val="737373"/>
                </a:solidFill>
                <a:latin typeface="Segoe UI"/>
              </a:rPr>
              <a:t>for matching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Anonymous vectors </a:t>
            </a:r>
            <a:r>
              <a:rPr sz="1230">
                <a:solidFill>
                  <a:srgbClr val="737373"/>
                </a:solidFill>
                <a:latin typeface="Segoe UI"/>
              </a:rPr>
              <a:t>for future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Original source — </a:t>
            </a:r>
            <a:r>
              <a:rPr sz="1130">
                <a:solidFill>
                  <a:srgbClr val="737373"/>
                </a:solidFill>
                <a:latin typeface="Segoe UI"/>
              </a:rPr>
              <a:t>retained for authorised users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Demo preview — </a:t>
            </a:r>
            <a:r>
              <a:rPr sz="1130">
                <a:solidFill>
                  <a:srgbClr val="737373"/>
                </a:solidFill>
                <a:latin typeface="Segoe UI"/>
              </a:rPr>
              <a:t>masked before display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AI boundary — </a:t>
            </a:r>
            <a:r>
              <a:rPr sz="1130">
                <a:solidFill>
                  <a:srgbClr val="737373"/>
                </a:solidFill>
                <a:latin typeface="Segoe UI"/>
              </a:rPr>
              <a:t>always centrally sanitised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Evidence Retrieval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Resolves intent before retrieving semantic context for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Agentic RAG
intent → multi-query
→ rank → reason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CONSUMES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Purpose: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 fit, gap validation, interview evaluation or red flags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Sources: </a:t>
            </a:r>
            <a:r>
              <a:rPr sz="1230">
                <a:solidFill>
                  <a:srgbClr val="737373"/>
                </a:solidFill>
                <a:latin typeface="Segoe UI"/>
              </a:rPr>
              <a:t>knowledge entries + evaluations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Plans </a:t>
            </a:r>
            <a:r>
              <a:rPr sz="1230">
                <a:solidFill>
                  <a:srgbClr val="737373"/>
                </a:solidFill>
                <a:latin typeface="Segoe UI"/>
              </a:rPr>
              <a:t>2–4 privacy-safe semantic queries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Searches </a:t>
            </a:r>
            <a:r>
              <a:rPr sz="1230">
                <a:solidFill>
                  <a:srgbClr val="737373"/>
                </a:solidFill>
                <a:latin typeface="Segoe UI"/>
              </a:rPr>
              <a:t>pgvector for comparable outcomes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Deduplicates </a:t>
            </a:r>
            <a:r>
              <a:rPr sz="1230">
                <a:solidFill>
                  <a:srgbClr val="737373"/>
                </a:solidFill>
                <a:latin typeface="Segoe UI"/>
              </a:rPr>
              <a:t>by case owner and ranks similarity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Returns </a:t>
            </a:r>
            <a:r>
              <a:rPr sz="1230">
                <a:solidFill>
                  <a:srgbClr val="737373"/>
                </a:solidFill>
                <a:latin typeface="Segoe UI"/>
              </a:rPr>
              <a:t>stable case IDs, excerpts and outcomes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Grounding packet </a:t>
            </a:r>
            <a:r>
              <a:rPr sz="1230">
                <a:solidFill>
                  <a:srgbClr val="737373"/>
                </a:solidFill>
                <a:latin typeface="Segoe UI"/>
              </a:rPr>
              <a:t>injected into reasoning prompts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Retrieval trace </a:t>
            </a:r>
            <a:r>
              <a:rPr sz="1230">
                <a:solidFill>
                  <a:srgbClr val="737373"/>
                </a:solidFill>
                <a:latin typeface="Segoe UI"/>
              </a:rPr>
              <a:t>intent + winning query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Fallback plan </a:t>
            </a:r>
            <a:r>
              <a:rPr sz="1230">
                <a:solidFill>
                  <a:srgbClr val="737373"/>
                </a:solidFill>
                <a:latin typeface="Segoe UI"/>
              </a:rPr>
              <a:t>if intent planning fails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No hiring answer — </a:t>
            </a:r>
            <a:r>
              <a:rPr sz="1130">
                <a:solidFill>
                  <a:srgbClr val="737373"/>
                </a:solidFill>
                <a:latin typeface="Segoe UI"/>
              </a:rPr>
              <a:t>during planning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Current candidate — </a:t>
            </a:r>
            <a:r>
              <a:rPr sz="1130">
                <a:solidFill>
                  <a:srgbClr val="737373"/>
                </a:solidFill>
                <a:latin typeface="Segoe UI"/>
              </a:rPr>
              <a:t>excluded from own precedent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PII — </a:t>
            </a:r>
            <a:r>
              <a:rPr sz="1130">
                <a:solidFill>
                  <a:srgbClr val="737373"/>
                </a:solidFill>
                <a:latin typeface="Segoe UI"/>
              </a:rPr>
              <a:t>redacted before planning and embedding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Gap Analysis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Combines deterministic coverage with qualitative fit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Candidate analysis
coverage + evidence
→ reason →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CONSUMES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Job: </a:t>
            </a:r>
            <a:r>
              <a:rPr sz="1230">
                <a:solidFill>
                  <a:srgbClr val="737373"/>
                </a:solidFill>
                <a:latin typeface="Segoe UI"/>
              </a:rPr>
              <a:t>weighted requirements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Candidate: </a:t>
            </a:r>
            <a:r>
              <a:rPr sz="1230">
                <a:solidFill>
                  <a:srgbClr val="737373"/>
                </a:solidFill>
                <a:latin typeface="Segoe UI"/>
              </a:rPr>
              <a:t>skills +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Context: </a:t>
            </a:r>
            <a:r>
              <a:rPr sz="1230">
                <a:solidFill>
                  <a:srgbClr val="737373"/>
                </a:solidFill>
                <a:latin typeface="Segoe UI"/>
              </a:rPr>
              <a:t>peer summary, RAG cases, calibration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CORE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Compares </a:t>
            </a:r>
            <a:r>
              <a:rPr sz="1230">
                <a:solidFill>
                  <a:srgbClr val="737373"/>
                </a:solidFill>
                <a:latin typeface="Segoe UI"/>
              </a:rPr>
              <a:t>strengths, partial matches and missing skills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Explains </a:t>
            </a:r>
            <a:r>
              <a:rPr sz="1230">
                <a:solidFill>
                  <a:srgbClr val="737373"/>
                </a:solidFill>
                <a:latin typeface="Segoe UI"/>
              </a:rPr>
              <a:t>match score and verdict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Identifies </a:t>
            </a:r>
            <a:r>
              <a:rPr sz="1230">
                <a:solidFill>
                  <a:srgbClr val="737373"/>
                </a:solidFill>
                <a:latin typeface="Segoe UI"/>
              </a:rPr>
              <a:t>areas requiring interview validation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Differentiates </a:t>
            </a:r>
            <a:r>
              <a:rPr sz="1230">
                <a:solidFill>
                  <a:srgbClr val="737373"/>
                </a:solidFill>
                <a:latin typeface="Segoe UI"/>
              </a:rPr>
              <a:t>against up to five pipeline peers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Match analysis </a:t>
            </a:r>
            <a:r>
              <a:rPr sz="1230">
                <a:solidFill>
                  <a:srgbClr val="737373"/>
                </a:solidFill>
                <a:latin typeface="Segoe UI"/>
              </a:rPr>
              <a:t>score + verdict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Gap set </a:t>
            </a:r>
            <a:r>
              <a:rPr sz="1230">
                <a:solidFill>
                  <a:srgbClr val="737373"/>
                </a:solidFill>
                <a:latin typeface="Segoe UI"/>
              </a:rPr>
              <a:t>severity and importance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Validation areas </a:t>
            </a:r>
            <a:r>
              <a:rPr sz="1230">
                <a:solidFill>
                  <a:srgbClr val="737373"/>
                </a:solidFill>
                <a:latin typeface="Segoe UI"/>
              </a:rPr>
              <a:t>for the Question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Supervisor depth — </a:t>
            </a:r>
            <a:r>
              <a:rPr sz="1130">
                <a:solidFill>
                  <a:srgbClr val="737373"/>
                </a:solidFill>
                <a:latin typeface="Segoe UI"/>
              </a:rPr>
              <a:t>minimal / standard / deep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Coverage anchor — </a:t>
            </a:r>
            <a:r>
              <a:rPr sz="1130">
                <a:solidFill>
                  <a:srgbClr val="737373"/>
                </a:solidFill>
                <a:latin typeface="Segoe UI"/>
              </a:rPr>
              <a:t>limits model drift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Memory notes — </a:t>
            </a:r>
            <a:r>
              <a:rPr sz="1130">
                <a:solidFill>
                  <a:srgbClr val="737373"/>
                </a:solidFill>
                <a:latin typeface="Segoe UI"/>
              </a:rPr>
              <a:t>adjust recurring blind spots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Question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Converts verified gaps into an interview validation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Candidate analysis
gaps + precedent
→ targeted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CONSUMES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gap analysis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Grounding: </a:t>
            </a:r>
            <a:r>
              <a:rPr sz="1230">
                <a:solidFill>
                  <a:srgbClr val="737373"/>
                </a:solidFill>
                <a:latin typeface="Segoe UI"/>
              </a:rPr>
              <a:t>targeted gap-evidence cases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Profile: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 history + role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Generates </a:t>
            </a:r>
            <a:r>
              <a:rPr sz="1230">
                <a:solidFill>
                  <a:srgbClr val="737373"/>
                </a:solidFill>
                <a:latin typeface="Segoe UI"/>
              </a:rPr>
              <a:t>screening, technical, gap and experience questions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Targets </a:t>
            </a:r>
            <a:r>
              <a:rPr sz="1230">
                <a:solidFill>
                  <a:srgbClr val="737373"/>
                </a:solidFill>
                <a:latin typeface="Segoe UI"/>
              </a:rPr>
              <a:t>strong claims, uncertainty and missing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Defines </a:t>
            </a:r>
            <a:r>
              <a:rPr sz="1230">
                <a:solidFill>
                  <a:srgbClr val="737373"/>
                </a:solidFill>
                <a:latin typeface="Segoe UI"/>
              </a:rPr>
              <a:t>expected signals and rationale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Calibrates </a:t>
            </a:r>
            <a:r>
              <a:rPr sz="1230">
                <a:solidFill>
                  <a:srgbClr val="737373"/>
                </a:solidFill>
                <a:latin typeface="Segoe UI"/>
              </a:rPr>
              <a:t>difficulty to role and candidate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Question set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candidate-specific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Expected signals </a:t>
            </a:r>
            <a:r>
              <a:rPr sz="1230">
                <a:solidFill>
                  <a:srgbClr val="737373"/>
                </a:solidFill>
                <a:latin typeface="Segoe UI"/>
              </a:rPr>
              <a:t>for later scoring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Rationale </a:t>
            </a:r>
            <a:r>
              <a:rPr sz="1230">
                <a:solidFill>
                  <a:srgbClr val="737373"/>
                </a:solidFill>
                <a:latin typeface="Segoe UI"/>
              </a:rPr>
              <a:t>why each question matters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No generic bank dump — </a:t>
            </a:r>
            <a:r>
              <a:rPr sz="1130">
                <a:solidFill>
                  <a:srgbClr val="737373"/>
                </a:solidFill>
                <a:latin typeface="Segoe UI"/>
              </a:rPr>
              <a:t>questions follow observed evidence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Persisted set — </a:t>
            </a:r>
            <a:r>
              <a:rPr sz="1130">
                <a:solidFill>
                  <a:srgbClr val="737373"/>
                </a:solidFill>
                <a:latin typeface="Segoe UI"/>
              </a:rPr>
              <a:t>becomes reusable and retrievable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Transcript Evaluation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Scores demonstrated interview evidence against expected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Transcript review
questions + transcript
→ score + 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CONSUMES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raw transcript + participants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Plan: </a:t>
            </a:r>
            <a:r>
              <a:rPr sz="1230">
                <a:solidFill>
                  <a:srgbClr val="737373"/>
                </a:solidFill>
                <a:latin typeface="Segoe UI"/>
              </a:rPr>
              <a:t>question set + expected signals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RAG: </a:t>
            </a:r>
            <a:r>
              <a:rPr sz="1230">
                <a:solidFill>
                  <a:srgbClr val="737373"/>
                </a:solidFill>
                <a:latin typeface="Segoe UI"/>
              </a:rPr>
              <a:t>interview-evaluation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Scores </a:t>
            </a:r>
            <a:r>
              <a:rPr sz="1230">
                <a:solidFill>
                  <a:srgbClr val="737373"/>
                </a:solidFill>
                <a:latin typeface="Segoe UI"/>
              </a:rPr>
              <a:t>technical depth and communication separately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Maps </a:t>
            </a:r>
            <a:r>
              <a:rPr sz="1230">
                <a:solidFill>
                  <a:srgbClr val="737373"/>
                </a:solidFill>
                <a:latin typeface="Segoe UI"/>
              </a:rPr>
              <a:t>signals hit and missed per question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Quotes </a:t>
            </a:r>
            <a:r>
              <a:rPr sz="1230">
                <a:solidFill>
                  <a:srgbClr val="737373"/>
                </a:solidFill>
                <a:latin typeface="Segoe UI"/>
              </a:rPr>
              <a:t>the transcript for every judgement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Retries </a:t>
            </a:r>
            <a:r>
              <a:rPr sz="1230">
                <a:solidFill>
                  <a:srgbClr val="737373"/>
                </a:solidFill>
                <a:latin typeface="Segoe UI"/>
              </a:rPr>
              <a:t>when validation detects unsupported quotes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0–10 ratings </a:t>
            </a:r>
            <a:r>
              <a:rPr sz="1230">
                <a:solidFill>
                  <a:srgbClr val="737373"/>
                </a:solidFill>
                <a:latin typeface="Segoe UI"/>
              </a:rPr>
              <a:t>technical, communication, overall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Answer breakdown </a:t>
            </a:r>
            <a:r>
              <a:rPr sz="1230">
                <a:solidFill>
                  <a:srgbClr val="737373"/>
                </a:solidFill>
                <a:latin typeface="Segoe UI"/>
              </a:rPr>
              <a:t>question by question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Recommendation </a:t>
            </a:r>
            <a:r>
              <a:rPr sz="1230">
                <a:solidFill>
                  <a:srgbClr val="737373"/>
                </a:solidFill>
                <a:latin typeface="Segoe UI"/>
              </a:rPr>
              <a:t>with rationale and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Quote validator — </a:t>
            </a:r>
            <a:r>
              <a:rPr sz="1130">
                <a:solidFill>
                  <a:srgbClr val="737373"/>
                </a:solidFill>
                <a:latin typeface="Segoe UI"/>
              </a:rPr>
              <a:t>checks source text mechanically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Reflexion — </a:t>
            </a:r>
            <a:r>
              <a:rPr sz="1130">
                <a:solidFill>
                  <a:srgbClr val="737373"/>
                </a:solidFill>
                <a:latin typeface="Segoe UI"/>
              </a:rPr>
              <a:t>maximum two attempts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Durable artifact — </a:t>
            </a:r>
            <a:r>
              <a:rPr sz="1130">
                <a:solidFill>
                  <a:srgbClr val="737373"/>
                </a:solidFill>
                <a:latin typeface="Segoe UI"/>
              </a:rPr>
              <a:t>versioned and auditable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Red Flag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Surfaces only concerns grounded in candidate evidence and precedent.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Transcript review
flag RAG → detect
→ ground → 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CONSUMES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resume claims + transcript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RAG: </a:t>
            </a:r>
            <a:r>
              <a:rPr sz="1230">
                <a:solidFill>
                  <a:srgbClr val="737373"/>
                </a:solidFill>
                <a:latin typeface="Segoe UI"/>
              </a:rPr>
              <a:t>dedicated red-flag precedents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Context: </a:t>
            </a:r>
            <a:r>
              <a:rPr sz="1230">
                <a:solidFill>
                  <a:srgbClr val="737373"/>
                </a:solidFill>
                <a:latin typeface="Segoe UI"/>
              </a:rPr>
              <a:t>role requirements + calibration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CORE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Checks </a:t>
            </a:r>
            <a:r>
              <a:rPr sz="1230">
                <a:solidFill>
                  <a:srgbClr val="737373"/>
                </a:solidFill>
                <a:latin typeface="Segoe UI"/>
              </a:rPr>
              <a:t>seniority, project depth, contradictions, claims and timelines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Requires </a:t>
            </a:r>
            <a:r>
              <a:rPr sz="1230">
                <a:solidFill>
                  <a:srgbClr val="737373"/>
                </a:solidFill>
                <a:latin typeface="Segoe UI"/>
              </a:rPr>
              <a:t>direct source quote for each flag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Cites </a:t>
            </a:r>
            <a:r>
              <a:rPr sz="1230">
                <a:solidFill>
                  <a:srgbClr val="737373"/>
                </a:solidFill>
                <a:latin typeface="Segoe UI"/>
              </a:rPr>
              <a:t>retrieved case ID + relevance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Frames </a:t>
            </a:r>
            <a:r>
              <a:rPr sz="1230">
                <a:solidFill>
                  <a:srgbClr val="737373"/>
                </a:solidFill>
                <a:latin typeface="Segoe UI"/>
              </a:rPr>
              <a:t>every concern as something to verify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GREEN / YELLOW / RED </a:t>
            </a:r>
            <a:r>
              <a:rPr sz="1230">
                <a:solidFill>
                  <a:srgbClr val="737373"/>
                </a:solidFill>
                <a:latin typeface="Segoe UI"/>
              </a:rPr>
              <a:t>advisory severity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Evidence bundle </a:t>
            </a:r>
            <a:r>
              <a:rPr sz="1230">
                <a:solidFill>
                  <a:srgbClr val="737373"/>
                </a:solidFill>
                <a:latin typeface="Segoe UI"/>
              </a:rPr>
              <a:t>source quotes + precedent IDs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Follow-up concern </a:t>
            </a:r>
            <a:r>
              <a:rPr sz="1230">
                <a:solidFill>
                  <a:srgbClr val="737373"/>
                </a:solidFill>
                <a:latin typeface="Segoe UI"/>
              </a:rPr>
              <a:t>never an automatic rejection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Mechanical validation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quote exists in claimed source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Case validation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ID must be actually retrieved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Reflexion — </a:t>
            </a:r>
            <a:r>
              <a:rPr sz="1130">
                <a:solidFill>
                  <a:srgbClr val="737373"/>
                </a:solidFill>
                <a:latin typeface="Segoe UI"/>
              </a:rPr>
              <a:t>retries invalid grounding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Human Review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Synthesises evidence into a decision packet—not a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66543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Review synthesis
validated artifacts
→ human packet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CONSUMES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Inputs: </a:t>
            </a:r>
            <a:r>
              <a:rPr sz="1230">
                <a:solidFill>
                  <a:srgbClr val="737373"/>
                </a:solidFill>
                <a:latin typeface="Segoe UI"/>
              </a:rPr>
              <a:t>match, transcript evaluation, flags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Context: </a:t>
            </a:r>
            <a:r>
              <a:rPr sz="1230">
                <a:solidFill>
                  <a:srgbClr val="737373"/>
                </a:solidFill>
                <a:latin typeface="Segoe UI"/>
              </a:rPr>
              <a:t>comparable cases + reviewer 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Weighs </a:t>
            </a:r>
            <a:r>
              <a:rPr sz="1230">
                <a:solidFill>
                  <a:srgbClr val="737373"/>
                </a:solidFill>
                <a:latin typeface="Segoe UI"/>
              </a:rPr>
              <a:t>scores, concerns and uncertainty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Summarises </a:t>
            </a:r>
            <a:r>
              <a:rPr sz="1230">
                <a:solidFill>
                  <a:srgbClr val="737373"/>
                </a:solidFill>
                <a:latin typeface="Segoe UI"/>
              </a:rPr>
              <a:t>key evidence and unresolved questions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Explains </a:t>
            </a:r>
            <a:r>
              <a:rPr sz="1230">
                <a:solidFill>
                  <a:srgbClr val="737373"/>
                </a:solidFill>
                <a:latin typeface="Segoe UI"/>
              </a:rPr>
              <a:t>why precedent is relevant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Routes </a:t>
            </a:r>
            <a:r>
              <a:rPr sz="1230">
                <a:solidFill>
                  <a:srgbClr val="737373"/>
                </a:solidFill>
                <a:latin typeface="Segoe UI"/>
              </a:rPr>
              <a:t>final judgement to a person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Recommendation </a:t>
            </a:r>
            <a:r>
              <a:rPr sz="1230">
                <a:solidFill>
                  <a:srgbClr val="737373"/>
                </a:solidFill>
                <a:latin typeface="Segoe UI"/>
              </a:rPr>
              <a:t>advance / hold / reject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Headline + reasoning </a:t>
            </a:r>
            <a:r>
              <a:rPr sz="1230">
                <a:solidFill>
                  <a:srgbClr val="737373"/>
                </a:solidFill>
                <a:latin typeface="Segoe UI"/>
              </a:rPr>
              <a:t>review-ready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Open questions </a:t>
            </a:r>
            <a:r>
              <a:rPr sz="1230">
                <a:solidFill>
                  <a:srgbClr val="737373"/>
                </a:solidFill>
                <a:latin typeface="Segoe UI"/>
              </a:rPr>
              <a:t>what a human must resolve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GREEN optimisation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deterministic packet when no flags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Human authority — </a:t>
            </a:r>
            <a:r>
              <a:rPr sz="1130">
                <a:solidFill>
                  <a:srgbClr val="737373"/>
                </a:solidFill>
                <a:latin typeface="Segoe UI"/>
              </a:rPr>
              <a:t>only reviewer changes status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Overrides — </a:t>
            </a:r>
            <a:r>
              <a:rPr sz="1130">
                <a:solidFill>
                  <a:srgbClr val="737373"/>
                </a:solidFill>
                <a:latin typeface="Segoe UI"/>
              </a:rPr>
              <a:t>feed calibration memory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Agentic RAG: plan, retrieve, reason,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Retrieval is a first-class agent step—not a one-shot lookup attached to a 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8940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0848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RESOLVE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Typed purpose: fit, gaps, interview or red flags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62272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208940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20848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PLAN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Generate 2–4 diverse, privacy-safe searches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93023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208940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0848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Embed and search expert-verified historical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6392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95935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RANK + DEDUPE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Keep strongest chunk per owner; preserve stable 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62272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2272" y="396392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395935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REASON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43484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Inject context into the specialised reasoning agent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93023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93023" y="396392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3376" y="395935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443484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Index reviewer decisions and verified gaps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AGENTIC RAG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0744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0744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Evidence, reflexion and expert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Three loops tighten quality without allowing models to become the decision-maker.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244852"/>
            <a:ext cx="713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LOOP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43200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MECHANICAL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73552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Quotes must exist in source text. Red-flag case IDs must appear in retrieval results. Severity must be internally consistent.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59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2244852"/>
            <a:ext cx="713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LOOP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43200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REFLEXION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273552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Validation errors return as explicit feedback. The agent retries once; repeated failure becomes a bias-warning memory note.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11312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2244852"/>
            <a:ext cx="713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LOOP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743200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EXPERT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273552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Reviewers record decisions, overrides and verified gaps. They are embedded as future precedent and written to calibration memory.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59552"/>
            <a:ext cx="11091672" cy="5669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696712"/>
            <a:ext cx="10561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Result: evidence improves over time, while the human remains the only hiring authority.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TRUST &amp;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34874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3487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Private by boundary. Observable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Demo mode explains what is running without weakening the production privacy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349240" cy="38862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21284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17420"/>
            <a:ext cx="13258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PRIVACY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1488"/>
            <a:ext cx="4800600" cy="24688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Local preservation — </a:t>
            </a:r>
            <a:r>
              <a:rPr sz="1300">
                <a:solidFill>
                  <a:srgbClr val="737373"/>
                </a:solidFill>
                <a:latin typeface="Segoe UI"/>
              </a:rPr>
              <a:t>authorised users retain original resumes and transcripts.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Demo masking — </a:t>
            </a:r>
            <a:r>
              <a:rPr sz="1300">
                <a:solidFill>
                  <a:srgbClr val="737373"/>
                </a:solidFill>
                <a:latin typeface="Segoe UI"/>
              </a:rPr>
              <a:t>uploaded PII is redacted before textarea display.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Outbound sanitisation — </a:t>
            </a:r>
            <a:r>
              <a:rPr sz="1300">
                <a:solidFill>
                  <a:srgbClr val="737373"/>
                </a:solidFill>
                <a:latin typeface="Segoe UI"/>
              </a:rPr>
              <a:t>names, contacts, locations, institutions and URLs are removed.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Vector hygiene — </a:t>
            </a:r>
            <a:r>
              <a:rPr sz="1300">
                <a:solidFill>
                  <a:srgbClr val="737373"/>
                </a:solidFill>
                <a:latin typeface="Segoe UI"/>
              </a:rPr>
              <a:t>content and queries are privacy-filtered before embedding.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468112" cy="38862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2212848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217420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UNDER THE 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61488"/>
            <a:ext cx="4800600" cy="24688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Running-agent history — </a:t>
            </a:r>
            <a:r>
              <a:rPr sz="1300">
                <a:solidFill>
                  <a:srgbClr val="737373"/>
                </a:solidFill>
                <a:latin typeface="Segoe UI"/>
              </a:rPr>
              <a:t>timestamped, persistent and manually reset.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Workflow path — </a:t>
            </a:r>
            <a:r>
              <a:rPr sz="1300">
                <a:solidFill>
                  <a:srgbClr val="737373"/>
                </a:solidFill>
                <a:latin typeface="Segoe UI"/>
              </a:rPr>
              <a:t>running, complete and failed lifecycle states.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Token visibility — </a:t>
            </a:r>
            <a:r>
              <a:rPr sz="1300">
                <a:solidFill>
                  <a:srgbClr val="737373"/>
                </a:solidFill>
                <a:latin typeface="Segoe UI"/>
              </a:rPr>
              <a:t>optional prompt, completion and total usage.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Prompt controls — </a:t>
            </a:r>
            <a:r>
              <a:rPr sz="1300">
                <a:solidFill>
                  <a:srgbClr val="737373"/>
                </a:solidFill>
                <a:latin typeface="Segoe UI"/>
              </a:rPr>
              <a:t>Demo overrides still pass central PII filtering.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PRIVACY &amp;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11091672" cy="5715000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96112" y="896112"/>
            <a:ext cx="93268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900684"/>
            <a:ext cx="93268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HIRELENS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658368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Specialised agents.
Grounded evidence.
Human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77639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A recruitment intelligence architecture designed to make
AI useful, inspectable and appropriately constrained.</a:t>
            </a:r>
          </a:p>
        </p:txBody>
      </p:sp>
      <p:pic>
        <p:nvPicPr>
          <p:cNvPr id="7" name="Picture 6" descr="HireL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234440"/>
            <a:ext cx="324612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54112" y="4828032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54112" y="4832604"/>
            <a:ext cx="11430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PRIVACY-AWARE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4828032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4832604"/>
            <a:ext cx="10789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EVIDENCE-LED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68712" y="4828032"/>
            <a:ext cx="1024128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68712" y="4832604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HUMAN-OWNED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ARCHITECTURE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173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173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Hiring evidence is fragmented, variable and hard to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The challenge is not a lack of data—it is converting inconsistent documents and interviews into comparable, defensible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38528"/>
            <a:ext cx="5349240" cy="1609344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2139696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144268"/>
            <a:ext cx="4572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2140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52525"/>
                </a:solidFill>
                <a:latin typeface="Segoe UI"/>
              </a:rPr>
              <a:t>FRAGMENTED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96896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Segoe UI"/>
              </a:rPr>
              <a:t>JDs, resumes, transcripts, notes and historical outcomes live in different formats and levels of detail.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38528"/>
            <a:ext cx="5349240" cy="1609344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73368" y="2139696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2144268"/>
            <a:ext cx="4572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12140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52525"/>
                </a:solidFill>
                <a:latin typeface="Segoe UI"/>
              </a:rPr>
              <a:t>INCONSISTENT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596896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Segoe UI"/>
              </a:rPr>
              <a:t>Different reviewers apply different standards, questions and interpretations to similar candidates.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3048"/>
            <a:ext cx="5349240" cy="1609344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4014215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018787"/>
            <a:ext cx="4572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9592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52525"/>
                </a:solidFill>
                <a:latin typeface="Segoe UI"/>
              </a:rPr>
              <a:t>WEAK 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71416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Segoe UI"/>
              </a:rPr>
              <a:t>Scores and concerns are difficult to reconstruct when the supporting evidence is not captured with the decision.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13048"/>
            <a:ext cx="5349240" cy="1609344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73368" y="4014215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4018787"/>
            <a:ext cx="4572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99592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52525"/>
                </a:solidFill>
                <a:latin typeface="Segoe UI"/>
              </a:rPr>
              <a:t>PRIVACY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471416"/>
            <a:ext cx="48920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37373"/>
                </a:solidFill>
                <a:latin typeface="Segoe UI"/>
              </a:rPr>
              <a:t>Recruitment data contains identity, contact and education details that should not cross every AI boundary.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05856"/>
            <a:ext cx="11091672" cy="438912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6253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Business requirement: faster synthesis without surrendering evidence quality, privacy or human accountability.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BUSINESS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0744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0744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WHY AGENTIC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Use automation, agents and humans where each is strongest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HireLens is deliberately hybrid: rules provide repeatability, agents handle contextual reasoning, and people own consequential judgement.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474720" cy="34930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2194560"/>
            <a:ext cx="603504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199132"/>
            <a:ext cx="60350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BEST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7004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DETERMINISTIC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3017520" cy="173736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Rules — </a:t>
            </a:r>
            <a:r>
              <a:rPr sz="1250">
                <a:solidFill>
                  <a:srgbClr val="737373"/>
                </a:solidFill>
                <a:latin typeface="Segoe UI"/>
              </a:rPr>
              <a:t>schema checks, scoring and persistence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Strength — </a:t>
            </a:r>
            <a:r>
              <a:rPr sz="1250">
                <a:solidFill>
                  <a:srgbClr val="737373"/>
                </a:solidFill>
                <a:latin typeface="Segoe UI"/>
              </a:rPr>
              <a:t>speed and repeatability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Limit — </a:t>
            </a:r>
            <a:r>
              <a:rPr sz="1250">
                <a:solidFill>
                  <a:srgbClr val="737373"/>
                </a:solidFill>
                <a:latin typeface="Segoe UI"/>
              </a:rPr>
              <a:t>cannot resolve ambiguous evidence or 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965960"/>
            <a:ext cx="3474720" cy="34930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59" y="2194560"/>
            <a:ext cx="603504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2199132"/>
            <a:ext cx="60350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BEST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67004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AGENTIC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246120"/>
            <a:ext cx="3017520" cy="173736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Reasoning — </a:t>
            </a:r>
            <a:r>
              <a:rPr sz="1250">
                <a:solidFill>
                  <a:srgbClr val="737373"/>
                </a:solidFill>
                <a:latin typeface="Segoe UI"/>
              </a:rPr>
              <a:t>intent, retrieval, gaps and synthesis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Strength — </a:t>
            </a:r>
            <a:r>
              <a:rPr sz="1250">
                <a:solidFill>
                  <a:srgbClr val="737373"/>
                </a:solidFill>
                <a:latin typeface="Segoe UI"/>
              </a:rPr>
              <a:t>adapts to unstructured context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Limit — </a:t>
            </a:r>
            <a:r>
              <a:rPr sz="1250">
                <a:solidFill>
                  <a:srgbClr val="737373"/>
                </a:solidFill>
                <a:latin typeface="Segoe UI"/>
              </a:rPr>
              <a:t>must be grounded and validated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965960"/>
            <a:ext cx="3474720" cy="34930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11312" y="2194560"/>
            <a:ext cx="603504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2199132"/>
            <a:ext cx="60350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BEST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67004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HUMAN 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246120"/>
            <a:ext cx="3017520" cy="173736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Judgement — </a:t>
            </a:r>
            <a:r>
              <a:rPr sz="1250">
                <a:solidFill>
                  <a:srgbClr val="737373"/>
                </a:solidFill>
                <a:latin typeface="Segoe UI"/>
              </a:rPr>
              <a:t>trade-offs, fairness and final decision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Strength — </a:t>
            </a:r>
            <a:r>
              <a:rPr sz="1250">
                <a:solidFill>
                  <a:srgbClr val="737373"/>
                </a:solidFill>
                <a:latin typeface="Segoe UI"/>
              </a:rPr>
              <a:t>accountability and domain nuance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52525"/>
                </a:solidFill>
                <a:latin typeface="Segoe UI"/>
              </a:rPr>
              <a:t>• Limit — </a:t>
            </a:r>
            <a:r>
              <a:rPr sz="1250">
                <a:solidFill>
                  <a:srgbClr val="737373"/>
                </a:solidFill>
                <a:latin typeface="Segoe UI"/>
              </a:rPr>
              <a:t>time, consistency and cognitive 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1091672" cy="49377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788152"/>
            <a:ext cx="106070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6657D9"/>
                </a:solidFill>
                <a:latin typeface="Segoe UI"/>
              </a:rPr>
              <a:t>Agentic is justified where the system must decide what evidence to seek next—not merely execute a fixed lookup.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WHY AGENTIC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8288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8288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A layered, auditable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Next.js coordinates user workflows; LangGraph manages state; Supabase persists evidence, vectors, tasks and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39112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043684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1" y="1874519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04288" y="2066543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Dashboard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1993391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05656" y="2066543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Jobs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61888" y="1993391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07024" y="2066543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Candidates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63256" y="1993391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08392" y="2066543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64624" y="1993391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09760" y="2066543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Demo observability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34640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2839212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API +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84831" y="2670048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04288" y="2862072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Authenticated routes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0862" y="2788920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55998" y="2862072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Zod contracts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62572" y="2788920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07708" y="2862072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Deterministic scoring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14282" y="2788920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59417" y="2862072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PII boundary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630168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634740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LANGGRAPH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84831" y="3465576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04288" y="3657600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JD intake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10862" y="3584448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55998" y="3657600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Resume intake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62572" y="3584448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07708" y="3657600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Candidate analysis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14282" y="3584448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059417" y="3657600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Transcript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425696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4430268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AGENT SERVICES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84831" y="4261104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04288" y="4453128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Structured LLMs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610862" y="4379976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55998" y="4453128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Intent planner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62572" y="4379976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07708" y="4453128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Reflexion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14282" y="4379976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059417" y="4453128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Validation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221223"/>
            <a:ext cx="1298448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5225795"/>
            <a:ext cx="129844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DATA + MEMORY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84831" y="5056631"/>
            <a:ext cx="9555480" cy="62179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04288" y="5248655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Postgres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610862" y="5175503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55998" y="5248655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pgvector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62572" y="5175503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807708" y="5248655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Agent memory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114282" y="5175503"/>
            <a:ext cx="0" cy="384048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059417" y="5248655"/>
            <a:ext cx="21785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252525"/>
                </a:solidFill>
                <a:latin typeface="Segoe UI"/>
              </a:rPr>
              <a:t>Tasks / artifacts / events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TECHNICAL ARCHITECTURE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0058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Test outputs, grounding and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Evaluation must cover both model quality and orchestration correctness—not only happy-path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38528"/>
            <a:ext cx="5349240" cy="3977639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99132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AUTOMATED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1488"/>
            <a:ext cx="4800600" cy="260604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40" b="1">
                <a:solidFill>
                  <a:srgbClr val="252525"/>
                </a:solidFill>
                <a:latin typeface="Segoe UI"/>
              </a:rPr>
              <a:t>• Schema tests — </a:t>
            </a:r>
            <a:r>
              <a:rPr sz="1240">
                <a:solidFill>
                  <a:srgbClr val="737373"/>
                </a:solidFill>
                <a:latin typeface="Segoe UI"/>
              </a:rPr>
              <a:t>all structured outputs satisfy strict Zod contracts.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40" b="1">
                <a:solidFill>
                  <a:srgbClr val="252525"/>
                </a:solidFill>
                <a:latin typeface="Segoe UI"/>
              </a:rPr>
              <a:t>• Grounding tests — </a:t>
            </a:r>
            <a:r>
              <a:rPr sz="1240">
                <a:solidFill>
                  <a:srgbClr val="737373"/>
                </a:solidFill>
                <a:latin typeface="Segoe UI"/>
              </a:rPr>
              <a:t>quotes exist in source text and case IDs were retrieved.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40" b="1">
                <a:solidFill>
                  <a:srgbClr val="252525"/>
                </a:solidFill>
                <a:latin typeface="Segoe UI"/>
              </a:rPr>
              <a:t>• Workflow tests — </a:t>
            </a:r>
            <a:r>
              <a:rPr sz="1240">
                <a:solidFill>
                  <a:srgbClr val="737373"/>
                </a:solidFill>
                <a:latin typeface="Segoe UI"/>
              </a:rPr>
              <a:t>branch joins, idempotency and lifecycle state remain correct.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40" b="1">
                <a:solidFill>
                  <a:srgbClr val="252525"/>
                </a:solidFill>
                <a:latin typeface="Segoe UI"/>
              </a:rPr>
              <a:t>• Offline quality — </a:t>
            </a:r>
            <a:r>
              <a:rPr sz="1240">
                <a:solidFill>
                  <a:srgbClr val="737373"/>
                </a:solidFill>
                <a:latin typeface="Segoe UI"/>
              </a:rPr>
              <a:t>DeepEval hallucination checks use exact supplied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38528"/>
            <a:ext cx="5468112" cy="3977639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1115568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199132"/>
            <a:ext cx="111556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EDGE-CASE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61488"/>
            <a:ext cx="4800600" cy="274320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Cold retrieval — </a:t>
            </a:r>
            <a:r>
              <a:rPr sz="1220">
                <a:solidFill>
                  <a:srgbClr val="737373"/>
                </a:solidFill>
                <a:latin typeface="Segoe UI"/>
              </a:rPr>
              <a:t>no vectors or low-similarity cases.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Noisy documents — </a:t>
            </a:r>
            <a:r>
              <a:rPr sz="1220">
                <a:solidFill>
                  <a:srgbClr val="737373"/>
                </a:solidFill>
                <a:latin typeface="Segoe UI"/>
              </a:rPr>
              <a:t>OCR artefacts, missing sections and malformed VTT.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Conflicting claims — </a:t>
            </a:r>
            <a:r>
              <a:rPr sz="1220">
                <a:solidFill>
                  <a:srgbClr val="737373"/>
                </a:solidFill>
                <a:latin typeface="Segoe UI"/>
              </a:rPr>
              <a:t>resume/transcript dates, roles and technologies disagree.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Adversarial grounding — </a:t>
            </a:r>
            <a:r>
              <a:rPr sz="1220">
                <a:solidFill>
                  <a:srgbClr val="737373"/>
                </a:solidFill>
                <a:latin typeface="Segoe UI"/>
              </a:rPr>
              <a:t>invented quotes, case IDs, PII and prompt injection.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20" b="1">
                <a:solidFill>
                  <a:srgbClr val="252525"/>
                </a:solidFill>
                <a:latin typeface="Segoe UI"/>
              </a:rPr>
              <a:t>• Operational faults — </a:t>
            </a:r>
            <a:r>
              <a:rPr sz="1220">
                <a:solidFill>
                  <a:srgbClr val="737373"/>
                </a:solidFill>
                <a:latin typeface="Segoe UI"/>
              </a:rPr>
              <a:t>timeouts, retries, duplicate requests and partial branch failure.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Expert validation closes the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The reviewer does more than approve an answer: their correction becomes evidence for the next retrieval and calibration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07692"/>
            <a:ext cx="40233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031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Inspect scores, quotes, flags and precedent.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92024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62272" y="210312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2107692"/>
            <a:ext cx="40233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21031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7860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Accept or override; only a person changes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92024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93023" y="210312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2107692"/>
            <a:ext cx="40233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1031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VERIFY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257860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Record explicit domain gaps, one per 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397764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82212"/>
            <a:ext cx="40233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97764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5312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Embed decision, reasoning and verified gaps.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79476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62272" y="397764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2272" y="3982212"/>
            <a:ext cx="40233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397764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CALIBRATE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45312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Write high-confidence Gap Analysis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3794760"/>
            <a:ext cx="3474720" cy="15544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93023" y="3977640"/>
            <a:ext cx="402336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93023" y="3982212"/>
            <a:ext cx="40233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3376" y="397764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RETRIEVE AGAIN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445312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Future agents recover expert precedent.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705856"/>
            <a:ext cx="11091672" cy="438912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106253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Governance rule: model recommendations are advisory; expert feedback is attributable, persistent and retrievable.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HUMAN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21158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2115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ROI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Measure value without inventing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Establish a baseline, instrument the workflow, and report observed improvement by role, stage and candidate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749808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9132"/>
            <a:ext cx="74980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DRIVER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21762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Minutes to structure a role, screen evidence, prepare questions and assemble review packets.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6596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47872" y="2194560"/>
            <a:ext cx="749808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2199132"/>
            <a:ext cx="74980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DRIVER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697480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182112"/>
            <a:ext cx="21762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Quote-grounding rate, retrieval relevance, override rate and unresolved evidence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96596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64224" y="2194560"/>
            <a:ext cx="749808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2199132"/>
            <a:ext cx="74980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DRIVER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697480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182112"/>
            <a:ext cx="21762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Variance in scoring, question coverage and decisions across reviewers and jobs.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965960"/>
            <a:ext cx="2578608" cy="214884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80576" y="2194560"/>
            <a:ext cx="749808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2199132"/>
            <a:ext cx="74980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DRIVER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697480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182112"/>
            <a:ext cx="21762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PII boundary violations, unsupported claims, audit gaps and rework after incorrect flags.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07408"/>
            <a:ext cx="6720840" cy="148132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4617720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622292"/>
            <a:ext cx="11887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MEASUREMENT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074920"/>
            <a:ext cx="62636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52525"/>
                </a:solidFill>
                <a:latin typeface="Segoe UI"/>
              </a:rPr>
              <a:t>ROI = (labour saved + avoided rework + quality/risk value − operating cost) ÷ operating cost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407408"/>
            <a:ext cx="4142232" cy="14813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54112" y="4645152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REPORT ONLY OBSERVED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5047488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Baseline → pilot cohort → production trend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ROI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2400</Words>
  <Application>Microsoft Office PowerPoint</Application>
  <PresentationFormat>Widescreen</PresentationFormat>
  <Paragraphs>500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HireLens — Agentic AI Agents</dc:title>
  <dc:subject>Application agent architecture, Agentic RAG, privacy and observability</dc:subject>
  <dc:creator>HireLens</dc:creator>
  <cp:keywords>HireLens, Agentic AI, RAG, recruitment, LangGraph</cp:keywords>
  <dc:description>generated using python-pptx</dc:description>
  <cp:lastModifiedBy>Rajat Srivastava</cp:lastModifiedBy>
  <cp:revision>3</cp:revision>
  <dcterms:created xsi:type="dcterms:W3CDTF">2013-01-27T09:14:16Z</dcterms:created>
  <dcterms:modified xsi:type="dcterms:W3CDTF">2026-09-22T14:11:10Z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caace6-0147-4eb4-9424-999efb4dea48_Enabled">
    <vt:lpwstr>true</vt:lpwstr>
  </property>
  <property fmtid="{D5CDD505-2E9C-101B-9397-08002B2CF9AE}" pid="3" name="MSIP_Label_c9caace6-0147-4eb4-9424-999efb4dea48_SetDate">
    <vt:lpwstr>2026-09-22T13:32:00Z</vt:lpwstr>
  </property>
  <property fmtid="{D5CDD505-2E9C-101B-9397-08002B2CF9AE}" pid="4" name="MSIP_Label_c9caace6-0147-4eb4-9424-999efb4dea48_Method">
    <vt:lpwstr>Standard</vt:lpwstr>
  </property>
  <property fmtid="{D5CDD505-2E9C-101B-9397-08002B2CF9AE}" pid="5" name="MSIP_Label_c9caace6-0147-4eb4-9424-999efb4dea48_Name">
    <vt:lpwstr>defa4170-0d19-0005-0004-bc88714345d2</vt:lpwstr>
  </property>
  <property fmtid="{D5CDD505-2E9C-101B-9397-08002B2CF9AE}" pid="6" name="MSIP_Label_c9caace6-0147-4eb4-9424-999efb4dea48_SiteId">
    <vt:lpwstr>c1edc258-9f36-468d-a860-685701f0c76b</vt:lpwstr>
  </property>
  <property fmtid="{D5CDD505-2E9C-101B-9397-08002B2CF9AE}" pid="7" name="MSIP_Label_c9caace6-0147-4eb4-9424-999efb4dea48_ActionId">
    <vt:lpwstr>9a7f6ee4-54ab-41ee-8eee-bc4d0dc8b189</vt:lpwstr>
  </property>
  <property fmtid="{D5CDD505-2E9C-101B-9397-08002B2CF9AE}" pid="8" name="MSIP_Label_c9caace6-0147-4eb4-9424-999efb4dea48_ContentBits">
    <vt:lpwstr>0</vt:lpwstr>
  </property>
  <property fmtid="{D5CDD505-2E9C-101B-9397-08002B2CF9AE}" pid="9" name="MSIP_Label_c9caace6-0147-4eb4-9424-999efb4dea48_Tag">
    <vt:lpwstr>10, 3, 0, 1</vt:lpwstr>
  </property>
</Properties>
</file>