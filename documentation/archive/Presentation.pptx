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6" r:id="rId2"/>
    <p:sldId id="267" r:id="rId3"/>
    <p:sldId id="26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50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27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20040" y="-411480"/>
            <a:ext cx="2194560" cy="2194560"/>
          </a:xfrm>
          <a:prstGeom prst="ellipse">
            <a:avLst/>
          </a:prstGeom>
          <a:solidFill>
            <a:srgbClr val="E9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66360" y="841248"/>
            <a:ext cx="201168" cy="20116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5715000"/>
            <a:ext cx="1280160" cy="1280160"/>
          </a:xfrm>
          <a:prstGeom prst="ellipse">
            <a:avLst/>
          </a:prstGeom>
          <a:solidFill>
            <a:srgbClr val="DD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_4"/>
          <p:cNvSpPr txBox="1"/>
          <p:nvPr/>
        </p:nvSpPr>
        <p:spPr>
          <a:xfrm>
            <a:off x="658368" y="5669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C5CFC"/>
                </a:solidFill>
                <a:latin typeface="Aptos"/>
              </a:rPr>
              <a:t>THE STORY · 01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658368" y="1143000"/>
            <a:ext cx="48463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7233B"/>
                </a:solidFill>
                <a:latin typeface="Aptos Display"/>
              </a:rPr>
              <a:t>One Director.
Many technologies.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78608"/>
            <a:ext cx="987552" cy="63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_7"/>
          <p:cNvSpPr txBox="1"/>
          <p:nvPr/>
        </p:nvSpPr>
        <p:spPr>
          <a:xfrm>
            <a:off x="658368" y="2907792"/>
            <a:ext cx="4526280" cy="1133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b="0" dirty="0">
                <a:solidFill>
                  <a:srgbClr val="5D6473"/>
                </a:solidFill>
                <a:latin typeface="Aptos"/>
              </a:rPr>
              <a:t>Rajat is a</a:t>
            </a:r>
            <a:r>
              <a:rPr sz="2300" b="0" dirty="0">
                <a:solidFill>
                  <a:srgbClr val="5D6473"/>
                </a:solidFill>
                <a:latin typeface="Aptos"/>
              </a:rPr>
              <a:t> Director</a:t>
            </a:r>
            <a:r>
              <a:rPr lang="en-US" sz="2300" b="0" dirty="0">
                <a:solidFill>
                  <a:srgbClr val="5D6473"/>
                </a:solidFill>
                <a:latin typeface="Aptos"/>
              </a:rPr>
              <a:t>. He</a:t>
            </a:r>
            <a:r>
              <a:rPr sz="2300" b="0" dirty="0">
                <a:solidFill>
                  <a:srgbClr val="5D6473"/>
                </a:solidFill>
                <a:latin typeface="Aptos"/>
              </a:rPr>
              <a:t> must interview candidates across software, cloud, data, AI and more.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658368" y="4919472"/>
            <a:ext cx="44348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233B"/>
                </a:solidFill>
                <a:latin typeface="Aptos Display"/>
              </a:rPr>
              <a:t>Every conversation demands a different technical lens.</a:t>
            </a:r>
          </a:p>
        </p:txBody>
      </p:sp>
      <p:pic>
        <p:nvPicPr>
          <p:cNvPr id="10" name="Story_01_Illustration" descr="image-97a401c40aac06fa96747de8c17d3802.jpg"/>
          <p:cNvPicPr>
            <a:picLocks noChangeAspect="1"/>
          </p:cNvPicPr>
          <p:nvPr/>
        </p:nvPicPr>
        <p:blipFill>
          <a:blip r:embed="rId2"/>
          <a:srcRect l="16821" r="16821"/>
          <a:stretch>
            <a:fillRect/>
          </a:stretch>
        </p:blipFill>
        <p:spPr>
          <a:xfrm>
            <a:off x="5650992" y="411480"/>
            <a:ext cx="5897880" cy="5925312"/>
          </a:xfrm>
          <a:prstGeom prst="rect">
            <a:avLst/>
          </a:prstGeom>
        </p:spPr>
      </p:pic>
      <p:sp>
        <p:nvSpPr>
          <p:cNvPr id="11" name="Text_10"/>
          <p:cNvSpPr txBox="1"/>
          <p:nvPr/>
        </p:nvSpPr>
        <p:spPr>
          <a:xfrm>
            <a:off x="658368" y="6528816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66F67"/>
                </a:solidFill>
                <a:latin typeface="Aptos"/>
              </a:rPr>
              <a:t>AGENTIC AI DEVELOPER COURSE · CAPSTONE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9921240" y="6528816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66F67"/>
                </a:solidFill>
                <a:latin typeface="Aptos"/>
              </a:rPr>
              <a:t>HIRELENS · STORY 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ory_02_Illustration" descr="image-5027a710d61b905274c35ab803aa19d9.jpg"/>
          <p:cNvPicPr>
            <a:picLocks noChangeAspect="1"/>
          </p:cNvPicPr>
          <p:nvPr/>
        </p:nvPicPr>
        <p:blipFill>
          <a:blip r:embed="rId2"/>
          <a:srcRect l="18702" r="18702"/>
          <a:stretch>
            <a:fillRect/>
          </a:stretch>
        </p:blipFill>
        <p:spPr>
          <a:xfrm>
            <a:off x="384048" y="384048"/>
            <a:ext cx="5623560" cy="598932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217920" y="594360"/>
            <a:ext cx="228600" cy="228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5806440"/>
            <a:ext cx="475488" cy="47548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_4"/>
          <p:cNvSpPr txBox="1"/>
          <p:nvPr/>
        </p:nvSpPr>
        <p:spPr>
          <a:xfrm>
            <a:off x="6526032" y="610263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6B6B"/>
                </a:solidFill>
                <a:latin typeface="Aptos"/>
              </a:rPr>
              <a:t>THE CHALLENGE · 02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6446520" y="123444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7233B"/>
                </a:solidFill>
                <a:latin typeface="Aptos Display"/>
              </a:rPr>
              <a:t>The questions
must go deep.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446520" y="2761488"/>
            <a:ext cx="4892040" cy="138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>
                <a:solidFill>
                  <a:srgbClr val="5D6473"/>
                </a:solidFill>
                <a:latin typeface="Aptos"/>
              </a:rPr>
              <a:t>Generic questions miss the signal. </a:t>
            </a:r>
            <a:endParaRPr lang="en-US" sz="2100" b="0" dirty="0">
              <a:solidFill>
                <a:srgbClr val="5D6473"/>
              </a:solidFill>
              <a:latin typeface="Aptos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0" dirty="0">
                <a:solidFill>
                  <a:srgbClr val="5D6473"/>
                </a:solidFill>
                <a:latin typeface="Aptos"/>
              </a:rPr>
              <a:t>Rajat</a:t>
            </a:r>
            <a:r>
              <a:rPr sz="2100" b="0" dirty="0">
                <a:solidFill>
                  <a:srgbClr val="5D6473"/>
                </a:solidFill>
                <a:latin typeface="Aptos"/>
              </a:rPr>
              <a:t> must probe architecture, trade-offs and hands-on depth — then judge the response in real time.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6446520" y="44622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5CFC"/>
                </a:solidFill>
                <a:latin typeface="Aptos"/>
              </a:rPr>
              <a:t>PROBE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4581144"/>
            <a:ext cx="384048" cy="381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_9"/>
          <p:cNvSpPr txBox="1"/>
          <p:nvPr/>
        </p:nvSpPr>
        <p:spPr>
          <a:xfrm>
            <a:off x="8211312" y="4443984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33B"/>
                </a:solidFill>
                <a:latin typeface="Aptos"/>
              </a:rPr>
              <a:t>technical depth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6446520" y="4983480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6C7B4"/>
                </a:solidFill>
                <a:latin typeface="Aptos"/>
              </a:rPr>
              <a:t>INTERPRET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5102352"/>
            <a:ext cx="384048" cy="38100"/>
          </a:xfrm>
          <a:prstGeom prst="rect">
            <a:avLst/>
          </a:prstGeom>
          <a:solidFill>
            <a:srgbClr val="46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_12"/>
          <p:cNvSpPr txBox="1"/>
          <p:nvPr/>
        </p:nvSpPr>
        <p:spPr>
          <a:xfrm>
            <a:off x="8211312" y="4965192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33B"/>
                </a:solidFill>
                <a:latin typeface="Aptos"/>
              </a:rPr>
              <a:t>the answer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6446520" y="5504688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Aptos"/>
              </a:rPr>
              <a:t>CALIBRATE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5623559"/>
            <a:ext cx="384048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_15"/>
          <p:cNvSpPr txBox="1"/>
          <p:nvPr/>
        </p:nvSpPr>
        <p:spPr>
          <a:xfrm>
            <a:off x="8211312" y="548640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33B"/>
                </a:solidFill>
                <a:latin typeface="Aptos"/>
              </a:rPr>
              <a:t>the evidence</a:t>
            </a:r>
          </a:p>
        </p:txBody>
      </p:sp>
      <p:sp>
        <p:nvSpPr>
          <p:cNvPr id="17" name="Text_16"/>
          <p:cNvSpPr txBox="1"/>
          <p:nvPr/>
        </p:nvSpPr>
        <p:spPr>
          <a:xfrm>
            <a:off x="658368" y="6528816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66F67"/>
                </a:solidFill>
                <a:latin typeface="Aptos"/>
              </a:rPr>
              <a:t>AGENTIC AI DEVELOPER COURSE · CAPSTONE</a:t>
            </a:r>
          </a:p>
        </p:txBody>
      </p:sp>
      <p:sp>
        <p:nvSpPr>
          <p:cNvPr id="18" name="Text_17"/>
          <p:cNvSpPr txBox="1"/>
          <p:nvPr/>
        </p:nvSpPr>
        <p:spPr>
          <a:xfrm>
            <a:off x="9921240" y="6528816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66F67"/>
                </a:solidFill>
                <a:latin typeface="Aptos"/>
              </a:rPr>
              <a:t>HIRELENS · STORY 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457200" y="-457200"/>
            <a:ext cx="1920240" cy="192024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38928" y="713232"/>
            <a:ext cx="256032" cy="25603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5724144"/>
            <a:ext cx="658368" cy="65836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_4"/>
          <p:cNvSpPr txBox="1"/>
          <p:nvPr/>
        </p:nvSpPr>
        <p:spPr>
          <a:xfrm>
            <a:off x="658368" y="6217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6C7B4"/>
                </a:solidFill>
                <a:latin typeface="Aptos"/>
              </a:rPr>
              <a:t>THE TURN · 03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658368" y="1188720"/>
            <a:ext cx="4800600" cy="1257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00" b="1">
                <a:solidFill>
                  <a:srgbClr val="FFFFFF"/>
                </a:solidFill>
                <a:latin typeface="Aptos Display"/>
              </a:rPr>
              <a:t>Rajat </a:t>
            </a:r>
            <a:r>
              <a:rPr sz="4300" b="1">
                <a:solidFill>
                  <a:srgbClr val="FFFFFF"/>
                </a:solidFill>
                <a:latin typeface="Aptos Display"/>
              </a:rPr>
              <a:t>turns </a:t>
            </a:r>
            <a:r>
              <a:rPr sz="4300" b="1" dirty="0">
                <a:solidFill>
                  <a:srgbClr val="FFFFFF"/>
                </a:solidFill>
                <a:latin typeface="Aptos Display"/>
              </a:rPr>
              <a:t>to </a:t>
            </a:r>
            <a:r>
              <a:rPr sz="4300" b="1" dirty="0" err="1">
                <a:solidFill>
                  <a:srgbClr val="FFFFFF"/>
                </a:solidFill>
                <a:latin typeface="Aptos Display"/>
              </a:rPr>
              <a:t>HireLens</a:t>
            </a:r>
            <a:r>
              <a:rPr sz="4300" b="1" dirty="0">
                <a:solidFill>
                  <a:srgbClr val="FFFFFF"/>
                </a:solidFill>
                <a:latin typeface="Aptos Display"/>
              </a:rPr>
              <a:t>.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58368" y="2852928"/>
            <a:ext cx="455371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9D2E6"/>
                </a:solidFill>
                <a:latin typeface="Aptos"/>
              </a:rPr>
              <a:t>Upload the JD and resume. Receive targeted questions, answer signals and an evidence-based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315968"/>
            <a:ext cx="960120" cy="635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_8"/>
          <p:cNvSpPr txBox="1"/>
          <p:nvPr/>
        </p:nvSpPr>
        <p:spPr>
          <a:xfrm>
            <a:off x="658368" y="4590288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D166"/>
                </a:solidFill>
                <a:latin typeface="Aptos Display"/>
              </a:rPr>
              <a:t>From improvisation to structured decision support.</a:t>
            </a:r>
          </a:p>
        </p:txBody>
      </p:sp>
      <p:pic>
        <p:nvPicPr>
          <p:cNvPr id="10" name="Story_03_Illustration" descr="image-08ba3537b18ec9602755f5ad00ef4489.jpg"/>
          <p:cNvPicPr>
            <a:picLocks noChangeAspect="1"/>
          </p:cNvPicPr>
          <p:nvPr/>
        </p:nvPicPr>
        <p:blipFill>
          <a:blip r:embed="rId2"/>
          <a:srcRect l="16821" r="16821"/>
          <a:stretch>
            <a:fillRect/>
          </a:stretch>
        </p:blipFill>
        <p:spPr>
          <a:xfrm>
            <a:off x="5650992" y="411480"/>
            <a:ext cx="5897880" cy="5925312"/>
          </a:xfrm>
          <a:prstGeom prst="rect">
            <a:avLst/>
          </a:prstGeom>
        </p:spPr>
      </p:pic>
      <p:sp>
        <p:nvSpPr>
          <p:cNvPr id="11" name="Text_10"/>
          <p:cNvSpPr txBox="1"/>
          <p:nvPr/>
        </p:nvSpPr>
        <p:spPr>
          <a:xfrm>
            <a:off x="658368" y="6528816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FC8BF"/>
                </a:solidFill>
                <a:latin typeface="Aptos"/>
              </a:rPr>
              <a:t>AGENTIC AI DEVELOPER COURSE · CAPSTONE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9921240" y="6528816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FC8BF"/>
                </a:solidFill>
                <a:latin typeface="Aptos"/>
              </a:rPr>
              <a:t>HIRELENS · STORY 3/3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0199CF6-210C-4212-B0D7-A10DFCAD8482}"/>
              </a:ext>
            </a:extLst>
          </p:cNvPr>
          <p:cNvSpPr>
            <a:spLocks noGrp="1"/>
          </p:cNvSpPr>
          <p:nvPr/>
        </p:nvSpPr>
        <p:spPr>
          <a:xfrm>
            <a:off x="-762000" y="-952500"/>
            <a:ext cx="2952750" cy="2381250"/>
          </a:xfrm>
          <a:prstGeom prst="ellipse">
            <a:avLst/>
          </a:prstGeom>
          <a:solidFill>
            <a:srgbClr val="E9E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D88140F-A915-496D-B897-1D034CF64A71}"/>
              </a:ext>
            </a:extLst>
          </p:cNvPr>
          <p:cNvSpPr>
            <a:spLocks noGrp="1"/>
          </p:cNvSpPr>
          <p:nvPr/>
        </p:nvSpPr>
        <p:spPr>
          <a:xfrm>
            <a:off x="10191750" y="5334000"/>
            <a:ext cx="2381250" cy="2000250"/>
          </a:xfrm>
          <a:prstGeom prst="ellipse">
            <a:avLst/>
          </a:prstGeom>
          <a:solidFill>
            <a:srgbClr val="DDF6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4F1788-B5F9-45DB-A18D-860BB18DB73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HIRELENS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5695F-BBEC-431F-AF02-E78C3CE585B3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5238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60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60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HireLens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4C0886-CD48-4A42-8394-31B611CF24D2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5048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15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Intelligence for Better</a:t>
            </a:r>
          </a:p>
          <a:p>
            <a:pPr algn="l">
              <a:lnSpc>
                <a:spcPct val="90000"/>
              </a:lnSpc>
              <a:buNone/>
              <a:defRPr sz="315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Hiring Decisions.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F7981AA-F6D5-4F2D-A58B-9AC36C22C7FE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000125" cy="0"/>
          </a:xfrm>
          <a:prstGeom prst="line">
            <a:avLst/>
          </a:prstGeom>
          <a:noFill/>
          <a:ln w="571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CE1080-DE03-48E8-81CA-FA64FBAA2B1C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An agentic evaluator and decision-support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16962" r="16962"/>
          <a:stretch>
            <a:fillRect/>
          </a:stretch>
        </p:blipFill>
        <p:spPr>
          <a:xfrm>
            <a:off x="6191250" y="457200"/>
            <a:ext cx="5334000" cy="538162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B8B3982-D369-4D0C-962B-DA9C53E75C61}"/>
              </a:ext>
            </a:extLst>
          </p:cNvPr>
          <p:cNvSpPr>
            <a:spLocks noGrp="1"/>
          </p:cNvSpPr>
          <p:nvPr/>
        </p:nvSpPr>
        <p:spPr>
          <a:xfrm>
            <a:off x="5781675" y="952500"/>
            <a:ext cx="266700" cy="26670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72E7BD-A897-4F1B-AA25-270568803610}"/>
              </a:ext>
            </a:extLst>
          </p:cNvPr>
          <p:cNvSpPr>
            <a:spLocks noGrp="1"/>
          </p:cNvSpPr>
          <p:nvPr/>
        </p:nvSpPr>
        <p:spPr>
          <a:xfrm>
            <a:off x="10934700" y="5791200"/>
            <a:ext cx="419100" cy="41910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559B3-41D9-4833-B645-ABAB1376D98B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Rajat Srivastava ·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62727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8BD956B-FFB8-45D7-A031-3D11090865D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F9FDB-833E-4370-A5F1-E9D350953E9F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47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70"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Hiring decisions have an evidence problem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BB046A0-AF5E-440D-818A-BB571D6E6C64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190500" cy="19050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103FD-6D8F-40B4-8C2D-96920BA3530F}"/>
              </a:ext>
            </a:extLst>
          </p:cNvPr>
          <p:cNvSpPr>
            <a:spLocks noGrp="1"/>
          </p:cNvSpPr>
          <p:nvPr/>
        </p:nvSpPr>
        <p:spPr>
          <a:xfrm>
            <a:off x="10858500" y="457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07D7E2-DD21-44E9-AB59-649B13BEEF46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13"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The interviewer must convert disconnected documents and a live conversation into one defensible decision.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F11BB4-5F04-4C7D-B7AC-7794C5F85FE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D79C861-790D-4707-9F9B-4D17F542B9AA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238375" cy="0"/>
          </a:xfrm>
          <a:prstGeom prst="line">
            <a:avLst/>
          </a:prstGeom>
          <a:noFill/>
          <a:ln w="47625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1A5F0-D1B9-4231-8511-F98A3C1BBCAB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JD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6C0C82-5B86-467C-955B-E046D1B60E3C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238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What success requires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DBE4D2-373E-4736-A167-0889E6FCA251}"/>
              </a:ext>
            </a:extLst>
          </p:cNvPr>
          <p:cNvSpPr>
            <a:spLocks noGrp="1"/>
          </p:cNvSpPr>
          <p:nvPr/>
        </p:nvSpPr>
        <p:spPr>
          <a:xfrm>
            <a:off x="3486150" y="28575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46C7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6C7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DF68817-4A1C-4E05-BEB0-92A3B232484C}"/>
              </a:ext>
            </a:extLst>
          </p:cNvPr>
          <p:cNvSpPr>
            <a:spLocks noGrp="1"/>
          </p:cNvSpPr>
          <p:nvPr/>
        </p:nvSpPr>
        <p:spPr>
          <a:xfrm>
            <a:off x="3486150" y="3181350"/>
            <a:ext cx="2238375" cy="0"/>
          </a:xfrm>
          <a:prstGeom prst="line">
            <a:avLst/>
          </a:prstGeom>
          <a:noFill/>
          <a:ln w="47625">
            <a:solidFill>
              <a:srgbClr val="46C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8B1648-C0D7-4627-B1AD-1701A3734E22}"/>
              </a:ext>
            </a:extLst>
          </p:cNvPr>
          <p:cNvSpPr>
            <a:spLocks noGrp="1"/>
          </p:cNvSpPr>
          <p:nvPr/>
        </p:nvSpPr>
        <p:spPr>
          <a:xfrm>
            <a:off x="3486150" y="337185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Resume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8519-2CCF-4341-B112-93C948751688}"/>
              </a:ext>
            </a:extLst>
          </p:cNvPr>
          <p:cNvSpPr>
            <a:spLocks noGrp="1"/>
          </p:cNvSpPr>
          <p:nvPr/>
        </p:nvSpPr>
        <p:spPr>
          <a:xfrm>
            <a:off x="3486150" y="3905250"/>
            <a:ext cx="2238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What the candidate claims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B63F9D-DE43-446B-82BC-864652E59812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B31C568-B5CE-4C27-9A34-7CEB8342C4C0}"/>
              </a:ext>
            </a:extLst>
          </p:cNvPr>
          <p:cNvSpPr>
            <a:spLocks noGrp="1"/>
          </p:cNvSpPr>
          <p:nvPr/>
        </p:nvSpPr>
        <p:spPr>
          <a:xfrm>
            <a:off x="6286500" y="3181350"/>
            <a:ext cx="2238375" cy="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8FF74-38AA-46DD-8E66-3DF00A710EEE}"/>
              </a:ext>
            </a:extLst>
          </p:cNvPr>
          <p:cNvSpPr>
            <a:spLocks noGrp="1"/>
          </p:cNvSpPr>
          <p:nvPr/>
        </p:nvSpPr>
        <p:spPr>
          <a:xfrm>
            <a:off x="6286500" y="337185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Interview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EB121C-69A5-4D56-9A8F-4052D3952DDC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238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What the candidate demonstrates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2A2C50-F05C-4F2E-B023-527F96151B8E}"/>
              </a:ext>
            </a:extLst>
          </p:cNvPr>
          <p:cNvSpPr>
            <a:spLocks noGrp="1"/>
          </p:cNvSpPr>
          <p:nvPr/>
        </p:nvSpPr>
        <p:spPr>
          <a:xfrm>
            <a:off x="9086850" y="28575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470427C9-74FA-440D-AEC6-B05D812472A5}"/>
              </a:ext>
            </a:extLst>
          </p:cNvPr>
          <p:cNvSpPr>
            <a:spLocks noGrp="1"/>
          </p:cNvSpPr>
          <p:nvPr/>
        </p:nvSpPr>
        <p:spPr>
          <a:xfrm>
            <a:off x="9086850" y="3181350"/>
            <a:ext cx="2238375" cy="0"/>
          </a:xfrm>
          <a:prstGeom prst="line">
            <a:avLst/>
          </a:prstGeom>
          <a:noFill/>
          <a:ln w="476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4E362B-797F-42B0-A21F-50319967E71E}"/>
              </a:ext>
            </a:extLst>
          </p:cNvPr>
          <p:cNvSpPr>
            <a:spLocks noGrp="1"/>
          </p:cNvSpPr>
          <p:nvPr/>
        </p:nvSpPr>
        <p:spPr>
          <a:xfrm>
            <a:off x="9086850" y="337185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Decision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8F0CC9-9E3B-43AC-B9AA-B9B45C94EE04}"/>
              </a:ext>
            </a:extLst>
          </p:cNvPr>
          <p:cNvSpPr>
            <a:spLocks noGrp="1"/>
          </p:cNvSpPr>
          <p:nvPr/>
        </p:nvSpPr>
        <p:spPr>
          <a:xfrm>
            <a:off x="9086850" y="3905250"/>
            <a:ext cx="2238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What the evidence supports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D18082-51C0-4DA7-A184-77ED109D96AB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048" lnSpcReduction="10000"/>
          </a:bodyPr>
          <a:lstStyle/>
          <a:p>
            <a:pPr algn="l">
              <a:lnSpc>
                <a:spcPct val="98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Without a consistent method, relevance, depth and gaps are judged differently every time.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46C61173-9A75-4F57-A54E-8728DDFA2FFC}"/>
              </a:ext>
            </a:extLst>
          </p:cNvPr>
          <p:cNvSpPr>
            <a:spLocks noGrp="1"/>
          </p:cNvSpPr>
          <p:nvPr/>
        </p:nvSpPr>
        <p:spPr>
          <a:xfrm rot="900000">
            <a:off x="10334625" y="5181600"/>
            <a:ext cx="666750" cy="428625"/>
          </a:xfrm>
          <a:prstGeom prst="arc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A66B76-554C-418F-B2D0-E4BBF7E71D32}"/>
              </a:ext>
            </a:extLst>
          </p:cNvPr>
          <p:cNvSpPr>
            <a:spLocks noGrp="1"/>
          </p:cNvSpPr>
          <p:nvPr/>
        </p:nvSpPr>
        <p:spPr>
          <a:xfrm>
            <a:off x="10858500" y="5486400"/>
            <a:ext cx="95250" cy="952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21A116-2842-45A1-AC50-F257F4FB836B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C298C7-0327-4D8B-B461-C2228DC3FC86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HIRELENS  ·  02</a:t>
            </a:r>
          </a:p>
        </p:txBody>
      </p:sp>
    </p:spTree>
    <p:extLst>
      <p:ext uri="{BB962C8B-B14F-4D97-AF65-F5344CB8AC3E}">
        <p14:creationId xmlns:p14="http://schemas.microsoft.com/office/powerpoint/2010/main" val="676557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36E162-66F3-4985-AB65-5E70BCAC175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6D0E03-2A50-4075-B2BC-88B249AF0D43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HireLens builds intelligence —</a:t>
            </a:r>
          </a:p>
          <a:p>
            <a:pPr algn="l">
              <a:lnSpc>
                <a:spcPct val="90000"/>
              </a:lnSpc>
              <a:buNone/>
              <a:def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not just workflow automation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A559919-FA7D-4C0A-A44B-2F6A9E2D39E9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0810875" cy="0"/>
          </a:xfrm>
          <a:prstGeom prst="line">
            <a:avLst/>
          </a:prstGeom>
          <a:noFill/>
          <a:ln w="19050">
            <a:solidFill>
              <a:srgbClr val="5E5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D0D519-6E22-4319-9B35-D0096579F73C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90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FE1D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E1DE"/>
                </a:solidFill>
                <a:latin typeface="Aptos Display"/>
                <a:ea typeface="Aptos Display"/>
                <a:cs typeface="Aptos Display"/>
              </a:rPr>
              <a:t>A conventional ATS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B40912-2AAF-4F1E-9E67-92A949486D70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0957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2000"/>
              </a:lnSpc>
              <a:buNone/>
              <a:defRPr sz="1800" b="0">
                <a:solidFill>
                  <a:srgbClr val="D9D2E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D2E6"/>
                </a:solidFill>
                <a:latin typeface="Aptos"/>
                <a:ea typeface="Aptos"/>
                <a:cs typeface="Aptos"/>
              </a:rPr>
              <a:t>Stores applications</a:t>
            </a:r>
          </a:p>
          <a:p>
            <a:pPr algn="l">
              <a:lnSpc>
                <a:spcPct val="132000"/>
              </a:lnSpc>
              <a:buNone/>
              <a:defRPr sz="1800" b="0">
                <a:solidFill>
                  <a:srgbClr val="D9D2E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D2E6"/>
                </a:solidFill>
                <a:latin typeface="Aptos"/>
                <a:ea typeface="Aptos"/>
                <a:cs typeface="Aptos"/>
              </a:rPr>
              <a:t>Tracks stages</a:t>
            </a:r>
          </a:p>
          <a:p>
            <a:pPr algn="l">
              <a:lnSpc>
                <a:spcPct val="132000"/>
              </a:lnSpc>
              <a:buNone/>
              <a:defRPr sz="1800" b="0">
                <a:solidFill>
                  <a:srgbClr val="D9D2E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D2E6"/>
                </a:solidFill>
                <a:latin typeface="Aptos"/>
                <a:ea typeface="Aptos"/>
                <a:cs typeface="Aptos"/>
              </a:rPr>
              <a:t>Filters on fields and keywords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D076C-E40F-4F85-A148-6AF225BADA4A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390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46C7B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46C7B4"/>
                </a:solidFill>
                <a:latin typeface="Aptos Display"/>
                <a:ea typeface="Aptos Display"/>
                <a:cs typeface="Aptos Display"/>
              </a:rPr>
              <a:t>HIRELENS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F63EE-8975-49A5-AF44-FB4B6063D7EB}"/>
              </a:ext>
            </a:extLst>
          </p:cNvPr>
          <p:cNvSpPr>
            <a:spLocks noGrp="1"/>
          </p:cNvSpPr>
          <p:nvPr/>
        </p:nvSpPr>
        <p:spPr>
          <a:xfrm>
            <a:off x="6191250" y="335280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Reasons across JD, resume and transcript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Generates gap-aware questions and answer signals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Builds an explainable evidence trail for a human decision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5384C1-BBC8-4E06-8723-791EF2A8D7DA}"/>
              </a:ext>
            </a:extLst>
          </p:cNvPr>
          <p:cNvSpPr>
            <a:spLocks noGrp="1"/>
          </p:cNvSpPr>
          <p:nvPr/>
        </p:nvSpPr>
        <p:spPr>
          <a:xfrm>
            <a:off x="5143500" y="3105150"/>
            <a:ext cx="495300" cy="49530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16F263-0074-4D51-8652-0CDADAEB5D83}"/>
              </a:ext>
            </a:extLst>
          </p:cNvPr>
          <p:cNvSpPr>
            <a:spLocks noGrp="1"/>
          </p:cNvSpPr>
          <p:nvPr/>
        </p:nvSpPr>
        <p:spPr>
          <a:xfrm>
            <a:off x="5143500" y="3133725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2EF0F-563F-4B76-9359-E41DE0FCD92B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Positioning: agentic evaluator and decision-support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9AF81C-34ED-43C3-A5F1-5A0F2AB96FF4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D2C9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C673A-92B0-4653-80A4-E6984B92AE87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D2C9"/>
                </a:solidFill>
                <a:latin typeface="Aptos"/>
                <a:ea typeface="Aptos"/>
                <a:cs typeface="Aptos"/>
              </a:rPr>
              <a:t>HIRELENS  ·  03</a:t>
            </a:r>
          </a:p>
        </p:txBody>
      </p:sp>
    </p:spTree>
    <p:extLst>
      <p:ext uri="{BB962C8B-B14F-4D97-AF65-F5344CB8AC3E}">
        <p14:creationId xmlns:p14="http://schemas.microsoft.com/office/powerpoint/2010/main" val="417694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AE06B0E-A18D-4FE6-9245-262F32E33EE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C483C6-F6B8-47B9-9B26-57F3370254C2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47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80"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One continuous journey from role to decision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BE792D-27A8-46E5-BBC2-AB0E4D325C2A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190500" cy="19050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1DA0B-0E58-42CD-95C8-FB3450387CF7}"/>
              </a:ext>
            </a:extLst>
          </p:cNvPr>
          <p:cNvSpPr>
            <a:spLocks noGrp="1"/>
          </p:cNvSpPr>
          <p:nvPr/>
        </p:nvSpPr>
        <p:spPr>
          <a:xfrm>
            <a:off x="10858500" y="457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2E91A7-4511-4613-ADBC-EA1CBE667FA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80"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Each step creates evidence for the next — and preserves why the final choice was made.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083BE1-35BF-4DBF-A38F-7B0C0FC9F30C}"/>
              </a:ext>
            </a:extLst>
          </p:cNvPr>
          <p:cNvSpPr>
            <a:spLocks noGrp="1"/>
          </p:cNvSpPr>
          <p:nvPr/>
        </p:nvSpPr>
        <p:spPr>
          <a:xfrm>
            <a:off x="723900" y="2714625"/>
            <a:ext cx="781050" cy="78105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B7A3F5-7019-4ECD-81AD-A77C54085386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781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FF343-9C77-43FF-A1AD-53676BD9F343}"/>
              </a:ext>
            </a:extLst>
          </p:cNvPr>
          <p:cNvSpPr>
            <a:spLocks noGrp="1"/>
          </p:cNvSpPr>
          <p:nvPr/>
        </p:nvSpPr>
        <p:spPr>
          <a:xfrm>
            <a:off x="514350" y="376237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06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JD + resumes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72ADB0-4F13-47D2-9004-12DC884F03BA}"/>
              </a:ext>
            </a:extLst>
          </p:cNvPr>
          <p:cNvSpPr>
            <a:spLocks noGrp="1"/>
          </p:cNvSpPr>
          <p:nvPr/>
        </p:nvSpPr>
        <p:spPr>
          <a:xfrm>
            <a:off x="266700" y="4305300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11"/>
          </a:bodyPr>
          <a:lstStyle/>
          <a:p>
            <a:pPr algn="ctr">
              <a:lnSpc>
                <a:spcPct val="112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Parse requirements and candidate evidence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A27636-DE3A-4C9E-A06D-64D1A2797299}"/>
              </a:ext>
            </a:extLst>
          </p:cNvPr>
          <p:cNvSpPr>
            <a:spLocks noGrp="1"/>
          </p:cNvSpPr>
          <p:nvPr/>
        </p:nvSpPr>
        <p:spPr>
          <a:xfrm>
            <a:off x="2962275" y="2714625"/>
            <a:ext cx="781050" cy="781050"/>
          </a:xfrm>
          <a:prstGeom prst="ellipse">
            <a:avLst/>
          </a:prstGeom>
          <a:solidFill>
            <a:srgbClr val="46C7B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3CB608-B903-4EA9-A148-1330E33C131C}"/>
              </a:ext>
            </a:extLst>
          </p:cNvPr>
          <p:cNvSpPr>
            <a:spLocks noGrp="1"/>
          </p:cNvSpPr>
          <p:nvPr/>
        </p:nvSpPr>
        <p:spPr>
          <a:xfrm>
            <a:off x="2962275" y="2819400"/>
            <a:ext cx="781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639E9B-8432-4A36-9274-DAA357B7DB76}"/>
              </a:ext>
            </a:extLst>
          </p:cNvPr>
          <p:cNvSpPr>
            <a:spLocks noGrp="1"/>
          </p:cNvSpPr>
          <p:nvPr/>
        </p:nvSpPr>
        <p:spPr>
          <a:xfrm>
            <a:off x="2752725" y="376237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Fit + gaps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0FB628-434E-41B7-9073-6AEC7BDEF095}"/>
              </a:ext>
            </a:extLst>
          </p:cNvPr>
          <p:cNvSpPr>
            <a:spLocks noGrp="1"/>
          </p:cNvSpPr>
          <p:nvPr/>
        </p:nvSpPr>
        <p:spPr>
          <a:xfrm>
            <a:off x="2505075" y="4305300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Score alignment and expose uncertainty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97FCA0-14A4-4270-BBC0-F28BAF004136}"/>
              </a:ext>
            </a:extLst>
          </p:cNvPr>
          <p:cNvSpPr>
            <a:spLocks noGrp="1"/>
          </p:cNvSpPr>
          <p:nvPr/>
        </p:nvSpPr>
        <p:spPr>
          <a:xfrm>
            <a:off x="5200650" y="2714625"/>
            <a:ext cx="781050" cy="7810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CB96A1-700B-42EF-9EAB-12A22E7507CF}"/>
              </a:ext>
            </a:extLst>
          </p:cNvPr>
          <p:cNvSpPr>
            <a:spLocks noGrp="1"/>
          </p:cNvSpPr>
          <p:nvPr/>
        </p:nvSpPr>
        <p:spPr>
          <a:xfrm>
            <a:off x="5200650" y="2819400"/>
            <a:ext cx="781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EE9EF3-151A-4842-A3A2-7834BFE4FD5B}"/>
              </a:ext>
            </a:extLst>
          </p:cNvPr>
          <p:cNvSpPr>
            <a:spLocks noGrp="1"/>
          </p:cNvSpPr>
          <p:nvPr/>
        </p:nvSpPr>
        <p:spPr>
          <a:xfrm>
            <a:off x="4991100" y="376237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94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Question plan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576454-3E6C-4DEC-8F74-180101E85F08}"/>
              </a:ext>
            </a:extLst>
          </p:cNvPr>
          <p:cNvSpPr>
            <a:spLocks noGrp="1"/>
          </p:cNvSpPr>
          <p:nvPr/>
        </p:nvSpPr>
        <p:spPr>
          <a:xfrm>
            <a:off x="4743450" y="4305300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Match checks, gap probes and answer signals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472134-1A0E-4E13-BF26-0F0603122603}"/>
              </a:ext>
            </a:extLst>
          </p:cNvPr>
          <p:cNvSpPr>
            <a:spLocks noGrp="1"/>
          </p:cNvSpPr>
          <p:nvPr/>
        </p:nvSpPr>
        <p:spPr>
          <a:xfrm>
            <a:off x="7439025" y="2714625"/>
            <a:ext cx="781050" cy="78105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19A9E2-99EC-44B3-9E6A-EB2A6514CBC0}"/>
              </a:ext>
            </a:extLst>
          </p:cNvPr>
          <p:cNvSpPr>
            <a:spLocks noGrp="1"/>
          </p:cNvSpPr>
          <p:nvPr/>
        </p:nvSpPr>
        <p:spPr>
          <a:xfrm>
            <a:off x="7439025" y="2819400"/>
            <a:ext cx="781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A50D12-2133-46FE-9776-71EF72538DC4}"/>
              </a:ext>
            </a:extLst>
          </p:cNvPr>
          <p:cNvSpPr>
            <a:spLocks noGrp="1"/>
          </p:cNvSpPr>
          <p:nvPr/>
        </p:nvSpPr>
        <p:spPr>
          <a:xfrm>
            <a:off x="7229475" y="376237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Interview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C271D0-66D4-4173-8756-EDA20D3F7895}"/>
              </a:ext>
            </a:extLst>
          </p:cNvPr>
          <p:cNvSpPr>
            <a:spLocks noGrp="1"/>
          </p:cNvSpPr>
          <p:nvPr/>
        </p:nvSpPr>
        <p:spPr>
          <a:xfrm>
            <a:off x="6981825" y="4305300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Upload transcript and evaluate responses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B69550-5AB4-469F-86E4-846DED3FB980}"/>
              </a:ext>
            </a:extLst>
          </p:cNvPr>
          <p:cNvSpPr>
            <a:spLocks noGrp="1"/>
          </p:cNvSpPr>
          <p:nvPr/>
        </p:nvSpPr>
        <p:spPr>
          <a:xfrm>
            <a:off x="9677400" y="2714625"/>
            <a:ext cx="781050" cy="78105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1DC7F6-2647-414A-A276-9D7A0155149D}"/>
              </a:ext>
            </a:extLst>
          </p:cNvPr>
          <p:cNvSpPr>
            <a:spLocks noGrp="1"/>
          </p:cNvSpPr>
          <p:nvPr/>
        </p:nvSpPr>
        <p:spPr>
          <a:xfrm>
            <a:off x="9677400" y="2819400"/>
            <a:ext cx="781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E92024-ADF5-475C-95E6-06F0151038FF}"/>
              </a:ext>
            </a:extLst>
          </p:cNvPr>
          <p:cNvSpPr>
            <a:spLocks noGrp="1"/>
          </p:cNvSpPr>
          <p:nvPr/>
        </p:nvSpPr>
        <p:spPr>
          <a:xfrm>
            <a:off x="9467850" y="376237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89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Decision + RAG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E1A4C1-21B2-46BC-B458-D85EE75AF039}"/>
              </a:ext>
            </a:extLst>
          </p:cNvPr>
          <p:cNvSpPr>
            <a:spLocks noGrp="1"/>
          </p:cNvSpPr>
          <p:nvPr/>
        </p:nvSpPr>
        <p:spPr>
          <a:xfrm>
            <a:off x="9220200" y="4305300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Capture rationale and learn from feedback</a:t>
            </a:r>
          </a:p>
        </p:txBody>
      </p:sp>
      <p:cxnSp>
        <p:nvCxnSpPr>
          <p:cNvPr id="26" name="Straight Arrow Connector 25"/>
          <p:cNvCxnSpPr>
            <a:stCxn id="6" idx="6"/>
            <a:endCxn id="10" idx="2"/>
          </p:cNvCxnSpPr>
          <p:nvPr/>
        </p:nvCxnSpPr>
        <p:spPr>
          <a:xfrm>
            <a:off x="1504950" y="3105150"/>
            <a:ext cx="1457325" cy="0"/>
          </a:xfrm>
          <a:prstGeom prst="straightConnector1">
            <a:avLst/>
          </a:prstGeom>
          <a:ln w="28575">
            <a:solidFill>
              <a:srgbClr val="17233B"/>
            </a:solidFill>
            <a:prstDash val="solid"/>
          </a:ln>
        </p:spPr>
      </p:cxnSp>
      <p:cxnSp>
        <p:nvCxnSpPr>
          <p:cNvPr id="27" name="Straight Arrow Connector 26"/>
          <p:cNvCxnSpPr>
            <a:stCxn id="10" idx="6"/>
            <a:endCxn id="14" idx="2"/>
          </p:cNvCxnSpPr>
          <p:nvPr/>
        </p:nvCxnSpPr>
        <p:spPr>
          <a:xfrm>
            <a:off x="3743325" y="3105150"/>
            <a:ext cx="1457325" cy="0"/>
          </a:xfrm>
          <a:prstGeom prst="straightConnector1">
            <a:avLst/>
          </a:prstGeom>
          <a:ln w="28575">
            <a:solidFill>
              <a:srgbClr val="17233B"/>
            </a:solidFill>
            <a:prstDash val="solid"/>
          </a:ln>
        </p:spPr>
      </p:cxnSp>
      <p:cxnSp>
        <p:nvCxnSpPr>
          <p:cNvPr id="28" name="Straight Arrow Connector 27"/>
          <p:cNvCxnSpPr>
            <a:stCxn id="14" idx="6"/>
            <a:endCxn id="18" idx="2"/>
          </p:cNvCxnSpPr>
          <p:nvPr/>
        </p:nvCxnSpPr>
        <p:spPr>
          <a:xfrm>
            <a:off x="5981700" y="3105150"/>
            <a:ext cx="1457325" cy="0"/>
          </a:xfrm>
          <a:prstGeom prst="straightConnector1">
            <a:avLst/>
          </a:prstGeom>
          <a:ln w="28575">
            <a:solidFill>
              <a:srgbClr val="17233B"/>
            </a:solidFill>
            <a:prstDash val="solid"/>
          </a:ln>
        </p:spPr>
      </p:cxnSp>
      <p:cxnSp>
        <p:nvCxnSpPr>
          <p:cNvPr id="29" name="Straight Arrow Connector 28"/>
          <p:cNvCxnSpPr>
            <a:stCxn id="18" idx="6"/>
            <a:endCxn id="22" idx="2"/>
          </p:cNvCxnSpPr>
          <p:nvPr/>
        </p:nvCxnSpPr>
        <p:spPr>
          <a:xfrm>
            <a:off x="8220075" y="3105150"/>
            <a:ext cx="1457325" cy="0"/>
          </a:xfrm>
          <a:prstGeom prst="straightConnector1">
            <a:avLst/>
          </a:prstGeom>
          <a:ln w="28575">
            <a:solidFill>
              <a:srgbClr val="17233B"/>
            </a:solidFill>
            <a:prstDash val="solid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413CB6A-2523-4B8A-AD45-7537F7804F87}"/>
              </a:ext>
            </a:extLst>
          </p:cNvPr>
          <p:cNvSpPr>
            <a:spLocks noGrp="1"/>
          </p:cNvSpPr>
          <p:nvPr/>
        </p:nvSpPr>
        <p:spPr>
          <a:xfrm>
            <a:off x="3333750" y="5676900"/>
            <a:ext cx="552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44"/>
          </a:bodyPr>
          <a:lstStyle/>
          <a:p>
            <a:pPr algn="ctr">
              <a:lnSpc>
                <a:spcPct val="100000"/>
              </a:lnSpc>
              <a:buNone/>
              <a:defRPr sz="1950" b="1">
                <a:solidFill>
                  <a:srgbClr val="7C5CF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C5CFC"/>
                </a:solidFill>
                <a:latin typeface="Aptos Display"/>
                <a:ea typeface="Aptos Display"/>
                <a:cs typeface="Aptos Display"/>
              </a:rPr>
              <a:t>The interviewer remains the decision owner.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D355FB-C831-48E1-B66B-9DB8903082D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CFD1BA-E88C-402A-91D3-5D281F2E1C65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HIRELENS  ·  04</a:t>
            </a:r>
          </a:p>
        </p:txBody>
      </p:sp>
    </p:spTree>
    <p:extLst>
      <p:ext uri="{BB962C8B-B14F-4D97-AF65-F5344CB8AC3E}">
        <p14:creationId xmlns:p14="http://schemas.microsoft.com/office/powerpoint/2010/main" val="1519660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E9D20FC-9E1E-41BD-9C25-DBB44FAF8CD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46C7B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6C7B4"/>
                </a:solidFill>
                <a:latin typeface="Aptos"/>
                <a:ea typeface="Aptos"/>
                <a:cs typeface="Aptos"/>
              </a:rPr>
              <a:t>AGENTIC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410952-9551-48C2-BF3D-AC755FA9849A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47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80"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A team of agents turns documents into evidence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258CB3-5D9D-4392-9E72-3BE8898DCA07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190500" cy="190500"/>
          </a:xfrm>
          <a:prstGeom prst="ellipse">
            <a:avLst/>
          </a:prstGeom>
          <a:solidFill>
            <a:srgbClr val="46C7B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99F5AA-43B7-4AE2-A5CC-4663882807D7}"/>
              </a:ext>
            </a:extLst>
          </p:cNvPr>
          <p:cNvSpPr>
            <a:spLocks noGrp="1"/>
          </p:cNvSpPr>
          <p:nvPr/>
        </p:nvSpPr>
        <p:spPr>
          <a:xfrm>
            <a:off x="10858500" y="457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B7182C-F2E4-4781-A6C8-FB4DBD9D278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LangGraph orchestrates specialized roles, state transitions and human checkpoints.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9B3168-A2B1-498E-B33C-96F281FBF09E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209550" cy="20955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B83B1-1B41-439E-82DB-87D36C3BA0C8}"/>
              </a:ext>
            </a:extLst>
          </p:cNvPr>
          <p:cNvSpPr>
            <a:spLocks noGrp="1"/>
          </p:cNvSpPr>
          <p:nvPr/>
        </p:nvSpPr>
        <p:spPr>
          <a:xfrm>
            <a:off x="1085850" y="2438400"/>
            <a:ext cx="481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D568F7-425A-4D78-A03F-EA88B5E0DC00}"/>
              </a:ext>
            </a:extLst>
          </p:cNvPr>
          <p:cNvSpPr>
            <a:spLocks noGrp="1"/>
          </p:cNvSpPr>
          <p:nvPr/>
        </p:nvSpPr>
        <p:spPr>
          <a:xfrm>
            <a:off x="1085850" y="2771775"/>
            <a:ext cx="481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88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Routes tasks · maintains state · invokes checkpoints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A94F1FC-3359-403D-A848-8FEFF38D997B}"/>
              </a:ext>
            </a:extLst>
          </p:cNvPr>
          <p:cNvSpPr>
            <a:spLocks noGrp="1"/>
          </p:cNvSpPr>
          <p:nvPr/>
        </p:nvSpPr>
        <p:spPr>
          <a:xfrm>
            <a:off x="1085850" y="3352800"/>
            <a:ext cx="4762500" cy="0"/>
          </a:xfrm>
          <a:prstGeom prst="line">
            <a:avLst/>
          </a:prstGeom>
          <a:noFill/>
          <a:ln w="9525">
            <a:solidFill>
              <a:srgbClr val="CF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0AB3952-FB54-46B8-8801-28CA79B65CAF}"/>
              </a:ext>
            </a:extLst>
          </p:cNvPr>
          <p:cNvSpPr>
            <a:spLocks noGrp="1"/>
          </p:cNvSpPr>
          <p:nvPr/>
        </p:nvSpPr>
        <p:spPr>
          <a:xfrm>
            <a:off x="6257925" y="2514600"/>
            <a:ext cx="209550" cy="209550"/>
          </a:xfrm>
          <a:prstGeom prst="ellipse">
            <a:avLst/>
          </a:prstGeom>
          <a:solidFill>
            <a:srgbClr val="46C7B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C3536A-03F6-4BF4-92F3-AB7261E9D07E}"/>
              </a:ext>
            </a:extLst>
          </p:cNvPr>
          <p:cNvSpPr>
            <a:spLocks noGrp="1"/>
          </p:cNvSpPr>
          <p:nvPr/>
        </p:nvSpPr>
        <p:spPr>
          <a:xfrm>
            <a:off x="6657975" y="2438400"/>
            <a:ext cx="481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FIT ANALYST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9038D2-0043-4D10-8C59-CCC30EC88ABE}"/>
              </a:ext>
            </a:extLst>
          </p:cNvPr>
          <p:cNvSpPr>
            <a:spLocks noGrp="1"/>
          </p:cNvSpPr>
          <p:nvPr/>
        </p:nvSpPr>
        <p:spPr>
          <a:xfrm>
            <a:off x="6657975" y="2771775"/>
            <a:ext cx="481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Maps resume evidence to JD requirements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7746013-986A-456C-B066-FB3091DC9D91}"/>
              </a:ext>
            </a:extLst>
          </p:cNvPr>
          <p:cNvSpPr>
            <a:spLocks noGrp="1"/>
          </p:cNvSpPr>
          <p:nvPr/>
        </p:nvSpPr>
        <p:spPr>
          <a:xfrm>
            <a:off x="6657975" y="3352800"/>
            <a:ext cx="4762500" cy="0"/>
          </a:xfrm>
          <a:prstGeom prst="line">
            <a:avLst/>
          </a:prstGeom>
          <a:noFill/>
          <a:ln w="9525">
            <a:solidFill>
              <a:srgbClr val="CF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BED5AC-8988-48B0-9D3F-488D85354C2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209550" cy="2095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D8964D-660F-4C57-8E74-A579D7757363}"/>
              </a:ext>
            </a:extLst>
          </p:cNvPr>
          <p:cNvSpPr>
            <a:spLocks noGrp="1"/>
          </p:cNvSpPr>
          <p:nvPr/>
        </p:nvSpPr>
        <p:spPr>
          <a:xfrm>
            <a:off x="1085850" y="3543300"/>
            <a:ext cx="481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GAP ANALYST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3FE5C9-3A9D-42A7-B75A-5B3C9739B117}"/>
              </a:ext>
            </a:extLst>
          </p:cNvPr>
          <p:cNvSpPr>
            <a:spLocks noGrp="1"/>
          </p:cNvSpPr>
          <p:nvPr/>
        </p:nvSpPr>
        <p:spPr>
          <a:xfrm>
            <a:off x="1085850" y="3876675"/>
            <a:ext cx="481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Finds missing, weak or ambiguous evidence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81DFB2D-7950-4C50-8F4C-D9D23B26A1E8}"/>
              </a:ext>
            </a:extLst>
          </p:cNvPr>
          <p:cNvSpPr>
            <a:spLocks noGrp="1"/>
          </p:cNvSpPr>
          <p:nvPr/>
        </p:nvSpPr>
        <p:spPr>
          <a:xfrm>
            <a:off x="1085850" y="4457700"/>
            <a:ext cx="4762500" cy="0"/>
          </a:xfrm>
          <a:prstGeom prst="line">
            <a:avLst/>
          </a:prstGeom>
          <a:noFill/>
          <a:ln w="9525">
            <a:solidFill>
              <a:srgbClr val="CF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B9FD93-3122-4D50-8026-200803948818}"/>
              </a:ext>
            </a:extLst>
          </p:cNvPr>
          <p:cNvSpPr>
            <a:spLocks noGrp="1"/>
          </p:cNvSpPr>
          <p:nvPr/>
        </p:nvSpPr>
        <p:spPr>
          <a:xfrm>
            <a:off x="6257925" y="3619500"/>
            <a:ext cx="209550" cy="20955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D8167B-2990-4897-9C73-20DCB05659BE}"/>
              </a:ext>
            </a:extLst>
          </p:cNvPr>
          <p:cNvSpPr>
            <a:spLocks noGrp="1"/>
          </p:cNvSpPr>
          <p:nvPr/>
        </p:nvSpPr>
        <p:spPr>
          <a:xfrm>
            <a:off x="6657975" y="3543300"/>
            <a:ext cx="481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QUESTION DESIGNER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7960D5-0C39-41BC-B43A-3D0697BA9153}"/>
              </a:ext>
            </a:extLst>
          </p:cNvPr>
          <p:cNvSpPr>
            <a:spLocks noGrp="1"/>
          </p:cNvSpPr>
          <p:nvPr/>
        </p:nvSpPr>
        <p:spPr>
          <a:xfrm>
            <a:off x="6657975" y="3876675"/>
            <a:ext cx="481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Creates validation probes and answer signals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26AE731-58DD-48BB-B415-512119BB5EA0}"/>
              </a:ext>
            </a:extLst>
          </p:cNvPr>
          <p:cNvSpPr>
            <a:spLocks noGrp="1"/>
          </p:cNvSpPr>
          <p:nvPr/>
        </p:nvSpPr>
        <p:spPr>
          <a:xfrm>
            <a:off x="6657975" y="4457700"/>
            <a:ext cx="4762500" cy="0"/>
          </a:xfrm>
          <a:prstGeom prst="line">
            <a:avLst/>
          </a:prstGeom>
          <a:noFill/>
          <a:ln w="9525">
            <a:solidFill>
              <a:srgbClr val="CF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DED018-2E7E-4A5A-A87D-038BDB724975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209550" cy="20955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8E2437-99CA-429B-9067-B2F771ED5706}"/>
              </a:ext>
            </a:extLst>
          </p:cNvPr>
          <p:cNvSpPr>
            <a:spLocks noGrp="1"/>
          </p:cNvSpPr>
          <p:nvPr/>
        </p:nvSpPr>
        <p:spPr>
          <a:xfrm>
            <a:off x="1085850" y="4648200"/>
            <a:ext cx="481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INTERVIEW EVALUATOR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EA731B-D3FD-4A9A-BA2B-525F4EDB40C7}"/>
              </a:ext>
            </a:extLst>
          </p:cNvPr>
          <p:cNvSpPr>
            <a:spLocks noGrp="1"/>
          </p:cNvSpPr>
          <p:nvPr/>
        </p:nvSpPr>
        <p:spPr>
          <a:xfrm>
            <a:off x="1085850" y="4981575"/>
            <a:ext cx="481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88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Scores transcript answers against evidence and rubric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AAEBF2-CE51-4352-A960-33D939E0BA45}"/>
              </a:ext>
            </a:extLst>
          </p:cNvPr>
          <p:cNvSpPr>
            <a:spLocks noGrp="1"/>
          </p:cNvSpPr>
          <p:nvPr/>
        </p:nvSpPr>
        <p:spPr>
          <a:xfrm>
            <a:off x="6257925" y="4724400"/>
            <a:ext cx="209550" cy="209550"/>
          </a:xfrm>
          <a:prstGeom prst="ellipse">
            <a:avLst/>
          </a:prstGeom>
          <a:solidFill>
            <a:srgbClr val="46C7B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F4469A-0EB3-465E-B604-B290C1A62292}"/>
              </a:ext>
            </a:extLst>
          </p:cNvPr>
          <p:cNvSpPr>
            <a:spLocks noGrp="1"/>
          </p:cNvSpPr>
          <p:nvPr/>
        </p:nvSpPr>
        <p:spPr>
          <a:xfrm>
            <a:off x="6657975" y="4648200"/>
            <a:ext cx="481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LEARNING AGENT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46AF2C-B3E0-4930-9D08-00E4E999F5FB}"/>
              </a:ext>
            </a:extLst>
          </p:cNvPr>
          <p:cNvSpPr>
            <a:spLocks noGrp="1"/>
          </p:cNvSpPr>
          <p:nvPr/>
        </p:nvSpPr>
        <p:spPr>
          <a:xfrm>
            <a:off x="6657975" y="4981575"/>
            <a:ext cx="481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88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Retrieves prior feedback to improve future strategy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718BAB-45A6-4F3F-98C5-B44C263D7237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Why agentic?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0B98B2-EDC2-45E0-BB88-6620D9A5B7E4}"/>
              </a:ext>
            </a:extLst>
          </p:cNvPr>
          <p:cNvSpPr>
            <a:spLocks noGrp="1"/>
          </p:cNvSpPr>
          <p:nvPr/>
        </p:nvSpPr>
        <p:spPr>
          <a:xfrm>
            <a:off x="2286000" y="5838825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The system plans, delegates, evaluates intermediate outputs, retrieves memory and asks for human judgment before a consequential decision.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DB2D1B-F6AC-4714-80DB-4AA7CECC282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879F94-063E-41FC-9890-FF38A2FA3E07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HIRELENS  ·  05</a:t>
            </a:r>
          </a:p>
        </p:txBody>
      </p:sp>
    </p:spTree>
    <p:extLst>
      <p:ext uri="{BB962C8B-B14F-4D97-AF65-F5344CB8AC3E}">
        <p14:creationId xmlns:p14="http://schemas.microsoft.com/office/powerpoint/2010/main" val="191818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E0732BB-4F9C-498C-AFAD-EA8AEBA9720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F1DA89-1017-4328-8409-A501F1822F11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47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80"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The interviewer gets signals — not a black-box verdict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D82203-EA63-47EC-BBA7-618A1FA71243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190500" cy="19050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2755A-D0C6-4DD5-A32A-F4268D9CC544}"/>
              </a:ext>
            </a:extLst>
          </p:cNvPr>
          <p:cNvSpPr>
            <a:spLocks noGrp="1"/>
          </p:cNvSpPr>
          <p:nvPr/>
        </p:nvSpPr>
        <p:spPr>
          <a:xfrm>
            <a:off x="10858500" y="457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26DAB-19D4-424A-A6DA-C5C7EE39248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BEFORE THE INTERVIEW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75B775-BCEC-49B5-AC05-9E279073C1D9}"/>
              </a:ext>
            </a:extLst>
          </p:cNvPr>
          <p:cNvSpPr>
            <a:spLocks noGrp="1"/>
          </p:cNvSpPr>
          <p:nvPr/>
        </p:nvSpPr>
        <p:spPr>
          <a:xfrm>
            <a:off x="762000" y="2657475"/>
            <a:ext cx="95250" cy="952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813D5F-19BA-4C84-BFD1-D10E459526F4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453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7233B"/>
                </a:solidFill>
              </a:rPr>
              <a:t>Match rationale — </a:t>
            </a:r>
            <a:r>
              <a:rPr>
                <a:solidFill>
                  <a:srgbClr val="17233B"/>
                </a:solidFill>
              </a:rPr>
              <a:t>where the resume supports the role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FE44C4-338E-4B93-B4EF-4F3E124611B0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95250" cy="952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AF660C-B15A-4EA5-89C1-6754A1B8D3B5}"/>
              </a:ext>
            </a:extLst>
          </p:cNvPr>
          <p:cNvSpPr>
            <a:spLocks noGrp="1"/>
          </p:cNvSpPr>
          <p:nvPr/>
        </p:nvSpPr>
        <p:spPr>
          <a:xfrm>
            <a:off x="990600" y="3381375"/>
            <a:ext cx="453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7233B"/>
                </a:solidFill>
              </a:rPr>
              <a:t>Gap questions — </a:t>
            </a:r>
            <a:r>
              <a:rPr>
                <a:solidFill>
                  <a:srgbClr val="17233B"/>
                </a:solidFill>
              </a:rPr>
              <a:t>what still needs to be validated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5AB9C3-D362-45D6-8435-DCA3971BEA8C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95250" cy="952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A3FC2-7E8C-4F06-B78C-C17B0CC57A07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453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7233B"/>
                </a:solidFill>
              </a:rPr>
              <a:t>Answer signals — </a:t>
            </a:r>
            <a:r>
              <a:rPr>
                <a:solidFill>
                  <a:srgbClr val="17233B"/>
                </a:solidFill>
              </a:rPr>
              <a:t>keywords, concepts and evidence to listen for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92EDCD2-6410-4CDA-A319-AA2DE650EE16}"/>
              </a:ext>
            </a:extLst>
          </p:cNvPr>
          <p:cNvSpPr>
            <a:spLocks noGrp="1"/>
          </p:cNvSpPr>
          <p:nvPr/>
        </p:nvSpPr>
        <p:spPr>
          <a:xfrm>
            <a:off x="6000750" y="2081585"/>
            <a:ext cx="0" cy="3070041"/>
          </a:xfrm>
          <a:prstGeom prst="line">
            <a:avLst/>
          </a:prstGeom>
          <a:noFill/>
          <a:ln w="19050">
            <a:solidFill>
              <a:srgbClr val="CF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5CDD69-8393-495B-B674-FC91CAB5BB7B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46C7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6C7B4"/>
                </a:solidFill>
                <a:latin typeface="Aptos"/>
                <a:ea typeface="Aptos"/>
                <a:cs typeface="Aptos"/>
              </a:rPr>
              <a:t>AFTER THE INTERVIEW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3E83D4-5C63-437D-B121-17464E79394F}"/>
              </a:ext>
            </a:extLst>
          </p:cNvPr>
          <p:cNvSpPr>
            <a:spLocks noGrp="1"/>
          </p:cNvSpPr>
          <p:nvPr/>
        </p:nvSpPr>
        <p:spPr>
          <a:xfrm>
            <a:off x="6572250" y="2657475"/>
            <a:ext cx="95250" cy="952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68EC7D-3AA3-4EDB-8E46-10C6EC2A070F}"/>
              </a:ext>
            </a:extLst>
          </p:cNvPr>
          <p:cNvSpPr>
            <a:spLocks noGrp="1"/>
          </p:cNvSpPr>
          <p:nvPr/>
        </p:nvSpPr>
        <p:spPr>
          <a:xfrm>
            <a:off x="6800850" y="2571750"/>
            <a:ext cx="443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7233B"/>
                </a:solidFill>
              </a:rPr>
              <a:t>Transcript evaluation — </a:t>
            </a:r>
            <a:r>
              <a:rPr>
                <a:solidFill>
                  <a:srgbClr val="17233B"/>
                </a:solidFill>
              </a:rPr>
              <a:t>quality, relevance and depth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46795A-D2FF-4577-843F-55027DDE6FD5}"/>
              </a:ext>
            </a:extLst>
          </p:cNvPr>
          <p:cNvSpPr>
            <a:spLocks noGrp="1"/>
          </p:cNvSpPr>
          <p:nvPr/>
        </p:nvSpPr>
        <p:spPr>
          <a:xfrm>
            <a:off x="6572250" y="3467100"/>
            <a:ext cx="95250" cy="952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177C28-20F6-4D08-93F2-2CD64B2440A6}"/>
              </a:ext>
            </a:extLst>
          </p:cNvPr>
          <p:cNvSpPr>
            <a:spLocks noGrp="1"/>
          </p:cNvSpPr>
          <p:nvPr/>
        </p:nvSpPr>
        <p:spPr>
          <a:xfrm>
            <a:off x="6800850" y="3381375"/>
            <a:ext cx="443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7233B"/>
                </a:solidFill>
              </a:rPr>
              <a:t>Evidence-backed outcome — </a:t>
            </a:r>
            <a:r>
              <a:rPr>
                <a:solidFill>
                  <a:srgbClr val="17233B"/>
                </a:solidFill>
              </a:rPr>
              <a:t>strengths, risks and confidence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599412-F11F-4C36-9281-0EDFCEB832A8}"/>
              </a:ext>
            </a:extLst>
          </p:cNvPr>
          <p:cNvSpPr>
            <a:spLocks noGrp="1"/>
          </p:cNvSpPr>
          <p:nvPr/>
        </p:nvSpPr>
        <p:spPr>
          <a:xfrm>
            <a:off x="6572250" y="4276725"/>
            <a:ext cx="95250" cy="952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D3878-4B34-4347-A083-C060C8C09B15}"/>
              </a:ext>
            </a:extLst>
          </p:cNvPr>
          <p:cNvSpPr>
            <a:spLocks noGrp="1"/>
          </p:cNvSpPr>
          <p:nvPr/>
        </p:nvSpPr>
        <p:spPr>
          <a:xfrm>
            <a:off x="6800850" y="4191000"/>
            <a:ext cx="443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7233B"/>
                </a:solidFill>
              </a:rPr>
              <a:t>Long-form feedback — </a:t>
            </a:r>
            <a:r>
              <a:rPr>
                <a:solidFill>
                  <a:srgbClr val="17233B"/>
                </a:solidFill>
              </a:rPr>
              <a:t>human context saved for future retrieval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D3CA2A-759C-400B-8D3E-E92FD04CE1E3}"/>
              </a:ext>
            </a:extLst>
          </p:cNvPr>
          <p:cNvSpPr>
            <a:spLocks noGrp="1"/>
          </p:cNvSpPr>
          <p:nvPr/>
        </p:nvSpPr>
        <p:spPr>
          <a:xfrm>
            <a:off x="9572625" y="5238750"/>
            <a:ext cx="1143000" cy="1143000"/>
          </a:xfrm>
          <a:prstGeom prst="ellipse">
            <a:avLst/>
          </a:prstGeom>
          <a:solidFill>
            <a:srgbClr val="FFF0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1C2F0C-C5B6-456A-9F3C-B88C811FBA8A}"/>
              </a:ext>
            </a:extLst>
          </p:cNvPr>
          <p:cNvSpPr>
            <a:spLocks noGrp="1"/>
          </p:cNvSpPr>
          <p:nvPr/>
        </p:nvSpPr>
        <p:spPr>
          <a:xfrm>
            <a:off x="9572625" y="5514975"/>
            <a:ext cx="114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HUMAN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DECIDES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EB59E-8FD7-4EC6-AB35-5D4E196CA4CD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74"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The score prioritizes attention; it does not make the hiring decision.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6CAD84-69BF-404C-BFAB-0D4D7C880AB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CB606A-CCBF-425D-B937-28D18F1CA0D3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HIRELENS  ·  06</a:t>
            </a:r>
          </a:p>
        </p:txBody>
      </p:sp>
    </p:spTree>
    <p:extLst>
      <p:ext uri="{BB962C8B-B14F-4D97-AF65-F5344CB8AC3E}">
        <p14:creationId xmlns:p14="http://schemas.microsoft.com/office/powerpoint/2010/main" val="190648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E599F03-C363-4717-A70E-5C66E226CEC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CDF19B-311B-4E9B-88B6-D52450BCF537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47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Architecture diagram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167C4B-AF95-46DB-B0B3-D7F0FB69A0CA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190500" cy="19050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6D36F-ACC7-4EC3-AC8A-0F25CBD391C7}"/>
              </a:ext>
            </a:extLst>
          </p:cNvPr>
          <p:cNvSpPr>
            <a:spLocks noGrp="1"/>
          </p:cNvSpPr>
          <p:nvPr/>
        </p:nvSpPr>
        <p:spPr>
          <a:xfrm>
            <a:off x="10858500" y="457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B8C6826-01B2-4C94-AC6F-19239DF69192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0"/>
          </a:xfrm>
          <a:prstGeom prst="line">
            <a:avLst/>
          </a:prstGeom>
          <a:noFill/>
          <a:ln w="19050">
            <a:solidFill>
              <a:srgbClr val="CF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9B322E-F9EA-4526-B856-0D66F9914F85}"/>
              </a:ext>
            </a:extLst>
          </p:cNvPr>
          <p:cNvSpPr>
            <a:spLocks noGrp="1"/>
          </p:cNvSpPr>
          <p:nvPr/>
        </p:nvSpPr>
        <p:spPr>
          <a:xfrm>
            <a:off x="2381250" y="304800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AAA39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AA39B"/>
                </a:solidFill>
                <a:latin typeface="Aptos"/>
                <a:ea typeface="Aptos"/>
                <a:cs typeface="Aptos"/>
              </a:rPr>
              <a:t>INSERT ARCHITECTURE DIAGRAM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9E6C19-F183-4609-AC37-6537ED3E737C}"/>
              </a:ext>
            </a:extLst>
          </p:cNvPr>
          <p:cNvSpPr>
            <a:spLocks noGrp="1"/>
          </p:cNvSpPr>
          <p:nvPr/>
        </p:nvSpPr>
        <p:spPr>
          <a:xfrm>
            <a:off x="2190750" y="356235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650" b="0">
                <a:solidFill>
                  <a:srgbClr val="AAA39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A39B"/>
                </a:solidFill>
                <a:latin typeface="Aptos"/>
                <a:ea typeface="Aptos"/>
                <a:cs typeface="Aptos"/>
              </a:rPr>
              <a:t>Suggested view: React client → API layer → LangGraph orchestration → OpenAI / retrieval / storage → observability and human checkpoints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A46E40-50B0-40FA-A4D3-068056271FA9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171450" cy="171450"/>
          </a:xfrm>
          <a:prstGeom prst="ellipse">
            <a:avLst/>
          </a:prstGeom>
          <a:solidFill>
            <a:srgbClr val="E9E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17F301-59B5-4F81-9D28-406B74C4023E}"/>
              </a:ext>
            </a:extLst>
          </p:cNvPr>
          <p:cNvSpPr>
            <a:spLocks noGrp="1"/>
          </p:cNvSpPr>
          <p:nvPr/>
        </p:nvSpPr>
        <p:spPr>
          <a:xfrm>
            <a:off x="10572750" y="3209925"/>
            <a:ext cx="171450" cy="171450"/>
          </a:xfrm>
          <a:prstGeom prst="ellipse">
            <a:avLst/>
          </a:prstGeom>
          <a:solidFill>
            <a:srgbClr val="DDF6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B421F-0821-4619-B2CF-13094ED50844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7E830-EF15-4B01-98F8-00A9D5BE7F7C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HIRELENS  ·  07</a:t>
            </a:r>
          </a:p>
        </p:txBody>
      </p:sp>
    </p:spTree>
    <p:extLst>
      <p:ext uri="{BB962C8B-B14F-4D97-AF65-F5344CB8AC3E}">
        <p14:creationId xmlns:p14="http://schemas.microsoft.com/office/powerpoint/2010/main" val="52473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4D47BBF-62AF-42C9-B0AD-05155DFED38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IMPLEMENTATION BLUEPRINT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A292E6-F695-4BE8-AEBE-8C97AE1BE210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47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80" lnSpcReduction="10000"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A modular stack keeps reasoning, retrieval and UX separable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4A79DF2-FFB0-4E94-89C2-7D7BDCB2267A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190500" cy="19050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F95E3-CF45-4182-AD38-FDFEE9AB8DB5}"/>
              </a:ext>
            </a:extLst>
          </p:cNvPr>
          <p:cNvSpPr>
            <a:spLocks noGrp="1"/>
          </p:cNvSpPr>
          <p:nvPr/>
        </p:nvSpPr>
        <p:spPr>
          <a:xfrm>
            <a:off x="10858500" y="457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874BA-A6D6-42AF-A422-5A61BCCEB3A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OpenAI, React, LangGraph and a vector store are confirmed/assumed from the project brief; remaining components are illustrative.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49711-7B3E-4FEF-A02B-6488D32615B9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0820400" cy="552450"/>
          </a:xfrm>
          <a:prstGeom prst="rect">
            <a:avLst/>
          </a:prstGeom>
          <a:solidFill>
            <a:srgbClr val="E9E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01E973-BB28-49F8-976C-FF4D42A57B54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CBB64-4005-441D-A1E5-8A136BD3A45C}"/>
              </a:ext>
            </a:extLst>
          </p:cNvPr>
          <p:cNvSpPr>
            <a:spLocks noGrp="1"/>
          </p:cNvSpPr>
          <p:nvPr/>
        </p:nvSpPr>
        <p:spPr>
          <a:xfrm>
            <a:off x="2857500" y="2466975"/>
            <a:ext cx="8334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33B"/>
                </a:solidFill>
                <a:latin typeface="Aptos"/>
                <a:ea typeface="Aptos"/>
                <a:cs typeface="Aptos"/>
              </a:rPr>
              <a:t>React · file upload · review screens · score and rationale · transcript feedback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2FF8B8-58CE-4145-B3B5-13DCFD2E787D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552450"/>
          </a:xfrm>
          <a:prstGeom prst="rect">
            <a:avLst/>
          </a:prstGeom>
          <a:solidFill>
            <a:srgbClr val="DDF6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6B970B-BBFA-4657-B6EF-ED97FC97F1F3}"/>
              </a:ext>
            </a:extLst>
          </p:cNvPr>
          <p:cNvSpPr>
            <a:spLocks noGrp="1"/>
          </p:cNvSpPr>
          <p:nvPr/>
        </p:nvSpPr>
        <p:spPr>
          <a:xfrm>
            <a:off x="876300" y="32480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46C7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6C7B4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81591A-B076-48A5-A5C8-B75B44A1CFF9}"/>
              </a:ext>
            </a:extLst>
          </p:cNvPr>
          <p:cNvSpPr>
            <a:spLocks noGrp="1"/>
          </p:cNvSpPr>
          <p:nvPr/>
        </p:nvSpPr>
        <p:spPr>
          <a:xfrm>
            <a:off x="2857500" y="3209925"/>
            <a:ext cx="8334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39"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33B"/>
                </a:solidFill>
                <a:latin typeface="Aptos"/>
                <a:ea typeface="Aptos"/>
                <a:cs typeface="Aptos"/>
              </a:rPr>
              <a:t>FastAPI (assumed) · auth · validation · async document processing · decision 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8FCD84-F1EE-440C-ADE4-789EE4145CD6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10820400" cy="552450"/>
          </a:xfrm>
          <a:prstGeom prst="rect">
            <a:avLst/>
          </a:prstGeom>
          <a:solidFill>
            <a:srgbClr val="FFE1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60E13F-9F0F-42B1-9EE9-20333B7C59CA}"/>
              </a:ext>
            </a:extLst>
          </p:cNvPr>
          <p:cNvSpPr>
            <a:spLocks noGrp="1"/>
          </p:cNvSpPr>
          <p:nvPr/>
        </p:nvSpPr>
        <p:spPr>
          <a:xfrm>
            <a:off x="876300" y="39909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AGENT RUNTIME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0069F1-D2D8-4F70-927E-0B5886D349F2}"/>
              </a:ext>
            </a:extLst>
          </p:cNvPr>
          <p:cNvSpPr>
            <a:spLocks noGrp="1"/>
          </p:cNvSpPr>
          <p:nvPr/>
        </p:nvSpPr>
        <p:spPr>
          <a:xfrm>
            <a:off x="2857500" y="3952875"/>
            <a:ext cx="8334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75"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33B"/>
                </a:solidFill>
                <a:latin typeface="Aptos"/>
                <a:ea typeface="Aptos"/>
                <a:cs typeface="Aptos"/>
              </a:rPr>
              <a:t>LangGraph · shared state · specialized agents · checkpoints · structured outputs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5AE5BA-1F5F-4B33-A030-7D3D88FF1A03}"/>
              </a:ext>
            </a:extLst>
          </p:cNvPr>
          <p:cNvSpPr>
            <a:spLocks noGrp="1"/>
          </p:cNvSpPr>
          <p:nvPr/>
        </p:nvSpPr>
        <p:spPr>
          <a:xfrm>
            <a:off x="685800" y="4562475"/>
            <a:ext cx="10820400" cy="552450"/>
          </a:xfrm>
          <a:prstGeom prst="rect">
            <a:avLst/>
          </a:prstGeom>
          <a:solidFill>
            <a:srgbClr val="FFF0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20C871-A929-4B27-BBE9-3F0714FABF9E}"/>
              </a:ext>
            </a:extLst>
          </p:cNvPr>
          <p:cNvSpPr>
            <a:spLocks noGrp="1"/>
          </p:cNvSpPr>
          <p:nvPr/>
        </p:nvSpPr>
        <p:spPr>
          <a:xfrm>
            <a:off x="876300" y="47339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B780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78000"/>
                </a:solidFill>
                <a:latin typeface="Aptos"/>
                <a:ea typeface="Aptos"/>
                <a:cs typeface="Aptos"/>
              </a:rPr>
              <a:t>AI + KNOWLEDGE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0ADE05-12BD-44EE-B685-C474160F9D52}"/>
              </a:ext>
            </a:extLst>
          </p:cNvPr>
          <p:cNvSpPr>
            <a:spLocks noGrp="1"/>
          </p:cNvSpPr>
          <p:nvPr/>
        </p:nvSpPr>
        <p:spPr>
          <a:xfrm>
            <a:off x="2857500" y="4695825"/>
            <a:ext cx="8334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33B"/>
                </a:solidFill>
                <a:latin typeface="Aptos"/>
                <a:ea typeface="Aptos"/>
                <a:cs typeface="Aptos"/>
              </a:rPr>
              <a:t>OpenAI LLM · embeddings · vector DB · RAG · prompt/rubric versions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C4AA10-F6AD-4393-A6A9-769D2999730A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552450"/>
          </a:xfrm>
          <a:prstGeom prst="rect">
            <a:avLst/>
          </a:prstGeom>
          <a:solidFill>
            <a:srgbClr val="ECE9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32DB11-D16B-4CA0-8703-9A80A62F8A47}"/>
              </a:ext>
            </a:extLst>
          </p:cNvPr>
          <p:cNvSpPr>
            <a:spLocks noGrp="1"/>
          </p:cNvSpPr>
          <p:nvPr/>
        </p:nvSpPr>
        <p:spPr>
          <a:xfrm>
            <a:off x="876300" y="54768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518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DATA + OPERATIONS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B966EF-4BCF-41B8-8141-10CA97F20FD6}"/>
              </a:ext>
            </a:extLst>
          </p:cNvPr>
          <p:cNvSpPr>
            <a:spLocks noGrp="1"/>
          </p:cNvSpPr>
          <p:nvPr/>
        </p:nvSpPr>
        <p:spPr>
          <a:xfrm>
            <a:off x="2857500" y="5438775"/>
            <a:ext cx="8334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625"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33B"/>
                </a:solidFill>
                <a:latin typeface="Aptos"/>
                <a:ea typeface="Aptos"/>
                <a:cs typeface="Aptos"/>
              </a:rPr>
              <a:t>JD/resume/transcript storage · relational metadata · audit logs · observability (assumed)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E34608-14F5-48E3-B879-2E9B3014C927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81E9E-1860-43F6-88EF-7A9E8254D90F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HIRELENS  ·  08</a:t>
            </a:r>
          </a:p>
        </p:txBody>
      </p:sp>
    </p:spTree>
    <p:extLst>
      <p:ext uri="{BB962C8B-B14F-4D97-AF65-F5344CB8AC3E}">
        <p14:creationId xmlns:p14="http://schemas.microsoft.com/office/powerpoint/2010/main" val="46814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0C027BB-DFEA-4C62-BAEE-C57FD6396DF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46C7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6C7B4"/>
                </a:solidFill>
                <a:latin typeface="Aptos"/>
                <a:ea typeface="Aptos"/>
                <a:cs typeface="Aptos"/>
              </a:rPr>
              <a:t>TRUST &amp;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E7A00A-0D6B-4092-A7E2-AEBEBD4334A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285" lnSpcReduction="10000"/>
          </a:bodyPr>
          <a:lstStyle/>
          <a:p>
            <a:pPr algn="l">
              <a:lnSpc>
                <a:spcPct val="90000"/>
              </a:lnSpc>
              <a:buNone/>
              <a:def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Trust comes from evidence, rubrics</a:t>
            </a:r>
          </a:p>
          <a:p>
            <a:pPr algn="l">
              <a:lnSpc>
                <a:spcPct val="90000"/>
              </a:lnSpc>
              <a:buNone/>
              <a:def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and human control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0B6148-13C6-4101-BD22-0307FB1A47AB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2476500" cy="247650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C6582-3379-45B3-AF0D-CE399966929A}"/>
              </a:ext>
            </a:extLst>
          </p:cNvPr>
          <p:cNvSpPr>
            <a:spLocks noGrp="1"/>
          </p:cNvSpPr>
          <p:nvPr/>
        </p:nvSpPr>
        <p:spPr>
          <a:xfrm>
            <a:off x="4857750" y="3209925"/>
            <a:ext cx="2476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HUMAN</a:t>
            </a:r>
          </a:p>
          <a:p>
            <a:pPr algn="ctr">
              <a:lnSpc>
                <a:spcPct val="90000"/>
              </a:lnSpc>
              <a:buNone/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DECIDES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33462C-248F-4F36-AFB9-D1E0DCBAA3CE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209550" cy="209550"/>
          </a:xfrm>
          <a:prstGeom prst="ellipse">
            <a:avLst/>
          </a:prstGeom>
          <a:solidFill>
            <a:srgbClr val="46C7B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C46F03-008B-444C-AC42-A0E16C0F2111}"/>
              </a:ext>
            </a:extLst>
          </p:cNvPr>
          <p:cNvSpPr>
            <a:spLocks noGrp="1"/>
          </p:cNvSpPr>
          <p:nvPr/>
        </p:nvSpPr>
        <p:spPr>
          <a:xfrm>
            <a:off x="1266825" y="25241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Grounded scoring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462E2-9A8E-4922-9AA7-80C7F546921D}"/>
              </a:ext>
            </a:extLst>
          </p:cNvPr>
          <p:cNvSpPr>
            <a:spLocks noGrp="1"/>
          </p:cNvSpPr>
          <p:nvPr/>
        </p:nvSpPr>
        <p:spPr>
          <a:xfrm>
            <a:off x="1266825" y="2924175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D9D2E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D2E6"/>
                </a:solidFill>
                <a:latin typeface="Aptos"/>
                <a:ea typeface="Aptos"/>
                <a:cs typeface="Aptos"/>
              </a:rPr>
              <a:t>Cite JD, resume or transcript evidence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82D678-29A2-4A52-89E2-25D5E7999F86}"/>
              </a:ext>
            </a:extLst>
          </p:cNvPr>
          <p:cNvSpPr>
            <a:spLocks noGrp="1"/>
          </p:cNvSpPr>
          <p:nvPr/>
        </p:nvSpPr>
        <p:spPr>
          <a:xfrm>
            <a:off x="904875" y="4381500"/>
            <a:ext cx="209550" cy="20955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7E00A-7F81-4C06-9EC7-124352700B26}"/>
              </a:ext>
            </a:extLst>
          </p:cNvPr>
          <p:cNvSpPr>
            <a:spLocks noGrp="1"/>
          </p:cNvSpPr>
          <p:nvPr/>
        </p:nvSpPr>
        <p:spPr>
          <a:xfrm>
            <a:off x="1266825" y="43338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Rubric-based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B98B6E-FD99-49A7-9448-123F1CF339AA}"/>
              </a:ext>
            </a:extLst>
          </p:cNvPr>
          <p:cNvSpPr>
            <a:spLocks noGrp="1"/>
          </p:cNvSpPr>
          <p:nvPr/>
        </p:nvSpPr>
        <p:spPr>
          <a:xfrm>
            <a:off x="1266825" y="4733925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D9D2E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D2E6"/>
                </a:solidFill>
                <a:latin typeface="Aptos"/>
                <a:ea typeface="Aptos"/>
                <a:cs typeface="Aptos"/>
              </a:rPr>
              <a:t>Separate relevance, depth and credibility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B6E3A7-190E-46F0-97EF-335E8334DB8C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209550" cy="20955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14D4E-6632-4CB6-90FA-A39152A81715}"/>
              </a:ext>
            </a:extLst>
          </p:cNvPr>
          <p:cNvSpPr>
            <a:spLocks noGrp="1"/>
          </p:cNvSpPr>
          <p:nvPr/>
        </p:nvSpPr>
        <p:spPr>
          <a:xfrm>
            <a:off x="8458200" y="25241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Explainability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219ABF-A354-4043-A0A7-5915233EE406}"/>
              </a:ext>
            </a:extLst>
          </p:cNvPr>
          <p:cNvSpPr>
            <a:spLocks noGrp="1"/>
          </p:cNvSpPr>
          <p:nvPr/>
        </p:nvSpPr>
        <p:spPr>
          <a:xfrm>
            <a:off x="8458200" y="2924175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D9D2E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D2E6"/>
                </a:solidFill>
                <a:latin typeface="Aptos"/>
                <a:ea typeface="Aptos"/>
                <a:cs typeface="Aptos"/>
              </a:rPr>
              <a:t>Show why the score changed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03A09F-1D29-46E9-B1A6-6EE7B9326705}"/>
              </a:ext>
            </a:extLst>
          </p:cNvPr>
          <p:cNvSpPr>
            <a:spLocks noGrp="1"/>
          </p:cNvSpPr>
          <p:nvPr/>
        </p:nvSpPr>
        <p:spPr>
          <a:xfrm>
            <a:off x="8096250" y="4381500"/>
            <a:ext cx="209550" cy="209550"/>
          </a:xfrm>
          <a:prstGeom prst="ellipse">
            <a:avLst/>
          </a:prstGeom>
          <a:solidFill>
            <a:srgbClr val="46C7B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781993-7478-4A4F-9EC8-CE060F7583CA}"/>
              </a:ext>
            </a:extLst>
          </p:cNvPr>
          <p:cNvSpPr>
            <a:spLocks noGrp="1"/>
          </p:cNvSpPr>
          <p:nvPr/>
        </p:nvSpPr>
        <p:spPr>
          <a:xfrm>
            <a:off x="8458200" y="43338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Bias controls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AA25-523C-434C-A89A-125BFD4079B4}"/>
              </a:ext>
            </a:extLst>
          </p:cNvPr>
          <p:cNvSpPr>
            <a:spLocks noGrp="1"/>
          </p:cNvSpPr>
          <p:nvPr/>
        </p:nvSpPr>
        <p:spPr>
          <a:xfrm>
            <a:off x="8458200" y="4733925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75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D9D2E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D2E6"/>
                </a:solidFill>
                <a:latin typeface="Aptos"/>
                <a:ea typeface="Aptos"/>
                <a:cs typeface="Aptos"/>
              </a:rPr>
              <a:t>Exclude protected attributes; review prompts and outcomes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550BA1-053A-4DE5-9202-AE20E06428C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10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0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0B8"/>
                </a:solidFill>
                <a:latin typeface="Aptos"/>
                <a:ea typeface="Aptos"/>
                <a:cs typeface="Aptos"/>
              </a:rPr>
              <a:t>Operational checks: prompt/version traceability · confidence bands · fallback behavior · audit logs · interviewer override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031737-F0E8-4F6A-AB50-2F11A79F8B29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D2C9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0B6BAD-2005-444F-B0F6-BDACEE917E10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D2C9"/>
                </a:solidFill>
                <a:latin typeface="Aptos"/>
                <a:ea typeface="Aptos"/>
                <a:cs typeface="Aptos"/>
              </a:rPr>
              <a:t>HIRELENS  ·  09</a:t>
            </a:r>
          </a:p>
        </p:txBody>
      </p:sp>
    </p:spTree>
    <p:extLst>
      <p:ext uri="{BB962C8B-B14F-4D97-AF65-F5344CB8AC3E}">
        <p14:creationId xmlns:p14="http://schemas.microsoft.com/office/powerpoint/2010/main" val="1509325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EA66C70-28CD-4B40-B030-9A6F9955B8F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FROM CAPSTONE TO PRODUCT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2CEC8B-CAF3-432E-B337-38A57B792B75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47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80" lnSpcReduction="10000"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Prove the decision support. Learn from feedback. Scale the system.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ECC782C-3558-4A6E-9C62-12BCA2D9CAFB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190500" cy="19050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A5DEBA-BB76-4C2D-BAD5-2CFAC0138CB6}"/>
              </a:ext>
            </a:extLst>
          </p:cNvPr>
          <p:cNvSpPr>
            <a:spLocks noGrp="1"/>
          </p:cNvSpPr>
          <p:nvPr/>
        </p:nvSpPr>
        <p:spPr>
          <a:xfrm>
            <a:off x="10858500" y="457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4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CECBB-1EF2-404A-ACD1-D480CDAE07B3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E561AE5-7A0C-41BB-B760-A65358815E0D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952750" cy="0"/>
          </a:xfrm>
          <a:prstGeom prst="line">
            <a:avLst/>
          </a:prstGeom>
          <a:noFill/>
          <a:ln w="5715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14B7A-30C9-4795-9447-DFED91749604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MVP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F6E62C-A4D6-44DF-83F2-3ECB343F612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000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Demonstrate that targeted questions and answer signals improve interview preparation.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E0FCC-AAB5-4D95-8EEC-6453C5D5C1F9}"/>
              </a:ext>
            </a:extLst>
          </p:cNvPr>
          <p:cNvSpPr>
            <a:spLocks noGrp="1"/>
          </p:cNvSpPr>
          <p:nvPr/>
        </p:nvSpPr>
        <p:spPr>
          <a:xfrm>
            <a:off x="4352925" y="2333625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46C7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6C7B4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AA6E6C5-059F-425E-B917-160BBBF028C5}"/>
              </a:ext>
            </a:extLst>
          </p:cNvPr>
          <p:cNvSpPr>
            <a:spLocks noGrp="1"/>
          </p:cNvSpPr>
          <p:nvPr/>
        </p:nvSpPr>
        <p:spPr>
          <a:xfrm>
            <a:off x="4352925" y="2724150"/>
            <a:ext cx="2952750" cy="0"/>
          </a:xfrm>
          <a:prstGeom prst="line">
            <a:avLst/>
          </a:prstGeom>
          <a:noFill/>
          <a:ln w="57150">
            <a:solidFill>
              <a:srgbClr val="46C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FF43D0-C60C-43AB-89EF-CD43BC459622}"/>
              </a:ext>
            </a:extLst>
          </p:cNvPr>
          <p:cNvSpPr>
            <a:spLocks noGrp="1"/>
          </p:cNvSpPr>
          <p:nvPr/>
        </p:nvSpPr>
        <p:spPr>
          <a:xfrm>
            <a:off x="4352925" y="300037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RAG FLYWHEEL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991AC8-5009-4263-9781-6406F57E2851}"/>
              </a:ext>
            </a:extLst>
          </p:cNvPr>
          <p:cNvSpPr>
            <a:spLocks noGrp="1"/>
          </p:cNvSpPr>
          <p:nvPr/>
        </p:nvSpPr>
        <p:spPr>
          <a:xfrm>
            <a:off x="4352925" y="3638550"/>
            <a:ext cx="3000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Retrieve prior interviewer feedback to refine future questionnaires and evaluation strategy.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82A5A1-F02B-4A7A-86E6-C7F9636A2E6D}"/>
              </a:ext>
            </a:extLst>
          </p:cNvPr>
          <p:cNvSpPr>
            <a:spLocks noGrp="1"/>
          </p:cNvSpPr>
          <p:nvPr/>
        </p:nvSpPr>
        <p:spPr>
          <a:xfrm>
            <a:off x="8020050" y="2333625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FFAF56F-E5A3-4DEE-830C-16EF89067DFA}"/>
              </a:ext>
            </a:extLst>
          </p:cNvPr>
          <p:cNvSpPr>
            <a:spLocks noGrp="1"/>
          </p:cNvSpPr>
          <p:nvPr/>
        </p:nvSpPr>
        <p:spPr>
          <a:xfrm>
            <a:off x="8020050" y="2724150"/>
            <a:ext cx="2952750" cy="0"/>
          </a:xfrm>
          <a:prstGeom prst="line">
            <a:avLst/>
          </a:prstGeom>
          <a:noFill/>
          <a:ln w="571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D78C96-8C71-43BA-A5F6-70F45FDD7B62}"/>
              </a:ext>
            </a:extLst>
          </p:cNvPr>
          <p:cNvSpPr>
            <a:spLocks noGrp="1"/>
          </p:cNvSpPr>
          <p:nvPr/>
        </p:nvSpPr>
        <p:spPr>
          <a:xfrm>
            <a:off x="8020050" y="300037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48E539-237E-4E5E-9129-31AA847ABA4F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3000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D64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73"/>
                </a:solidFill>
                <a:latin typeface="Aptos"/>
                <a:ea typeface="Aptos"/>
                <a:cs typeface="Aptos"/>
              </a:rPr>
              <a:t>Add role libraries, team calibration, governance, analytics and enterprise integrations.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64F680-C2A1-471A-A812-D11D41F8E0D5}"/>
              </a:ext>
            </a:extLst>
          </p:cNvPr>
          <p:cNvSpPr>
            <a:spLocks noGrp="1"/>
          </p:cNvSpPr>
          <p:nvPr/>
        </p:nvSpPr>
        <p:spPr>
          <a:xfrm>
            <a:off x="1047750" y="5524500"/>
            <a:ext cx="1009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099"/>
          </a:bodyPr>
          <a:lstStyle/>
          <a:p>
            <a:pPr algn="ctr">
              <a:lnSpc>
                <a:spcPct val="95000"/>
              </a:lnSpc>
              <a:buNone/>
              <a:defRPr sz="247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33B"/>
                </a:solidFill>
                <a:latin typeface="Aptos Display"/>
                <a:ea typeface="Aptos Display"/>
                <a:cs typeface="Aptos Display"/>
              </a:rPr>
              <a:t>HireLens turns every hiring interaction into better evidence for the next decision.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B3FA22-1DA2-43A7-AFB0-8CFE3C7848DA}"/>
              </a:ext>
            </a:extLst>
          </p:cNvPr>
          <p:cNvSpPr>
            <a:spLocks noGrp="1"/>
          </p:cNvSpPr>
          <p:nvPr/>
        </p:nvSpPr>
        <p:spPr>
          <a:xfrm>
            <a:off x="695325" y="5514975"/>
            <a:ext cx="228600" cy="22860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117D37-3977-4893-9DA8-395BA6EA2596}"/>
              </a:ext>
            </a:extLst>
          </p:cNvPr>
          <p:cNvSpPr>
            <a:spLocks noGrp="1"/>
          </p:cNvSpPr>
          <p:nvPr/>
        </p:nvSpPr>
        <p:spPr>
          <a:xfrm>
            <a:off x="11268075" y="5724525"/>
            <a:ext cx="228600" cy="228600"/>
          </a:xfrm>
          <a:prstGeom prst="ellipse">
            <a:avLst/>
          </a:prstGeom>
          <a:solidFill>
            <a:srgbClr val="7C5C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9CDF14-9990-4F46-89C7-724C2467518B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AGENTIC AI DEVELOPER COURSE · CAPSTONE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1732F0-7210-40FF-A7AD-FECE3C226EAB}"/>
              </a:ext>
            </a:extLst>
          </p:cNvPr>
          <p:cNvSpPr>
            <a:spLocks noGrp="1"/>
          </p:cNvSpPr>
          <p:nvPr/>
        </p:nvSpPr>
        <p:spPr>
          <a:xfrm>
            <a:off x="9810750" y="65151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766F6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6F67"/>
                </a:solidFill>
                <a:latin typeface="Aptos"/>
                <a:ea typeface="Aptos"/>
                <a:cs typeface="Aptos"/>
              </a:rPr>
              <a:t>HIRELENS  ·  10</a:t>
            </a:r>
          </a:p>
        </p:txBody>
      </p:sp>
    </p:spTree>
    <p:extLst>
      <p:ext uri="{BB962C8B-B14F-4D97-AF65-F5344CB8AC3E}">
        <p14:creationId xmlns:p14="http://schemas.microsoft.com/office/powerpoint/2010/main" val="10229271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917</Words>
  <Application>Microsoft Office PowerPoint</Application>
  <PresentationFormat>Widescreen</PresentationFormat>
  <Paragraphs>176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Aptos Display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Srivastava</dc:creator>
  <cp:lastModifiedBy>Rajat Srivastava</cp:lastModifiedBy>
  <cp:revision>3</cp:revision>
  <dcterms:created xsi:type="dcterms:W3CDTF">2026-08-25T12:25:35Z</dcterms:created>
  <dcterms:modified xsi:type="dcterms:W3CDTF">2026-09-09T09:45:43Z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caace6-0147-4eb4-9424-999efb4dea48_Enabled">
    <vt:lpwstr>true</vt:lpwstr>
  </property>
  <property fmtid="{D5CDD505-2E9C-101B-9397-08002B2CF9AE}" pid="3" name="MSIP_Label_c9caace6-0147-4eb4-9424-999efb4dea48_SetDate">
    <vt:lpwstr>2026-08-25T14:30:33Z</vt:lpwstr>
  </property>
  <property fmtid="{D5CDD505-2E9C-101B-9397-08002B2CF9AE}" pid="4" name="MSIP_Label_c9caace6-0147-4eb4-9424-999efb4dea48_Method">
    <vt:lpwstr>Standard</vt:lpwstr>
  </property>
  <property fmtid="{D5CDD505-2E9C-101B-9397-08002B2CF9AE}" pid="5" name="MSIP_Label_c9caace6-0147-4eb4-9424-999efb4dea48_Name">
    <vt:lpwstr>defa4170-0d19-0005-0004-bc88714345d2</vt:lpwstr>
  </property>
  <property fmtid="{D5CDD505-2E9C-101B-9397-08002B2CF9AE}" pid="6" name="MSIP_Label_c9caace6-0147-4eb4-9424-999efb4dea48_SiteId">
    <vt:lpwstr>c1edc258-9f36-468d-a860-685701f0c76b</vt:lpwstr>
  </property>
  <property fmtid="{D5CDD505-2E9C-101B-9397-08002B2CF9AE}" pid="7" name="MSIP_Label_c9caace6-0147-4eb4-9424-999efb4dea48_ActionId">
    <vt:lpwstr>8486e6f4-d77a-4005-a670-0f143b72c0d9</vt:lpwstr>
  </property>
  <property fmtid="{D5CDD505-2E9C-101B-9397-08002B2CF9AE}" pid="8" name="MSIP_Label_c9caace6-0147-4eb4-9424-999efb4dea48_ContentBits">
    <vt:lpwstr>0</vt:lpwstr>
  </property>
  <property fmtid="{D5CDD505-2E9C-101B-9397-08002B2CF9AE}" pid="9" name="MSIP_Label_c9caace6-0147-4eb4-9424-999efb4dea48_Tag">
    <vt:lpwstr>10, 3, 0, 1</vt:lpwstr>
  </property>
</Properties>
</file>