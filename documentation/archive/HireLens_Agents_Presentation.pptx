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6126480" cy="580644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868680"/>
            <a:ext cx="2423160" cy="292608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889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873252"/>
            <a:ext cx="242316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AGENTIC RECRUITMENT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252525"/>
                </a:solidFill>
                <a:latin typeface="Segoe UI"/>
              </a:rPr>
              <a:t>HireLens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21408"/>
            <a:ext cx="5303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52525"/>
                </a:solidFill>
                <a:latin typeface="Segoe UI"/>
              </a:rPr>
              <a:t>The multi-agent system
behind evidence-led hiring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01568"/>
            <a:ext cx="51663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737373"/>
                </a:solidFill>
                <a:latin typeface="Segoe UI"/>
              </a:rPr>
              <a:t>Eight specialised agents. Four LangGraph workflows.
One human decision boundary.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" y="4224528"/>
            <a:ext cx="5212080" cy="0"/>
          </a:xfrm>
          <a:prstGeom prst="line">
            <a:avLst/>
          </a:prstGeom>
          <a:ln w="1524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4480560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2525"/>
                </a:solidFill>
                <a:latin typeface="Segoe UI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901184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737373"/>
                </a:solidFill>
                <a:latin typeface="Segoe UI"/>
              </a:rPr>
              <a:t>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7752" y="4480560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2525"/>
                </a:solidFill>
                <a:latin typeface="Segoe U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7752" y="4901184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737373"/>
                </a:solidFill>
                <a:latin typeface="Segoe UI"/>
              </a:rPr>
              <a:t>WORKFLOWS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6824" y="4480560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2525"/>
                </a:solidFill>
                <a:latin typeface="Segoe UI"/>
              </a:rPr>
              <a:t>HUMAN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4901184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737373"/>
                </a:solidFill>
                <a:latin typeface="Segoe UI"/>
              </a:rPr>
              <a:t>DECISION 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7150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37373"/>
                </a:solidFill>
                <a:latin typeface="Segoe UI"/>
              </a:rPr>
              <a:t>Architecture overview · 2026</a:t>
            </a:r>
          </a:p>
        </p:txBody>
      </p:sp>
      <p:pic>
        <p:nvPicPr>
          <p:cNvPr id="16" name="Picture 15" descr="HireLe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960120"/>
            <a:ext cx="4572000" cy="4572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32320" y="571500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737373"/>
                </a:solidFill>
                <a:latin typeface="Segoe UI"/>
              </a:rPr>
              <a:t>Privacy-aware  •  Observable  •  Advisory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HIRELENS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28016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SYSTEM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From documents to defensible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HireLens turns hiring inputs into structured, traceable evidence while keeping the final decision human.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29968"/>
            <a:ext cx="2606040" cy="295351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2240280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244852"/>
            <a:ext cx="43891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76148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52525"/>
                </a:solidFill>
                <a:latin typeface="Segoe UI"/>
              </a:rPr>
              <a:t>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310128"/>
            <a:ext cx="2176272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737373"/>
                </a:solidFill>
                <a:latin typeface="Segoe UI"/>
              </a:rPr>
              <a:t>Convert JDs, resumes and transcripts into validated domain records.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0712" y="2029968"/>
            <a:ext cx="2606040" cy="295351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11880" y="2240280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2244852"/>
            <a:ext cx="43891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76148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52525"/>
                </a:solidFill>
                <a:latin typeface="Segoe UI"/>
              </a:rPr>
              <a:t>GROUND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310128"/>
            <a:ext cx="2176272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737373"/>
                </a:solidFill>
                <a:latin typeface="Segoe UI"/>
              </a:rPr>
              <a:t>Retrieve comparable, expert-verified cases before model reasoning.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3" y="2029968"/>
            <a:ext cx="2606040" cy="295351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73951" y="2240280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1" y="2244852"/>
            <a:ext cx="43891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1" y="276148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52525"/>
                </a:solidFill>
                <a:latin typeface="Segoe UI"/>
              </a:rPr>
              <a:t>VALIDATE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1" y="3310128"/>
            <a:ext cx="2176272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737373"/>
                </a:solidFill>
                <a:latin typeface="Segoe UI"/>
              </a:rPr>
              <a:t>Mechanically check quotes, case IDs, schemas and severity consistency.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34856" y="2029968"/>
            <a:ext cx="2606040" cy="295351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36024" y="2240280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889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36024" y="2244852"/>
            <a:ext cx="43891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Segoe U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6024" y="276148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52525"/>
                </a:solidFill>
                <a:latin typeface="Segoe UI"/>
              </a:rPr>
              <a:t>HAND OFF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024" y="3310128"/>
            <a:ext cx="2176272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737373"/>
                </a:solidFill>
                <a:latin typeface="Segoe UI"/>
              </a:rPr>
              <a:t>Package recommendations, uncertainty and open questions for a reviewer.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257800"/>
            <a:ext cx="11091672" cy="822960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5468112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CORE PRINCIPLE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376672"/>
            <a:ext cx="9006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Agents advise. Evidence constrains. Humans decide.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SYSTEM PURPOSE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121158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2115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Four workflows, one evidence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A deterministic control plane routes state through specialised agents and durable handoffs.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139696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144268"/>
            <a:ext cx="14173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JD INTAKE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1956816"/>
            <a:ext cx="822960" cy="676656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215798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D4ED8"/>
                </a:solidFill>
                <a:latin typeface="Segoe UI"/>
              </a:rPr>
              <a:t>Load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72384" y="2295144"/>
            <a:ext cx="219455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01568" y="1956816"/>
            <a:ext cx="1234440" cy="676656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3008" y="2157984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D4ED8"/>
                </a:solidFill>
                <a:latin typeface="Segoe UI"/>
              </a:rPr>
              <a:t>JD Agent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90872" y="2295144"/>
            <a:ext cx="219456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0056" y="1956816"/>
            <a:ext cx="960120" cy="676656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11496" y="2157984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D4ED8"/>
                </a:solidFill>
                <a:latin typeface="Segoe UI"/>
              </a:rPr>
              <a:t>Persist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35040" y="2295144"/>
            <a:ext cx="219456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64224" y="1956816"/>
            <a:ext cx="868680" cy="676656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2157984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D4ED8"/>
                </a:solidFill>
                <a:latin typeface="Segoe UI"/>
              </a:rPr>
              <a:t>Index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154680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159252"/>
            <a:ext cx="14173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RESUME INTAKE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2971800"/>
            <a:ext cx="822960" cy="676656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0" y="317296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Load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072384" y="3310128"/>
            <a:ext cx="219455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401568" y="2971800"/>
            <a:ext cx="1371600" cy="676656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93008" y="3172968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Resume Agent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28031" y="3310128"/>
            <a:ext cx="219457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157216" y="2971800"/>
            <a:ext cx="960120" cy="676656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48655" y="3172968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Persist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72199" y="3310128"/>
            <a:ext cx="219456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501383" y="2971800"/>
            <a:ext cx="868680" cy="676656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3" y="3172968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Index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169664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4174236"/>
            <a:ext cx="14173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CANDIDATE ANALYSIS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94560" y="3986784"/>
            <a:ext cx="1143000" cy="676656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0" y="4187952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57D9"/>
                </a:solidFill>
                <a:latin typeface="Segoe UI"/>
              </a:rPr>
              <a:t>Supervisor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392424" y="4325112"/>
            <a:ext cx="219455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3721608" y="3986784"/>
            <a:ext cx="1051560" cy="676656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13048" y="4187952"/>
            <a:ext cx="868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57D9"/>
                </a:solidFill>
                <a:latin typeface="Segoe UI"/>
              </a:rPr>
              <a:t>RAG plan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828032" y="4325112"/>
            <a:ext cx="219456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5157216" y="3986784"/>
            <a:ext cx="1143000" cy="676656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48656" y="4187952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57D9"/>
                </a:solidFill>
                <a:latin typeface="Segoe UI"/>
              </a:rPr>
              <a:t>Gap Agent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355080" y="4325112"/>
            <a:ext cx="219456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684264" y="3986784"/>
            <a:ext cx="1051560" cy="676656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75704" y="4187952"/>
            <a:ext cx="868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57D9"/>
                </a:solidFill>
                <a:latin typeface="Segoe UI"/>
              </a:rPr>
              <a:t>RAG gaps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790688" y="4325112"/>
            <a:ext cx="219456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8119872" y="3986784"/>
            <a:ext cx="1097280" cy="676656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11312" y="4187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6657D9"/>
                </a:solidFill>
                <a:latin typeface="Segoe UI"/>
              </a:rPr>
              <a:t>Question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6928" y="5184648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889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5189220"/>
            <a:ext cx="14173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Segoe UI"/>
              </a:rPr>
              <a:t>TRANSCRIPT REVIEW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5001768"/>
            <a:ext cx="1051560" cy="67665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86000" y="5202936"/>
            <a:ext cx="868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B45309"/>
                </a:solidFill>
                <a:latin typeface="Segoe UI"/>
              </a:rPr>
              <a:t>Eval RAG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300984" y="5340096"/>
            <a:ext cx="219455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3630168" y="5001768"/>
            <a:ext cx="1143000" cy="67665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21607" y="5202936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B45309"/>
                </a:solidFill>
                <a:latin typeface="Segoe UI"/>
              </a:rPr>
              <a:t>Transcript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828031" y="5340096"/>
            <a:ext cx="219457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5157216" y="5001768"/>
            <a:ext cx="1051560" cy="67665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48655" y="5202936"/>
            <a:ext cx="868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B45309"/>
                </a:solidFill>
                <a:latin typeface="Segoe UI"/>
              </a:rPr>
              <a:t>Flag RAG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263639" y="5340096"/>
            <a:ext cx="219456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6592823" y="5001768"/>
            <a:ext cx="1051560" cy="67665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84263" y="5202936"/>
            <a:ext cx="868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B45309"/>
                </a:solidFill>
                <a:latin typeface="Segoe UI"/>
              </a:rPr>
              <a:t>Red Flag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7699248" y="5340096"/>
            <a:ext cx="219456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8028431" y="5001768"/>
            <a:ext cx="1005840" cy="67665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19871" y="520293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B45309"/>
                </a:solidFill>
                <a:latin typeface="Segoe UI"/>
              </a:rPr>
              <a:t>Review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02368" y="196596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37373"/>
                </a:solidFill>
                <a:latin typeface="Segoe UI"/>
              </a:rPr>
              <a:t>Shared services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784080" y="2331720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784080" y="2336291"/>
            <a:ext cx="14173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PGVECTOR MEMORY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784080" y="2953512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84080" y="2958084"/>
            <a:ext cx="14173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REFLEXION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784080" y="3575304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784080" y="3579876"/>
            <a:ext cx="14173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AGENT MEMORY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784080" y="4197096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784080" y="4201668"/>
            <a:ext cx="14173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HUMAN FEEDBACK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WORKFLOW MAP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114300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1430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AGENT ROSTER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Eight agents, deliberately narrow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Specialisation keeps extraction, retrieval, reasoning, validation and review independently observable.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2578608" cy="162763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121408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25980"/>
            <a:ext cx="43891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4203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52525"/>
                </a:solidFill>
                <a:latin typeface="Segoe UI"/>
              </a:rPr>
              <a:t>JD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7180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Requirements extraction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2" y="1938528"/>
            <a:ext cx="2578608" cy="162763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47872" y="2121408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2125980"/>
            <a:ext cx="43891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254203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52525"/>
                </a:solidFill>
                <a:latin typeface="Segoe UI"/>
              </a:rPr>
              <a:t>Resume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97180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Privacy-filtered profile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1938528"/>
            <a:ext cx="2578608" cy="162763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64224" y="2121408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125980"/>
            <a:ext cx="43891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54203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52525"/>
                </a:solidFill>
                <a:latin typeface="Segoe UI"/>
              </a:rPr>
              <a:t>Evidence Retrieval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297180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Intent + semantic context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7696" y="1938528"/>
            <a:ext cx="2578608" cy="162763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80576" y="2121408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889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0576" y="2125980"/>
            <a:ext cx="43891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Segoe U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254203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52525"/>
                </a:solidFill>
                <a:latin typeface="Segoe UI"/>
              </a:rPr>
              <a:t>Gap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297180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Fit reasoning + gaps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840480"/>
            <a:ext cx="2578608" cy="162763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4023360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027932"/>
            <a:ext cx="43891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443984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52525"/>
                </a:solidFill>
                <a:latin typeface="Segoe UI"/>
              </a:rPr>
              <a:t>Question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873752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Targeted interview plan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64992" y="3840480"/>
            <a:ext cx="2578608" cy="162763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547872" y="4023360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47872" y="4027932"/>
            <a:ext cx="43891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7872" y="4443984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52525"/>
                </a:solidFill>
                <a:latin typeface="Segoe UI"/>
              </a:rPr>
              <a:t>Transcript Evaluation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47872" y="4873752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Answer scoring + quotes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81344" y="3840480"/>
            <a:ext cx="2578608" cy="162763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364224" y="4023360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FFF1F2"/>
          </a:solidFill>
          <a:ln w="8890">
            <a:solidFill>
              <a:srgbClr val="FF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64224" y="4027932"/>
            <a:ext cx="43891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BE123C"/>
                </a:solidFill>
                <a:latin typeface="Segoe UI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64224" y="4443984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52525"/>
                </a:solidFill>
                <a:latin typeface="Segoe UI"/>
              </a:rPr>
              <a:t>Red Flag Agent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64224" y="4873752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Case-grounded concerns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97696" y="3840480"/>
            <a:ext cx="2578608" cy="162763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180576" y="4023360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0576" y="4027932"/>
            <a:ext cx="43891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0576" y="4443984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52525"/>
                </a:solidFill>
                <a:latin typeface="Segoe UI"/>
              </a:rPr>
              <a:t>Human Review Agent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80576" y="4873752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Decision packet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ROSTER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148590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4859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SPECIALISED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JD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Turns an unstructured role description into a weighted requirement contract.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960120" cy="4224528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66543"/>
            <a:ext cx="960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15184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AGENT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9808" y="2999232"/>
            <a:ext cx="557784" cy="0"/>
          </a:xfrm>
          <a:prstGeom prst="line">
            <a:avLst/>
          </a:prstGeom>
          <a:ln w="1270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7512" y="3182112"/>
            <a:ext cx="7315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JD intake
load → extract
→ persist → index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19072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901952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01952" y="2089403"/>
            <a:ext cx="8686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CONSUMES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952" y="2542032"/>
            <a:ext cx="2029968" cy="2011680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Input: </a:t>
            </a:r>
            <a:r>
              <a:rPr sz="1230">
                <a:solidFill>
                  <a:srgbClr val="737373"/>
                </a:solidFill>
                <a:latin typeface="Segoe UI"/>
              </a:rPr>
              <a:t>raw job description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Context: </a:t>
            </a:r>
            <a:r>
              <a:rPr sz="1230">
                <a:solidFill>
                  <a:srgbClr val="737373"/>
                </a:solidFill>
                <a:latin typeface="Segoe UI"/>
              </a:rPr>
              <a:t>title, seniority, domain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1920240"/>
            <a:ext cx="3566160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98848" y="2084831"/>
            <a:ext cx="937259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2089403"/>
            <a:ext cx="937259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CORE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542032"/>
            <a:ext cx="3200400" cy="2011680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Extracts </a:t>
            </a:r>
            <a:r>
              <a:rPr sz="1230">
                <a:solidFill>
                  <a:srgbClr val="737373"/>
                </a:solidFill>
                <a:latin typeface="Segoe UI"/>
              </a:rPr>
              <a:t>skills, technologies, experience, certifications and domains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Weights </a:t>
            </a:r>
            <a:r>
              <a:rPr sz="1230">
                <a:solidFill>
                  <a:srgbClr val="737373"/>
                </a:solidFill>
                <a:latin typeface="Segoe UI"/>
              </a:rPr>
              <a:t>importance from 0–100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Classifies </a:t>
            </a:r>
            <a:r>
              <a:rPr sz="1230">
                <a:solidFill>
                  <a:srgbClr val="737373"/>
                </a:solidFill>
                <a:latin typeface="Segoe UI"/>
              </a:rPr>
              <a:t>required vs. nice-to-have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66175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6175" y="2089403"/>
            <a:ext cx="8686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PRODUCES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2542032"/>
            <a:ext cx="2029968" cy="2011680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Structured JD </a:t>
            </a:r>
            <a:r>
              <a:rPr sz="1230">
                <a:solidFill>
                  <a:srgbClr val="737373"/>
                </a:solidFill>
                <a:latin typeface="Segoe UI"/>
              </a:rPr>
              <a:t>validated by Zod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Requirement rows </a:t>
            </a:r>
            <a:r>
              <a:rPr sz="1230">
                <a:solidFill>
                  <a:srgbClr val="737373"/>
                </a:solidFill>
                <a:latin typeface="Segoe UI"/>
              </a:rPr>
              <a:t>for deterministic matching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Privacy-safe vectors </a:t>
            </a:r>
            <a:r>
              <a:rPr sz="1230">
                <a:solidFill>
                  <a:srgbClr val="737373"/>
                </a:solidFill>
                <a:latin typeface="Segoe UI"/>
              </a:rPr>
              <a:t>for retrieval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19072" y="5010912"/>
            <a:ext cx="875995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901952" y="5184648"/>
            <a:ext cx="187451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01952" y="5189220"/>
            <a:ext cx="1874519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GUARDRAILS &amp; ORCHESTRATION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38528" y="5504688"/>
            <a:ext cx="8229600" cy="475488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</a:t>
            </a:r>
            <a:r>
              <a:rPr sz="1130" b="1">
                <a:solidFill>
                  <a:srgbClr val="252525"/>
                </a:solidFill>
                <a:latin typeface="Segoe UI"/>
              </a:rPr>
              <a:t>Structured output — </a:t>
            </a:r>
            <a:r>
              <a:rPr sz="1130">
                <a:solidFill>
                  <a:srgbClr val="737373"/>
                </a:solidFill>
                <a:latin typeface="Segoe UI"/>
              </a:rPr>
              <a:t>prevents free-form drift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</a:t>
            </a:r>
            <a:r>
              <a:rPr sz="1130" b="1">
                <a:solidFill>
                  <a:srgbClr val="252525"/>
                </a:solidFill>
                <a:latin typeface="Segoe UI"/>
              </a:rPr>
              <a:t>Persistence + indexing — </a:t>
            </a:r>
            <a:r>
              <a:rPr sz="1130">
                <a:solidFill>
                  <a:srgbClr val="737373"/>
                </a:solidFill>
                <a:latin typeface="Segoe UI"/>
              </a:rPr>
              <a:t>occur after validation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148590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4859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SPECIALISED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Resume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Builds an anonymous, evidence-bearing candidate profile.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960120" cy="4224528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66543"/>
            <a:ext cx="960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15184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AGENT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9808" y="2999232"/>
            <a:ext cx="557784" cy="0"/>
          </a:xfrm>
          <a:prstGeom prst="line">
            <a:avLst/>
          </a:prstGeom>
          <a:ln w="1270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7512" y="3182112"/>
            <a:ext cx="7315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Resume intake
local contact → redact
→ extract → persist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19072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901952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01952" y="2089403"/>
            <a:ext cx="8686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CONSUMES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952" y="2542032"/>
            <a:ext cx="2029968" cy="2011680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Input: </a:t>
            </a:r>
            <a:r>
              <a:rPr sz="1230">
                <a:solidFill>
                  <a:srgbClr val="737373"/>
                </a:solidFill>
                <a:latin typeface="Segoe UI"/>
              </a:rPr>
              <a:t>resume text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Local fields: </a:t>
            </a:r>
            <a:r>
              <a:rPr sz="1230">
                <a:solidFill>
                  <a:srgbClr val="737373"/>
                </a:solidFill>
                <a:latin typeface="Segoe UI"/>
              </a:rPr>
              <a:t>name, email, phone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1920240"/>
            <a:ext cx="3566160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98848" y="2084831"/>
            <a:ext cx="937259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2089403"/>
            <a:ext cx="937259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CORE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542032"/>
            <a:ext cx="3200400" cy="2011680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Redacts </a:t>
            </a:r>
            <a:r>
              <a:rPr sz="1230">
                <a:solidFill>
                  <a:srgbClr val="737373"/>
                </a:solidFill>
                <a:latin typeface="Segoe UI"/>
              </a:rPr>
              <a:t>identity, contact, URLs, location and institutions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Extracts </a:t>
            </a:r>
            <a:r>
              <a:rPr sz="1230">
                <a:solidFill>
                  <a:srgbClr val="737373"/>
                </a:solidFill>
                <a:latin typeface="Segoe UI"/>
              </a:rPr>
              <a:t>skills with proficiency and evidence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Normalises </a:t>
            </a:r>
            <a:r>
              <a:rPr sz="1230">
                <a:solidFill>
                  <a:srgbClr val="737373"/>
                </a:solidFill>
                <a:latin typeface="Segoe UI"/>
              </a:rPr>
              <a:t>employment, projects and total experience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66175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6175" y="2089403"/>
            <a:ext cx="8686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PRODUCES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2542032"/>
            <a:ext cx="2029968" cy="2011680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Candidate profile </a:t>
            </a:r>
            <a:r>
              <a:rPr sz="1230">
                <a:solidFill>
                  <a:srgbClr val="737373"/>
                </a:solidFill>
                <a:latin typeface="Segoe UI"/>
              </a:rPr>
              <a:t>without outbound PII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Skill evidence </a:t>
            </a:r>
            <a:r>
              <a:rPr sz="1230">
                <a:solidFill>
                  <a:srgbClr val="737373"/>
                </a:solidFill>
                <a:latin typeface="Segoe UI"/>
              </a:rPr>
              <a:t>for matching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Anonymous vectors </a:t>
            </a:r>
            <a:r>
              <a:rPr sz="1230">
                <a:solidFill>
                  <a:srgbClr val="737373"/>
                </a:solidFill>
                <a:latin typeface="Segoe UI"/>
              </a:rPr>
              <a:t>for future retrieval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19072" y="5010912"/>
            <a:ext cx="875995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901952" y="5184648"/>
            <a:ext cx="187451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01952" y="5189220"/>
            <a:ext cx="1874519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GUARDRAILS &amp; ORCHESTRATION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38528" y="5504688"/>
            <a:ext cx="8229600" cy="475488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</a:t>
            </a:r>
            <a:r>
              <a:rPr sz="1130" b="1">
                <a:solidFill>
                  <a:srgbClr val="252525"/>
                </a:solidFill>
                <a:latin typeface="Segoe UI"/>
              </a:rPr>
              <a:t>Original source — </a:t>
            </a:r>
            <a:r>
              <a:rPr sz="1130">
                <a:solidFill>
                  <a:srgbClr val="737373"/>
                </a:solidFill>
                <a:latin typeface="Segoe UI"/>
              </a:rPr>
              <a:t>retained for authorised users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</a:t>
            </a:r>
            <a:r>
              <a:rPr sz="1130" b="1">
                <a:solidFill>
                  <a:srgbClr val="252525"/>
                </a:solidFill>
                <a:latin typeface="Segoe UI"/>
              </a:rPr>
              <a:t>Demo preview — </a:t>
            </a:r>
            <a:r>
              <a:rPr sz="1130">
                <a:solidFill>
                  <a:srgbClr val="737373"/>
                </a:solidFill>
                <a:latin typeface="Segoe UI"/>
              </a:rPr>
              <a:t>masked before display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</a:t>
            </a:r>
            <a:r>
              <a:rPr sz="1130" b="1">
                <a:solidFill>
                  <a:srgbClr val="252525"/>
                </a:solidFill>
                <a:latin typeface="Segoe UI"/>
              </a:rPr>
              <a:t>AI boundary — </a:t>
            </a:r>
            <a:r>
              <a:rPr sz="1130">
                <a:solidFill>
                  <a:srgbClr val="737373"/>
                </a:solidFill>
                <a:latin typeface="Segoe UI"/>
              </a:rPr>
              <a:t>always centrally sanitised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148590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4859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SPECIALISED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Evidence Retrieval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Resolves intent before retrieving semantic context for reasoning.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960120" cy="4224528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66543"/>
            <a:ext cx="960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15184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AGENT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9808" y="2999232"/>
            <a:ext cx="557784" cy="0"/>
          </a:xfrm>
          <a:prstGeom prst="line">
            <a:avLst/>
          </a:prstGeom>
          <a:ln w="1270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7512" y="3182112"/>
            <a:ext cx="7315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Agentic RAG
intent → multi-query
→ rank → reason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19072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901952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01952" y="2089403"/>
            <a:ext cx="8686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CONSUMES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952" y="2542032"/>
            <a:ext cx="2029968" cy="2011680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Purpose: </a:t>
            </a:r>
            <a:r>
              <a:rPr sz="1230">
                <a:solidFill>
                  <a:srgbClr val="737373"/>
                </a:solidFill>
                <a:latin typeface="Segoe UI"/>
              </a:rPr>
              <a:t>candidate fit, gap validation, interview evaluation or red flags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Sources: </a:t>
            </a:r>
            <a:r>
              <a:rPr sz="1230">
                <a:solidFill>
                  <a:srgbClr val="737373"/>
                </a:solidFill>
                <a:latin typeface="Segoe UI"/>
              </a:rPr>
              <a:t>knowledge entries + evaluations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1920240"/>
            <a:ext cx="3566160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98848" y="2084831"/>
            <a:ext cx="937259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2089403"/>
            <a:ext cx="937259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CORE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542032"/>
            <a:ext cx="3200400" cy="2011680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Plans </a:t>
            </a:r>
            <a:r>
              <a:rPr sz="1230">
                <a:solidFill>
                  <a:srgbClr val="737373"/>
                </a:solidFill>
                <a:latin typeface="Segoe UI"/>
              </a:rPr>
              <a:t>2–4 privacy-safe semantic queries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Searches </a:t>
            </a:r>
            <a:r>
              <a:rPr sz="1230">
                <a:solidFill>
                  <a:srgbClr val="737373"/>
                </a:solidFill>
                <a:latin typeface="Segoe UI"/>
              </a:rPr>
              <a:t>pgvector for comparable outcomes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Deduplicates </a:t>
            </a:r>
            <a:r>
              <a:rPr sz="1230">
                <a:solidFill>
                  <a:srgbClr val="737373"/>
                </a:solidFill>
                <a:latin typeface="Segoe UI"/>
              </a:rPr>
              <a:t>by case owner and ranks similarity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Returns </a:t>
            </a:r>
            <a:r>
              <a:rPr sz="1230">
                <a:solidFill>
                  <a:srgbClr val="737373"/>
                </a:solidFill>
                <a:latin typeface="Segoe UI"/>
              </a:rPr>
              <a:t>stable case IDs, excerpts and outcomes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66175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6175" y="2089403"/>
            <a:ext cx="8686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PRODUCES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2542032"/>
            <a:ext cx="2029968" cy="2011680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Grounding packet </a:t>
            </a:r>
            <a:r>
              <a:rPr sz="1230">
                <a:solidFill>
                  <a:srgbClr val="737373"/>
                </a:solidFill>
                <a:latin typeface="Segoe UI"/>
              </a:rPr>
              <a:t>injected into reasoning prompts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Retrieval trace </a:t>
            </a:r>
            <a:r>
              <a:rPr sz="1230">
                <a:solidFill>
                  <a:srgbClr val="737373"/>
                </a:solidFill>
                <a:latin typeface="Segoe UI"/>
              </a:rPr>
              <a:t>intent + winning query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Fallback plan </a:t>
            </a:r>
            <a:r>
              <a:rPr sz="1230">
                <a:solidFill>
                  <a:srgbClr val="737373"/>
                </a:solidFill>
                <a:latin typeface="Segoe UI"/>
              </a:rPr>
              <a:t>if intent planning fails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19072" y="5010912"/>
            <a:ext cx="875995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901952" y="5184648"/>
            <a:ext cx="187451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01952" y="5189220"/>
            <a:ext cx="1874519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GUARDRAILS &amp; ORCHESTRATION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38528" y="5504688"/>
            <a:ext cx="8229600" cy="475488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</a:t>
            </a:r>
            <a:r>
              <a:rPr sz="1130" b="1">
                <a:solidFill>
                  <a:srgbClr val="252525"/>
                </a:solidFill>
                <a:latin typeface="Segoe UI"/>
              </a:rPr>
              <a:t>No hiring answer — </a:t>
            </a:r>
            <a:r>
              <a:rPr sz="1130">
                <a:solidFill>
                  <a:srgbClr val="737373"/>
                </a:solidFill>
                <a:latin typeface="Segoe UI"/>
              </a:rPr>
              <a:t>during planning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</a:t>
            </a:r>
            <a:r>
              <a:rPr sz="1130" b="1">
                <a:solidFill>
                  <a:srgbClr val="252525"/>
                </a:solidFill>
                <a:latin typeface="Segoe UI"/>
              </a:rPr>
              <a:t>Current candidate — </a:t>
            </a:r>
            <a:r>
              <a:rPr sz="1130">
                <a:solidFill>
                  <a:srgbClr val="737373"/>
                </a:solidFill>
                <a:latin typeface="Segoe UI"/>
              </a:rPr>
              <a:t>excluded from own precedent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</a:t>
            </a:r>
            <a:r>
              <a:rPr sz="1130" b="1">
                <a:solidFill>
                  <a:srgbClr val="252525"/>
                </a:solidFill>
                <a:latin typeface="Segoe UI"/>
              </a:rPr>
              <a:t>PII — </a:t>
            </a:r>
            <a:r>
              <a:rPr sz="1130">
                <a:solidFill>
                  <a:srgbClr val="737373"/>
                </a:solidFill>
                <a:latin typeface="Segoe UI"/>
              </a:rPr>
              <a:t>redacted before planning and embedding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148590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4859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SPECIALISED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Gap Analysis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Combines deterministic coverage with qualitative fit reasoning.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960120" cy="4224528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66543"/>
            <a:ext cx="960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15184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AGENT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9808" y="2999232"/>
            <a:ext cx="557784" cy="0"/>
          </a:xfrm>
          <a:prstGeom prst="line">
            <a:avLst/>
          </a:prstGeom>
          <a:ln w="1270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7512" y="3182112"/>
            <a:ext cx="7315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Candidate analysis
coverage + evidence
→ reason → gaps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19072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901952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889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01952" y="2089403"/>
            <a:ext cx="8686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Segoe UI"/>
              </a:rPr>
              <a:t>CONSUMES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952" y="2542032"/>
            <a:ext cx="2029968" cy="2011680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Job: </a:t>
            </a:r>
            <a:r>
              <a:rPr sz="1230">
                <a:solidFill>
                  <a:srgbClr val="737373"/>
                </a:solidFill>
                <a:latin typeface="Segoe UI"/>
              </a:rPr>
              <a:t>weighted requirements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Candidate: </a:t>
            </a:r>
            <a:r>
              <a:rPr sz="1230">
                <a:solidFill>
                  <a:srgbClr val="737373"/>
                </a:solidFill>
                <a:latin typeface="Segoe UI"/>
              </a:rPr>
              <a:t>skills + evidence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Context: </a:t>
            </a:r>
            <a:r>
              <a:rPr sz="1230">
                <a:solidFill>
                  <a:srgbClr val="737373"/>
                </a:solidFill>
                <a:latin typeface="Segoe UI"/>
              </a:rPr>
              <a:t>peer summary, RAG cases, calibration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1920240"/>
            <a:ext cx="3566160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98848" y="2084831"/>
            <a:ext cx="937259" cy="29260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889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2089403"/>
            <a:ext cx="937259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Segoe UI"/>
              </a:rPr>
              <a:t>CORE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542032"/>
            <a:ext cx="3200400" cy="2011680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Compares </a:t>
            </a:r>
            <a:r>
              <a:rPr sz="1230">
                <a:solidFill>
                  <a:srgbClr val="737373"/>
                </a:solidFill>
                <a:latin typeface="Segoe UI"/>
              </a:rPr>
              <a:t>strengths, partial matches and missing skills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Explains </a:t>
            </a:r>
            <a:r>
              <a:rPr sz="1230">
                <a:solidFill>
                  <a:srgbClr val="737373"/>
                </a:solidFill>
                <a:latin typeface="Segoe UI"/>
              </a:rPr>
              <a:t>match score and verdict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Identifies </a:t>
            </a:r>
            <a:r>
              <a:rPr sz="1230">
                <a:solidFill>
                  <a:srgbClr val="737373"/>
                </a:solidFill>
                <a:latin typeface="Segoe UI"/>
              </a:rPr>
              <a:t>areas requiring interview validation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Differentiates </a:t>
            </a:r>
            <a:r>
              <a:rPr sz="1230">
                <a:solidFill>
                  <a:srgbClr val="737373"/>
                </a:solidFill>
                <a:latin typeface="Segoe UI"/>
              </a:rPr>
              <a:t>against up to five pipeline peers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66175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889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6175" y="2089403"/>
            <a:ext cx="8686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Segoe UI"/>
              </a:rPr>
              <a:t>PRODUCES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2542032"/>
            <a:ext cx="2029968" cy="2011680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Match analysis </a:t>
            </a:r>
            <a:r>
              <a:rPr sz="1230">
                <a:solidFill>
                  <a:srgbClr val="737373"/>
                </a:solidFill>
                <a:latin typeface="Segoe UI"/>
              </a:rPr>
              <a:t>score + verdict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Gap set </a:t>
            </a:r>
            <a:r>
              <a:rPr sz="1230">
                <a:solidFill>
                  <a:srgbClr val="737373"/>
                </a:solidFill>
                <a:latin typeface="Segoe UI"/>
              </a:rPr>
              <a:t>severity and importance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Validation areas </a:t>
            </a:r>
            <a:r>
              <a:rPr sz="1230">
                <a:solidFill>
                  <a:srgbClr val="737373"/>
                </a:solidFill>
                <a:latin typeface="Segoe UI"/>
              </a:rPr>
              <a:t>for the Question Agent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19072" y="5010912"/>
            <a:ext cx="875995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901952" y="5184648"/>
            <a:ext cx="187451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01952" y="5189220"/>
            <a:ext cx="1874519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GUARDRAILS &amp; ORCHESTRATION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38528" y="5504688"/>
            <a:ext cx="8229600" cy="475488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</a:t>
            </a:r>
            <a:r>
              <a:rPr sz="1130" b="1">
                <a:solidFill>
                  <a:srgbClr val="252525"/>
                </a:solidFill>
                <a:latin typeface="Segoe UI"/>
              </a:rPr>
              <a:t>Supervisor depth — </a:t>
            </a:r>
            <a:r>
              <a:rPr sz="1130">
                <a:solidFill>
                  <a:srgbClr val="737373"/>
                </a:solidFill>
                <a:latin typeface="Segoe UI"/>
              </a:rPr>
              <a:t>minimal / standard / deep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</a:t>
            </a:r>
            <a:r>
              <a:rPr sz="1130" b="1">
                <a:solidFill>
                  <a:srgbClr val="252525"/>
                </a:solidFill>
                <a:latin typeface="Segoe UI"/>
              </a:rPr>
              <a:t>Coverage anchor — </a:t>
            </a:r>
            <a:r>
              <a:rPr sz="1130">
                <a:solidFill>
                  <a:srgbClr val="737373"/>
                </a:solidFill>
                <a:latin typeface="Segoe UI"/>
              </a:rPr>
              <a:t>limits model drift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</a:t>
            </a:r>
            <a:r>
              <a:rPr sz="1130" b="1">
                <a:solidFill>
                  <a:srgbClr val="252525"/>
                </a:solidFill>
                <a:latin typeface="Segoe UI"/>
              </a:rPr>
              <a:t>Memory notes — </a:t>
            </a:r>
            <a:r>
              <a:rPr sz="1130">
                <a:solidFill>
                  <a:srgbClr val="737373"/>
                </a:solidFill>
                <a:latin typeface="Segoe UI"/>
              </a:rPr>
              <a:t>adjust recurring blind spots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148590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4859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SPECIALISED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Question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Converts verified gaps into an interview validation plan.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960120" cy="4224528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66543"/>
            <a:ext cx="960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15184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AGENT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9808" y="2999232"/>
            <a:ext cx="557784" cy="0"/>
          </a:xfrm>
          <a:prstGeom prst="line">
            <a:avLst/>
          </a:prstGeom>
          <a:ln w="1270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7512" y="3182112"/>
            <a:ext cx="7315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Candidate analysis
gaps + precedent
→ targeted questions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19072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901952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01952" y="2089403"/>
            <a:ext cx="8686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CONSUMES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952" y="2542032"/>
            <a:ext cx="2029968" cy="2011680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Input: </a:t>
            </a:r>
            <a:r>
              <a:rPr sz="1230">
                <a:solidFill>
                  <a:srgbClr val="737373"/>
                </a:solidFill>
                <a:latin typeface="Segoe UI"/>
              </a:rPr>
              <a:t>gap analysis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Grounding: </a:t>
            </a:r>
            <a:r>
              <a:rPr sz="1230">
                <a:solidFill>
                  <a:srgbClr val="737373"/>
                </a:solidFill>
                <a:latin typeface="Segoe UI"/>
              </a:rPr>
              <a:t>targeted gap-evidence cases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Profile: </a:t>
            </a:r>
            <a:r>
              <a:rPr sz="1230">
                <a:solidFill>
                  <a:srgbClr val="737373"/>
                </a:solidFill>
                <a:latin typeface="Segoe UI"/>
              </a:rPr>
              <a:t>candidate history + role needs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1920240"/>
            <a:ext cx="3566160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98848" y="2084831"/>
            <a:ext cx="937259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2089403"/>
            <a:ext cx="937259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CORE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542032"/>
            <a:ext cx="3200400" cy="2011680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Generates </a:t>
            </a:r>
            <a:r>
              <a:rPr sz="1230">
                <a:solidFill>
                  <a:srgbClr val="737373"/>
                </a:solidFill>
                <a:latin typeface="Segoe UI"/>
              </a:rPr>
              <a:t>screening, technical, gap and experience questions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Targets </a:t>
            </a:r>
            <a:r>
              <a:rPr sz="1230">
                <a:solidFill>
                  <a:srgbClr val="737373"/>
                </a:solidFill>
                <a:latin typeface="Segoe UI"/>
              </a:rPr>
              <a:t>strong claims, uncertainty and missing evidence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Defines </a:t>
            </a:r>
            <a:r>
              <a:rPr sz="1230">
                <a:solidFill>
                  <a:srgbClr val="737373"/>
                </a:solidFill>
                <a:latin typeface="Segoe UI"/>
              </a:rPr>
              <a:t>expected signals and rationale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Calibrates </a:t>
            </a:r>
            <a:r>
              <a:rPr sz="1230">
                <a:solidFill>
                  <a:srgbClr val="737373"/>
                </a:solidFill>
                <a:latin typeface="Segoe UI"/>
              </a:rPr>
              <a:t>difficulty to role and candidate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66175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6175" y="2089403"/>
            <a:ext cx="8686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PRODUCES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2542032"/>
            <a:ext cx="2029968" cy="2011680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Question set </a:t>
            </a:r>
            <a:r>
              <a:rPr sz="1230">
                <a:solidFill>
                  <a:srgbClr val="737373"/>
                </a:solidFill>
                <a:latin typeface="Segoe UI"/>
              </a:rPr>
              <a:t>candidate-specific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Expected signals </a:t>
            </a:r>
            <a:r>
              <a:rPr sz="1230">
                <a:solidFill>
                  <a:srgbClr val="737373"/>
                </a:solidFill>
                <a:latin typeface="Segoe UI"/>
              </a:rPr>
              <a:t>for later scoring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Rationale </a:t>
            </a:r>
            <a:r>
              <a:rPr sz="1230">
                <a:solidFill>
                  <a:srgbClr val="737373"/>
                </a:solidFill>
                <a:latin typeface="Segoe UI"/>
              </a:rPr>
              <a:t>why each question matters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19072" y="5010912"/>
            <a:ext cx="875995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901952" y="5184648"/>
            <a:ext cx="187451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01952" y="5189220"/>
            <a:ext cx="1874519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GUARDRAILS &amp; ORCHESTRATION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38528" y="5504688"/>
            <a:ext cx="8229600" cy="475488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</a:t>
            </a:r>
            <a:r>
              <a:rPr sz="1130" b="1">
                <a:solidFill>
                  <a:srgbClr val="252525"/>
                </a:solidFill>
                <a:latin typeface="Segoe UI"/>
              </a:rPr>
              <a:t>No generic bank dump — </a:t>
            </a:r>
            <a:r>
              <a:rPr sz="1130">
                <a:solidFill>
                  <a:srgbClr val="737373"/>
                </a:solidFill>
                <a:latin typeface="Segoe UI"/>
              </a:rPr>
              <a:t>questions follow observed evidence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</a:t>
            </a:r>
            <a:r>
              <a:rPr sz="1130" b="1">
                <a:solidFill>
                  <a:srgbClr val="252525"/>
                </a:solidFill>
                <a:latin typeface="Segoe UI"/>
              </a:rPr>
              <a:t>Persisted set — </a:t>
            </a:r>
            <a:r>
              <a:rPr sz="1130">
                <a:solidFill>
                  <a:srgbClr val="737373"/>
                </a:solidFill>
                <a:latin typeface="Segoe UI"/>
              </a:rPr>
              <a:t>becomes reusable and retrievable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148590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4859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SPECIALISED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Transcript Evaluation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Scores demonstrated interview evidence against expected signals.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960120" cy="4224528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66543"/>
            <a:ext cx="960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15184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AGENT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9808" y="2999232"/>
            <a:ext cx="557784" cy="0"/>
          </a:xfrm>
          <a:prstGeom prst="line">
            <a:avLst/>
          </a:prstGeom>
          <a:ln w="1270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7512" y="3182112"/>
            <a:ext cx="7315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Transcript review
questions + transcript
→ score + validate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19072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901952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01952" y="2089403"/>
            <a:ext cx="8686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CONSUMES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952" y="2542032"/>
            <a:ext cx="2029968" cy="2011680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Input: </a:t>
            </a:r>
            <a:r>
              <a:rPr sz="1230">
                <a:solidFill>
                  <a:srgbClr val="737373"/>
                </a:solidFill>
                <a:latin typeface="Segoe UI"/>
              </a:rPr>
              <a:t>raw transcript + participants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Plan: </a:t>
            </a:r>
            <a:r>
              <a:rPr sz="1230">
                <a:solidFill>
                  <a:srgbClr val="737373"/>
                </a:solidFill>
                <a:latin typeface="Segoe UI"/>
              </a:rPr>
              <a:t>question set + expected signals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RAG: </a:t>
            </a:r>
            <a:r>
              <a:rPr sz="1230">
                <a:solidFill>
                  <a:srgbClr val="737373"/>
                </a:solidFill>
                <a:latin typeface="Segoe UI"/>
              </a:rPr>
              <a:t>interview-evaluation cases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1920240"/>
            <a:ext cx="3566160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98848" y="2084831"/>
            <a:ext cx="937259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2089403"/>
            <a:ext cx="937259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CORE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542032"/>
            <a:ext cx="3200400" cy="2011680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Scores </a:t>
            </a:r>
            <a:r>
              <a:rPr sz="1230">
                <a:solidFill>
                  <a:srgbClr val="737373"/>
                </a:solidFill>
                <a:latin typeface="Segoe UI"/>
              </a:rPr>
              <a:t>technical depth and communication separately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Maps </a:t>
            </a:r>
            <a:r>
              <a:rPr sz="1230">
                <a:solidFill>
                  <a:srgbClr val="737373"/>
                </a:solidFill>
                <a:latin typeface="Segoe UI"/>
              </a:rPr>
              <a:t>signals hit and missed per question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Quotes </a:t>
            </a:r>
            <a:r>
              <a:rPr sz="1230">
                <a:solidFill>
                  <a:srgbClr val="737373"/>
                </a:solidFill>
                <a:latin typeface="Segoe UI"/>
              </a:rPr>
              <a:t>the transcript for every judgement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Retries </a:t>
            </a:r>
            <a:r>
              <a:rPr sz="1230">
                <a:solidFill>
                  <a:srgbClr val="737373"/>
                </a:solidFill>
                <a:latin typeface="Segoe UI"/>
              </a:rPr>
              <a:t>when validation detects unsupported quotes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66175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6175" y="2089403"/>
            <a:ext cx="8686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PRODUCES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2542032"/>
            <a:ext cx="2029968" cy="2011680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0–10 ratings </a:t>
            </a:r>
            <a:r>
              <a:rPr sz="1230">
                <a:solidFill>
                  <a:srgbClr val="737373"/>
                </a:solidFill>
                <a:latin typeface="Segoe UI"/>
              </a:rPr>
              <a:t>technical, communication, overall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Answer breakdown </a:t>
            </a:r>
            <a:r>
              <a:rPr sz="1230">
                <a:solidFill>
                  <a:srgbClr val="737373"/>
                </a:solidFill>
                <a:latin typeface="Segoe UI"/>
              </a:rPr>
              <a:t>question by question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Recommendation </a:t>
            </a:r>
            <a:r>
              <a:rPr sz="1230">
                <a:solidFill>
                  <a:srgbClr val="737373"/>
                </a:solidFill>
                <a:latin typeface="Segoe UI"/>
              </a:rPr>
              <a:t>with rationale and evidence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19072" y="5010912"/>
            <a:ext cx="875995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901952" y="5184648"/>
            <a:ext cx="187451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01952" y="5189220"/>
            <a:ext cx="1874519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GUARDRAILS &amp; ORCHESTRATION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38528" y="5504688"/>
            <a:ext cx="8229600" cy="475488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</a:t>
            </a:r>
            <a:r>
              <a:rPr sz="1130" b="1">
                <a:solidFill>
                  <a:srgbClr val="252525"/>
                </a:solidFill>
                <a:latin typeface="Segoe UI"/>
              </a:rPr>
              <a:t>Quote validator — </a:t>
            </a:r>
            <a:r>
              <a:rPr sz="1130">
                <a:solidFill>
                  <a:srgbClr val="737373"/>
                </a:solidFill>
                <a:latin typeface="Segoe UI"/>
              </a:rPr>
              <a:t>checks source text mechanically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</a:t>
            </a:r>
            <a:r>
              <a:rPr sz="1130" b="1">
                <a:solidFill>
                  <a:srgbClr val="252525"/>
                </a:solidFill>
                <a:latin typeface="Segoe UI"/>
              </a:rPr>
              <a:t>Reflexion — </a:t>
            </a:r>
            <a:r>
              <a:rPr sz="1130">
                <a:solidFill>
                  <a:srgbClr val="737373"/>
                </a:solidFill>
                <a:latin typeface="Segoe UI"/>
              </a:rPr>
              <a:t>maximum two attempts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</a:t>
            </a:r>
            <a:r>
              <a:rPr sz="1130" b="1">
                <a:solidFill>
                  <a:srgbClr val="252525"/>
                </a:solidFill>
                <a:latin typeface="Segoe UI"/>
              </a:rPr>
              <a:t>Durable artifact — </a:t>
            </a:r>
            <a:r>
              <a:rPr sz="1130">
                <a:solidFill>
                  <a:srgbClr val="737373"/>
                </a:solidFill>
                <a:latin typeface="Segoe UI"/>
              </a:rPr>
              <a:t>versioned and auditable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148590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4859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SPECIALISED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Red Flag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Surfaces only concerns grounded in candidate evidence and precedent.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960120" cy="4224528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66543"/>
            <a:ext cx="960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15184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AGENT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9808" y="2999232"/>
            <a:ext cx="557784" cy="0"/>
          </a:xfrm>
          <a:prstGeom prst="line">
            <a:avLst/>
          </a:prstGeom>
          <a:ln w="1270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7512" y="3182112"/>
            <a:ext cx="7315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Transcript review
flag RAG → detect
→ ground → validate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19072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901952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FFF1F2"/>
          </a:solidFill>
          <a:ln w="8890">
            <a:solidFill>
              <a:srgbClr val="FF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01952" y="2089403"/>
            <a:ext cx="8686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BE123C"/>
                </a:solidFill>
                <a:latin typeface="Segoe UI"/>
              </a:rPr>
              <a:t>CONSUMES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952" y="2542032"/>
            <a:ext cx="2029968" cy="2011680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Input: </a:t>
            </a:r>
            <a:r>
              <a:rPr sz="1230">
                <a:solidFill>
                  <a:srgbClr val="737373"/>
                </a:solidFill>
                <a:latin typeface="Segoe UI"/>
              </a:rPr>
              <a:t>resume claims + transcript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RAG: </a:t>
            </a:r>
            <a:r>
              <a:rPr sz="1230">
                <a:solidFill>
                  <a:srgbClr val="737373"/>
                </a:solidFill>
                <a:latin typeface="Segoe UI"/>
              </a:rPr>
              <a:t>dedicated red-flag precedents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Context: </a:t>
            </a:r>
            <a:r>
              <a:rPr sz="1230">
                <a:solidFill>
                  <a:srgbClr val="737373"/>
                </a:solidFill>
                <a:latin typeface="Segoe UI"/>
              </a:rPr>
              <a:t>role requirements + calibration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1920240"/>
            <a:ext cx="3566160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98848" y="2084831"/>
            <a:ext cx="937259" cy="292608"/>
          </a:xfrm>
          <a:prstGeom prst="roundRect">
            <a:avLst>
              <a:gd name="adj" fmla="val 12000"/>
            </a:avLst>
          </a:prstGeom>
          <a:solidFill>
            <a:srgbClr val="FFF1F2"/>
          </a:solidFill>
          <a:ln w="8890">
            <a:solidFill>
              <a:srgbClr val="FF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2089403"/>
            <a:ext cx="937259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BE123C"/>
                </a:solidFill>
                <a:latin typeface="Segoe UI"/>
              </a:rPr>
              <a:t>CORE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542032"/>
            <a:ext cx="3200400" cy="2011680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Checks </a:t>
            </a:r>
            <a:r>
              <a:rPr sz="1230">
                <a:solidFill>
                  <a:srgbClr val="737373"/>
                </a:solidFill>
                <a:latin typeface="Segoe UI"/>
              </a:rPr>
              <a:t>seniority, project depth, contradictions, claims and timelines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Requires </a:t>
            </a:r>
            <a:r>
              <a:rPr sz="1230">
                <a:solidFill>
                  <a:srgbClr val="737373"/>
                </a:solidFill>
                <a:latin typeface="Segoe UI"/>
              </a:rPr>
              <a:t>direct source quote for each flag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Cites </a:t>
            </a:r>
            <a:r>
              <a:rPr sz="1230">
                <a:solidFill>
                  <a:srgbClr val="737373"/>
                </a:solidFill>
                <a:latin typeface="Segoe UI"/>
              </a:rPr>
              <a:t>retrieved case ID + relevance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Frames </a:t>
            </a:r>
            <a:r>
              <a:rPr sz="1230">
                <a:solidFill>
                  <a:srgbClr val="737373"/>
                </a:solidFill>
                <a:latin typeface="Segoe UI"/>
              </a:rPr>
              <a:t>every concern as something to verify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66175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FFF1F2"/>
          </a:solidFill>
          <a:ln w="8890">
            <a:solidFill>
              <a:srgbClr val="FF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6175" y="2089403"/>
            <a:ext cx="8686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BE123C"/>
                </a:solidFill>
                <a:latin typeface="Segoe UI"/>
              </a:rPr>
              <a:t>PRODUCES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2542032"/>
            <a:ext cx="2029968" cy="2011680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GREEN / YELLOW / RED </a:t>
            </a:r>
            <a:r>
              <a:rPr sz="1230">
                <a:solidFill>
                  <a:srgbClr val="737373"/>
                </a:solidFill>
                <a:latin typeface="Segoe UI"/>
              </a:rPr>
              <a:t>advisory severity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Evidence bundle </a:t>
            </a:r>
            <a:r>
              <a:rPr sz="1230">
                <a:solidFill>
                  <a:srgbClr val="737373"/>
                </a:solidFill>
                <a:latin typeface="Segoe UI"/>
              </a:rPr>
              <a:t>source quotes + precedent IDs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Follow-up concern </a:t>
            </a:r>
            <a:r>
              <a:rPr sz="1230">
                <a:solidFill>
                  <a:srgbClr val="737373"/>
                </a:solidFill>
                <a:latin typeface="Segoe UI"/>
              </a:rPr>
              <a:t>never an automatic rejection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19072" y="5010912"/>
            <a:ext cx="875995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901952" y="5184648"/>
            <a:ext cx="187451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01952" y="5189220"/>
            <a:ext cx="1874519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GUARDRAILS &amp; ORCHESTRATION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38528" y="5504688"/>
            <a:ext cx="8229600" cy="475488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</a:t>
            </a:r>
            <a:r>
              <a:rPr sz="1130" b="1">
                <a:solidFill>
                  <a:srgbClr val="252525"/>
                </a:solidFill>
                <a:latin typeface="Segoe UI"/>
              </a:rPr>
              <a:t>Mechanical validation — </a:t>
            </a:r>
            <a:r>
              <a:rPr sz="1130">
                <a:solidFill>
                  <a:srgbClr val="737373"/>
                </a:solidFill>
                <a:latin typeface="Segoe UI"/>
              </a:rPr>
              <a:t>quote exists in claimed source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</a:t>
            </a:r>
            <a:r>
              <a:rPr sz="1130" b="1">
                <a:solidFill>
                  <a:srgbClr val="252525"/>
                </a:solidFill>
                <a:latin typeface="Segoe UI"/>
              </a:rPr>
              <a:t>Case validation — </a:t>
            </a:r>
            <a:r>
              <a:rPr sz="1130">
                <a:solidFill>
                  <a:srgbClr val="737373"/>
                </a:solidFill>
                <a:latin typeface="Segoe UI"/>
              </a:rPr>
              <a:t>ID must be actually retrieved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</a:t>
            </a:r>
            <a:r>
              <a:rPr sz="1130" b="1">
                <a:solidFill>
                  <a:srgbClr val="252525"/>
                </a:solidFill>
                <a:latin typeface="Segoe UI"/>
              </a:rPr>
              <a:t>Reflexion — </a:t>
            </a:r>
            <a:r>
              <a:rPr sz="1130">
                <a:solidFill>
                  <a:srgbClr val="737373"/>
                </a:solidFill>
                <a:latin typeface="Segoe UI"/>
              </a:rPr>
              <a:t>retries invalid grounding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148590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4859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SPECIALISED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Human Review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Synthesises evidence into a decision packet—not a decision.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960120" cy="4224528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66543"/>
            <a:ext cx="960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15184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AGENT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9808" y="2999232"/>
            <a:ext cx="557784" cy="0"/>
          </a:xfrm>
          <a:prstGeom prst="line">
            <a:avLst/>
          </a:prstGeom>
          <a:ln w="1270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7512" y="3182112"/>
            <a:ext cx="7315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Review synthesis
validated artifacts
→ human packet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19072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901952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01952" y="2089403"/>
            <a:ext cx="8686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CONSUMES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952" y="2542032"/>
            <a:ext cx="2029968" cy="2011680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Inputs: </a:t>
            </a:r>
            <a:r>
              <a:rPr sz="1230">
                <a:solidFill>
                  <a:srgbClr val="737373"/>
                </a:solidFill>
                <a:latin typeface="Segoe UI"/>
              </a:rPr>
              <a:t>match, transcript evaluation, flags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Context: </a:t>
            </a:r>
            <a:r>
              <a:rPr sz="1230">
                <a:solidFill>
                  <a:srgbClr val="737373"/>
                </a:solidFill>
                <a:latin typeface="Segoe UI"/>
              </a:rPr>
              <a:t>comparable cases + reviewer memory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1920240"/>
            <a:ext cx="3566160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98848" y="2084831"/>
            <a:ext cx="937259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2089403"/>
            <a:ext cx="937259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CORE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542032"/>
            <a:ext cx="3200400" cy="2011680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Weighs </a:t>
            </a:r>
            <a:r>
              <a:rPr sz="1230">
                <a:solidFill>
                  <a:srgbClr val="737373"/>
                </a:solidFill>
                <a:latin typeface="Segoe UI"/>
              </a:rPr>
              <a:t>scores, concerns and uncertainty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Summarises </a:t>
            </a:r>
            <a:r>
              <a:rPr sz="1230">
                <a:solidFill>
                  <a:srgbClr val="737373"/>
                </a:solidFill>
                <a:latin typeface="Segoe UI"/>
              </a:rPr>
              <a:t>key evidence and unresolved questions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Explains </a:t>
            </a:r>
            <a:r>
              <a:rPr sz="1230">
                <a:solidFill>
                  <a:srgbClr val="737373"/>
                </a:solidFill>
                <a:latin typeface="Segoe UI"/>
              </a:rPr>
              <a:t>why precedent is relevant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Routes </a:t>
            </a:r>
            <a:r>
              <a:rPr sz="1230">
                <a:solidFill>
                  <a:srgbClr val="737373"/>
                </a:solidFill>
                <a:latin typeface="Segoe UI"/>
              </a:rPr>
              <a:t>final judgement to a person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66175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6175" y="2089403"/>
            <a:ext cx="8686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PRODUCES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2542032"/>
            <a:ext cx="2029968" cy="2011680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Recommendation </a:t>
            </a:r>
            <a:r>
              <a:rPr sz="1230">
                <a:solidFill>
                  <a:srgbClr val="737373"/>
                </a:solidFill>
                <a:latin typeface="Segoe UI"/>
              </a:rPr>
              <a:t>advance / hold / reject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Headline + reasoning </a:t>
            </a:r>
            <a:r>
              <a:rPr sz="1230">
                <a:solidFill>
                  <a:srgbClr val="737373"/>
                </a:solidFill>
                <a:latin typeface="Segoe UI"/>
              </a:rPr>
              <a:t>review-ready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</a:t>
            </a:r>
            <a:r>
              <a:rPr sz="1230" b="1">
                <a:solidFill>
                  <a:srgbClr val="252525"/>
                </a:solidFill>
                <a:latin typeface="Segoe UI"/>
              </a:rPr>
              <a:t>Open questions </a:t>
            </a:r>
            <a:r>
              <a:rPr sz="1230">
                <a:solidFill>
                  <a:srgbClr val="737373"/>
                </a:solidFill>
                <a:latin typeface="Segoe UI"/>
              </a:rPr>
              <a:t>what a human must resolve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19072" y="5010912"/>
            <a:ext cx="875995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901952" y="5184648"/>
            <a:ext cx="187451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01952" y="5189220"/>
            <a:ext cx="1874519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GUARDRAILS &amp; ORCHESTRATION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38528" y="5504688"/>
            <a:ext cx="8229600" cy="475488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</a:t>
            </a:r>
            <a:r>
              <a:rPr sz="1130" b="1">
                <a:solidFill>
                  <a:srgbClr val="252525"/>
                </a:solidFill>
                <a:latin typeface="Segoe UI"/>
              </a:rPr>
              <a:t>GREEN optimisation — </a:t>
            </a:r>
            <a:r>
              <a:rPr sz="1130">
                <a:solidFill>
                  <a:srgbClr val="737373"/>
                </a:solidFill>
                <a:latin typeface="Segoe UI"/>
              </a:rPr>
              <a:t>deterministic packet when no flags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</a:t>
            </a:r>
            <a:r>
              <a:rPr sz="1130" b="1">
                <a:solidFill>
                  <a:srgbClr val="252525"/>
                </a:solidFill>
                <a:latin typeface="Segoe UI"/>
              </a:rPr>
              <a:t>Human authority — </a:t>
            </a:r>
            <a:r>
              <a:rPr sz="1130">
                <a:solidFill>
                  <a:srgbClr val="737373"/>
                </a:solidFill>
                <a:latin typeface="Segoe UI"/>
              </a:rPr>
              <a:t>only reviewer changes status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</a:t>
            </a:r>
            <a:r>
              <a:rPr sz="1130" b="1">
                <a:solidFill>
                  <a:srgbClr val="252525"/>
                </a:solidFill>
                <a:latin typeface="Segoe UI"/>
              </a:rPr>
              <a:t>Overrides — </a:t>
            </a:r>
            <a:r>
              <a:rPr sz="1130">
                <a:solidFill>
                  <a:srgbClr val="737373"/>
                </a:solidFill>
                <a:latin typeface="Segoe UI"/>
              </a:rPr>
              <a:t>feed calibration memory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93725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937259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Agentic RAG: plan, retrieve, reason,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Retrieval is a first-class agent step—not a one-shot lookup attached to a prompt.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01952"/>
            <a:ext cx="3474720" cy="157276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084832"/>
            <a:ext cx="411480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89404"/>
            <a:ext cx="4114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084832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2525"/>
                </a:solidFill>
                <a:latin typeface="Segoe UI"/>
              </a:rPr>
              <a:t>RESOLVE INTENT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20"/>
            <a:ext cx="3063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Typed purpose: fit, gaps, interview or red flags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9392" y="1901952"/>
            <a:ext cx="3474720" cy="157276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62272" y="2084832"/>
            <a:ext cx="411480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2089404"/>
            <a:ext cx="4114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2624" y="2084832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2525"/>
                </a:solidFill>
                <a:latin typeface="Segoe UI"/>
              </a:rPr>
              <a:t>PLAN QUERIES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2560320"/>
            <a:ext cx="3063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Generate 2–4 diverse, privacy-safe searches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1901952"/>
            <a:ext cx="3474720" cy="157276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93023" y="2084832"/>
            <a:ext cx="411480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023" y="2089404"/>
            <a:ext cx="4114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23376" y="2084832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2525"/>
                </a:solidFill>
                <a:latin typeface="Segoe UI"/>
              </a:rPr>
              <a:t>RETRIEVE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3" y="2560320"/>
            <a:ext cx="3063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Embed and search expert-verified historical cases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776472"/>
            <a:ext cx="3474720" cy="157276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" y="3959352"/>
            <a:ext cx="411480" cy="29260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889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963924"/>
            <a:ext cx="4114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3959352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2525"/>
                </a:solidFill>
                <a:latin typeface="Segoe UI"/>
              </a:rPr>
              <a:t>RANK + DEDUPE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434840"/>
            <a:ext cx="3063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Keep strongest chunk per owner; preserve stable IDs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79392" y="3776472"/>
            <a:ext cx="3474720" cy="157276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62272" y="3959352"/>
            <a:ext cx="411480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62272" y="3963924"/>
            <a:ext cx="4114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92624" y="3959352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2525"/>
                </a:solidFill>
                <a:latin typeface="Segoe UI"/>
              </a:rPr>
              <a:t>REASON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62272" y="4434840"/>
            <a:ext cx="3063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Inject context into the specialised reasoning agent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10144" y="3776472"/>
            <a:ext cx="3474720" cy="157276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93023" y="3959352"/>
            <a:ext cx="411480" cy="292608"/>
          </a:xfrm>
          <a:prstGeom prst="roundRect">
            <a:avLst>
              <a:gd name="adj" fmla="val 12000"/>
            </a:avLst>
          </a:prstGeom>
          <a:solidFill>
            <a:srgbClr val="ECFDF3"/>
          </a:solidFill>
          <a:ln w="8890">
            <a:solidFill>
              <a:srgbClr val="ECF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93023" y="3963924"/>
            <a:ext cx="4114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5803D"/>
                </a:solidFill>
                <a:latin typeface="Segoe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23376" y="3959352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2525"/>
                </a:solidFill>
                <a:latin typeface="Segoe UI"/>
              </a:rPr>
              <a:t>LEARN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3023" y="4434840"/>
            <a:ext cx="3063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Index reviewer decisions and verified gaps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AGENTIC RAG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107441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074419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TRUST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Evidence, reflexion and expert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Three loops tighten quality without allowing models to become the decision-maker.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3474720" cy="33375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2240280"/>
            <a:ext cx="713232" cy="292608"/>
          </a:xfrm>
          <a:prstGeom prst="roundRect">
            <a:avLst>
              <a:gd name="adj" fmla="val 12000"/>
            </a:avLst>
          </a:prstGeom>
          <a:solidFill>
            <a:srgbClr val="FFF1F2"/>
          </a:solidFill>
          <a:ln w="8890">
            <a:solidFill>
              <a:srgbClr val="FF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244852"/>
            <a:ext cx="71323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BE123C"/>
                </a:solidFill>
                <a:latin typeface="Segoe UI"/>
              </a:rPr>
              <a:t>LOOP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743200"/>
            <a:ext cx="2971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52525"/>
                </a:solidFill>
                <a:latin typeface="Segoe UI"/>
              </a:rPr>
              <a:t>MECHANICAL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273552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737373"/>
                </a:solidFill>
                <a:latin typeface="Segoe UI"/>
              </a:rPr>
              <a:t>Quotes must exist in source text. Red-flag case IDs must appear in retrieval results. Severity must be internally consistent.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9392" y="2011680"/>
            <a:ext cx="3474720" cy="33375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80559" y="2240280"/>
            <a:ext cx="713232" cy="29260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889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2244852"/>
            <a:ext cx="71323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Segoe UI"/>
              </a:rPr>
              <a:t>LOOP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2743200"/>
            <a:ext cx="2971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52525"/>
                </a:solidFill>
                <a:latin typeface="Segoe UI"/>
              </a:rPr>
              <a:t>REFLEXION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3273552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737373"/>
                </a:solidFill>
                <a:latin typeface="Segoe UI"/>
              </a:rPr>
              <a:t>Validation errors return as explicit feedback. The agent retries once; repeated failure becomes a bias-warning memory note.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2011680"/>
            <a:ext cx="3474720" cy="33375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11312" y="2240280"/>
            <a:ext cx="713232" cy="292608"/>
          </a:xfrm>
          <a:prstGeom prst="roundRect">
            <a:avLst>
              <a:gd name="adj" fmla="val 12000"/>
            </a:avLst>
          </a:prstGeom>
          <a:solidFill>
            <a:srgbClr val="ECFDF3"/>
          </a:solidFill>
          <a:ln w="8890">
            <a:solidFill>
              <a:srgbClr val="ECF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2244852"/>
            <a:ext cx="71323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5803D"/>
                </a:solidFill>
                <a:latin typeface="Segoe UI"/>
              </a:rPr>
              <a:t>LOOP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743200"/>
            <a:ext cx="2971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52525"/>
                </a:solidFill>
                <a:latin typeface="Segoe UI"/>
              </a:rPr>
              <a:t>EXPERT FEEDBACK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3273552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737373"/>
                </a:solidFill>
                <a:latin typeface="Segoe UI"/>
              </a:rPr>
              <a:t>Reviewers record decisions, overrides and verified gaps. They are embedded as future precedent and written to calibration memory.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559552"/>
            <a:ext cx="11091672" cy="566928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696712"/>
            <a:ext cx="10561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Result: evidence improves over time, while the human remains the only hiring authority.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TRUST &amp; LEARNING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134874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34874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Private by boundary. Observable by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Demo mode explains what is running without weakening the production privacy boundary.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5349240" cy="388620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2212848"/>
            <a:ext cx="1325880" cy="292608"/>
          </a:xfrm>
          <a:prstGeom prst="roundRect">
            <a:avLst>
              <a:gd name="adj" fmla="val 12000"/>
            </a:avLst>
          </a:prstGeom>
          <a:solidFill>
            <a:srgbClr val="ECFDF3"/>
          </a:solidFill>
          <a:ln w="8890">
            <a:solidFill>
              <a:srgbClr val="ECF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17420"/>
            <a:ext cx="13258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5803D"/>
                </a:solidFill>
                <a:latin typeface="Segoe UI"/>
              </a:rPr>
              <a:t>PRIVACY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61488"/>
            <a:ext cx="4800600" cy="2468880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52525"/>
                </a:solidFill>
                <a:latin typeface="Segoe UI"/>
              </a:rPr>
              <a:t>• </a:t>
            </a:r>
            <a:r>
              <a:rPr sz="1300" b="1">
                <a:solidFill>
                  <a:srgbClr val="252525"/>
                </a:solidFill>
                <a:latin typeface="Segoe UI"/>
              </a:rPr>
              <a:t>Local preservation — </a:t>
            </a:r>
            <a:r>
              <a:rPr sz="1300">
                <a:solidFill>
                  <a:srgbClr val="737373"/>
                </a:solidFill>
                <a:latin typeface="Segoe UI"/>
              </a:rPr>
              <a:t>authorised users retain original resumes and transcripts.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52525"/>
                </a:solidFill>
                <a:latin typeface="Segoe UI"/>
              </a:rPr>
              <a:t>• </a:t>
            </a:r>
            <a:r>
              <a:rPr sz="1300" b="1">
                <a:solidFill>
                  <a:srgbClr val="252525"/>
                </a:solidFill>
                <a:latin typeface="Segoe UI"/>
              </a:rPr>
              <a:t>Demo masking — </a:t>
            </a:r>
            <a:r>
              <a:rPr sz="1300">
                <a:solidFill>
                  <a:srgbClr val="737373"/>
                </a:solidFill>
                <a:latin typeface="Segoe UI"/>
              </a:rPr>
              <a:t>uploaded PII is redacted before textarea display.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52525"/>
                </a:solidFill>
                <a:latin typeface="Segoe UI"/>
              </a:rPr>
              <a:t>• </a:t>
            </a:r>
            <a:r>
              <a:rPr sz="1300" b="1">
                <a:solidFill>
                  <a:srgbClr val="252525"/>
                </a:solidFill>
                <a:latin typeface="Segoe UI"/>
              </a:rPr>
              <a:t>Outbound sanitisation — </a:t>
            </a:r>
            <a:r>
              <a:rPr sz="1300">
                <a:solidFill>
                  <a:srgbClr val="737373"/>
                </a:solidFill>
                <a:latin typeface="Segoe UI"/>
              </a:rPr>
              <a:t>names, contacts, locations, institutions and URLs are removed.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52525"/>
                </a:solidFill>
                <a:latin typeface="Segoe UI"/>
              </a:rPr>
              <a:t>• </a:t>
            </a:r>
            <a:r>
              <a:rPr sz="1300" b="1">
                <a:solidFill>
                  <a:srgbClr val="252525"/>
                </a:solidFill>
                <a:latin typeface="Segoe UI"/>
              </a:rPr>
              <a:t>Vector hygiene — </a:t>
            </a:r>
            <a:r>
              <a:rPr sz="1300">
                <a:solidFill>
                  <a:srgbClr val="737373"/>
                </a:solidFill>
                <a:latin typeface="Segoe UI"/>
              </a:rPr>
              <a:t>content and queries are privacy-filtered before embedding.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965960"/>
            <a:ext cx="5468112" cy="388620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2212848"/>
            <a:ext cx="1234440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217420"/>
            <a:ext cx="123444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UNDER THE HOOD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61488"/>
            <a:ext cx="4800600" cy="2468880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52525"/>
                </a:solidFill>
                <a:latin typeface="Segoe UI"/>
              </a:rPr>
              <a:t>• </a:t>
            </a:r>
            <a:r>
              <a:rPr sz="1300" b="1">
                <a:solidFill>
                  <a:srgbClr val="252525"/>
                </a:solidFill>
                <a:latin typeface="Segoe UI"/>
              </a:rPr>
              <a:t>Running-agent history — </a:t>
            </a:r>
            <a:r>
              <a:rPr sz="1300">
                <a:solidFill>
                  <a:srgbClr val="737373"/>
                </a:solidFill>
                <a:latin typeface="Segoe UI"/>
              </a:rPr>
              <a:t>timestamped, persistent and manually reset.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52525"/>
                </a:solidFill>
                <a:latin typeface="Segoe UI"/>
              </a:rPr>
              <a:t>• </a:t>
            </a:r>
            <a:r>
              <a:rPr sz="1300" b="1">
                <a:solidFill>
                  <a:srgbClr val="252525"/>
                </a:solidFill>
                <a:latin typeface="Segoe UI"/>
              </a:rPr>
              <a:t>Workflow path — </a:t>
            </a:r>
            <a:r>
              <a:rPr sz="1300">
                <a:solidFill>
                  <a:srgbClr val="737373"/>
                </a:solidFill>
                <a:latin typeface="Segoe UI"/>
              </a:rPr>
              <a:t>running, complete and failed lifecycle states.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52525"/>
                </a:solidFill>
                <a:latin typeface="Segoe UI"/>
              </a:rPr>
              <a:t>• </a:t>
            </a:r>
            <a:r>
              <a:rPr sz="1300" b="1">
                <a:solidFill>
                  <a:srgbClr val="252525"/>
                </a:solidFill>
                <a:latin typeface="Segoe UI"/>
              </a:rPr>
              <a:t>Token visibility — </a:t>
            </a:r>
            <a:r>
              <a:rPr sz="1300">
                <a:solidFill>
                  <a:srgbClr val="737373"/>
                </a:solidFill>
                <a:latin typeface="Segoe UI"/>
              </a:rPr>
              <a:t>optional prompt, completion and total usage.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52525"/>
                </a:solidFill>
                <a:latin typeface="Segoe UI"/>
              </a:rPr>
              <a:t>• </a:t>
            </a:r>
            <a:r>
              <a:rPr sz="1300" b="1">
                <a:solidFill>
                  <a:srgbClr val="252525"/>
                </a:solidFill>
                <a:latin typeface="Segoe UI"/>
              </a:rPr>
              <a:t>Prompt controls — </a:t>
            </a:r>
            <a:r>
              <a:rPr sz="1300">
                <a:solidFill>
                  <a:srgbClr val="737373"/>
                </a:solidFill>
                <a:latin typeface="Segoe UI"/>
              </a:rPr>
              <a:t>Demo overrides still pass central PII filtering.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PRIVACY &amp; OBSERVABILITY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30352"/>
            <a:ext cx="11091672" cy="5715000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6112" y="896112"/>
            <a:ext cx="932688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900684"/>
            <a:ext cx="93268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HIRELENS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508760"/>
            <a:ext cx="658368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Specialised agents.
Grounded evidence.
Human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977639"/>
            <a:ext cx="6309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A recruitment intelligence architecture designed to make
AI useful, inspectable and appropriately constrained.</a:t>
            </a:r>
          </a:p>
        </p:txBody>
      </p:sp>
      <p:pic>
        <p:nvPicPr>
          <p:cNvPr id="7" name="Picture 6" descr="HireLe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234440"/>
            <a:ext cx="324612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54112" y="4828032"/>
            <a:ext cx="1143000" cy="292608"/>
          </a:xfrm>
          <a:prstGeom prst="roundRect">
            <a:avLst>
              <a:gd name="adj" fmla="val 12000"/>
            </a:avLst>
          </a:prstGeom>
          <a:solidFill>
            <a:srgbClr val="ECFDF3"/>
          </a:solidFill>
          <a:ln w="8890">
            <a:solidFill>
              <a:srgbClr val="ECF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4832604"/>
            <a:ext cx="11430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5803D"/>
                </a:solidFill>
                <a:latin typeface="Segoe UI"/>
              </a:rPr>
              <a:t>PRIVACY-AWARE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4828032"/>
            <a:ext cx="1078992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4832604"/>
            <a:ext cx="107899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EVIDENCE-LED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68712" y="4828032"/>
            <a:ext cx="1024128" cy="29260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889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68712" y="4832604"/>
            <a:ext cx="102412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Segoe UI"/>
              </a:rPr>
              <a:t>HUMAN-OWNED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ARCHITECTURE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141731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417319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Hiring evidence is fragmented, variable and hard to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The challenge is not a lack of data—it is converting inconsistent documents and interviews into comparable, defensible decisions.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5349240" cy="1609344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2139696"/>
            <a:ext cx="457200" cy="292608"/>
          </a:xfrm>
          <a:prstGeom prst="roundRect">
            <a:avLst>
              <a:gd name="adj" fmla="val 12000"/>
            </a:avLst>
          </a:prstGeom>
          <a:solidFill>
            <a:srgbClr val="FFF1F2"/>
          </a:solidFill>
          <a:ln w="8890">
            <a:solidFill>
              <a:srgbClr val="FF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144268"/>
            <a:ext cx="4572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BE123C"/>
                </a:solidFill>
                <a:latin typeface="Segoe U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121408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2525"/>
                </a:solidFill>
                <a:latin typeface="Segoe UI"/>
              </a:rPr>
              <a:t>FRAGMENTED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596896"/>
            <a:ext cx="48920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37373"/>
                </a:solidFill>
                <a:latin typeface="Segoe UI"/>
              </a:rPr>
              <a:t>JDs, resumes, transcripts, notes and historical outcomes live in different formats and levels of detail.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938528"/>
            <a:ext cx="5349240" cy="1609344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3368" y="2139696"/>
            <a:ext cx="457200" cy="29260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889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2144268"/>
            <a:ext cx="4572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Segoe U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121408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2525"/>
                </a:solidFill>
                <a:latin typeface="Segoe UI"/>
              </a:rPr>
              <a:t>INCONSISTENT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596896"/>
            <a:ext cx="48920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37373"/>
                </a:solidFill>
                <a:latin typeface="Segoe UI"/>
              </a:rPr>
              <a:t>Different reviewers apply different standards, questions and interpretations to similar candidates.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13048"/>
            <a:ext cx="5349240" cy="1609344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4014215"/>
            <a:ext cx="457200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018787"/>
            <a:ext cx="4572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995928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2525"/>
                </a:solidFill>
                <a:latin typeface="Segoe UI"/>
              </a:rPr>
              <a:t>WEAK TRACEABILITY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471416"/>
            <a:ext cx="48920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37373"/>
                </a:solidFill>
                <a:latin typeface="Segoe UI"/>
              </a:rPr>
              <a:t>Scores and concerns are difficult to reconstruct when the supporting evidence is not captured with the decision.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813048"/>
            <a:ext cx="5349240" cy="1609344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73368" y="4014215"/>
            <a:ext cx="457200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4018787"/>
            <a:ext cx="4572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3995928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2525"/>
                </a:solidFill>
                <a:latin typeface="Segoe UI"/>
              </a:rPr>
              <a:t>PRIVACY PRESSURE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471416"/>
            <a:ext cx="48920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37373"/>
                </a:solidFill>
                <a:latin typeface="Segoe UI"/>
              </a:rPr>
              <a:t>Recruitment data contains identity, contact and education details that should not cross every AI boundary.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705856"/>
            <a:ext cx="11091672" cy="438912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806440"/>
            <a:ext cx="10625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Business requirement: faster synthesis without surrendering evidence quality, privacy or human accountability.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BUSINESS CASE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107441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074419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WHY AGENTIC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Use automation, agents and humans where each is strongest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HireLens is deliberately hybrid: rules provide repeatability, agents handle contextual reasoning, and people own consequential judgement.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3474720" cy="34930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2194560"/>
            <a:ext cx="603504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199132"/>
            <a:ext cx="60350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BEST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670048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52525"/>
                </a:solidFill>
                <a:latin typeface="Segoe UI"/>
              </a:rPr>
              <a:t>DETERMINISTIC 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246120"/>
            <a:ext cx="3017520" cy="1737360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252525"/>
                </a:solidFill>
                <a:latin typeface="Segoe UI"/>
              </a:rPr>
              <a:t>• </a:t>
            </a:r>
            <a:r>
              <a:rPr sz="1250" b="1">
                <a:solidFill>
                  <a:srgbClr val="252525"/>
                </a:solidFill>
                <a:latin typeface="Segoe UI"/>
              </a:rPr>
              <a:t>Rules — </a:t>
            </a:r>
            <a:r>
              <a:rPr sz="1250">
                <a:solidFill>
                  <a:srgbClr val="737373"/>
                </a:solidFill>
                <a:latin typeface="Segoe UI"/>
              </a:rPr>
              <a:t>schema checks, scoring and persistence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252525"/>
                </a:solidFill>
                <a:latin typeface="Segoe UI"/>
              </a:rPr>
              <a:t>• </a:t>
            </a:r>
            <a:r>
              <a:rPr sz="1250" b="1">
                <a:solidFill>
                  <a:srgbClr val="252525"/>
                </a:solidFill>
                <a:latin typeface="Segoe UI"/>
              </a:rPr>
              <a:t>Strength — </a:t>
            </a:r>
            <a:r>
              <a:rPr sz="1250">
                <a:solidFill>
                  <a:srgbClr val="737373"/>
                </a:solidFill>
                <a:latin typeface="Segoe UI"/>
              </a:rPr>
              <a:t>speed and repeatability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252525"/>
                </a:solidFill>
                <a:latin typeface="Segoe UI"/>
              </a:rPr>
              <a:t>• </a:t>
            </a:r>
            <a:r>
              <a:rPr sz="1250" b="1">
                <a:solidFill>
                  <a:srgbClr val="252525"/>
                </a:solidFill>
                <a:latin typeface="Segoe UI"/>
              </a:rPr>
              <a:t>Limit — </a:t>
            </a:r>
            <a:r>
              <a:rPr sz="1250">
                <a:solidFill>
                  <a:srgbClr val="737373"/>
                </a:solidFill>
                <a:latin typeface="Segoe UI"/>
              </a:rPr>
              <a:t>cannot resolve ambiguous evidence or intent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9392" y="1965960"/>
            <a:ext cx="3474720" cy="34930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80559" y="2194560"/>
            <a:ext cx="603504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2199132"/>
            <a:ext cx="60350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BEST 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2670048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52525"/>
                </a:solidFill>
                <a:latin typeface="Segoe UI"/>
              </a:rPr>
              <a:t>AGENTIC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3246120"/>
            <a:ext cx="3017520" cy="1737360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252525"/>
                </a:solidFill>
                <a:latin typeface="Segoe UI"/>
              </a:rPr>
              <a:t>• </a:t>
            </a:r>
            <a:r>
              <a:rPr sz="1250" b="1">
                <a:solidFill>
                  <a:srgbClr val="252525"/>
                </a:solidFill>
                <a:latin typeface="Segoe UI"/>
              </a:rPr>
              <a:t>Reasoning — </a:t>
            </a:r>
            <a:r>
              <a:rPr sz="1250">
                <a:solidFill>
                  <a:srgbClr val="737373"/>
                </a:solidFill>
                <a:latin typeface="Segoe UI"/>
              </a:rPr>
              <a:t>intent, retrieval, gaps and synthesis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252525"/>
                </a:solidFill>
                <a:latin typeface="Segoe UI"/>
              </a:rPr>
              <a:t>• </a:t>
            </a:r>
            <a:r>
              <a:rPr sz="1250" b="1">
                <a:solidFill>
                  <a:srgbClr val="252525"/>
                </a:solidFill>
                <a:latin typeface="Segoe UI"/>
              </a:rPr>
              <a:t>Strength — </a:t>
            </a:r>
            <a:r>
              <a:rPr sz="1250">
                <a:solidFill>
                  <a:srgbClr val="737373"/>
                </a:solidFill>
                <a:latin typeface="Segoe UI"/>
              </a:rPr>
              <a:t>adapts to unstructured context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252525"/>
                </a:solidFill>
                <a:latin typeface="Segoe UI"/>
              </a:rPr>
              <a:t>• </a:t>
            </a:r>
            <a:r>
              <a:rPr sz="1250" b="1">
                <a:solidFill>
                  <a:srgbClr val="252525"/>
                </a:solidFill>
                <a:latin typeface="Segoe UI"/>
              </a:rPr>
              <a:t>Limit — </a:t>
            </a:r>
            <a:r>
              <a:rPr sz="1250">
                <a:solidFill>
                  <a:srgbClr val="737373"/>
                </a:solidFill>
                <a:latin typeface="Segoe UI"/>
              </a:rPr>
              <a:t>must be grounded and validated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1965960"/>
            <a:ext cx="3474720" cy="34930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11312" y="2194560"/>
            <a:ext cx="603504" cy="292608"/>
          </a:xfrm>
          <a:prstGeom prst="roundRect">
            <a:avLst>
              <a:gd name="adj" fmla="val 12000"/>
            </a:avLst>
          </a:prstGeom>
          <a:solidFill>
            <a:srgbClr val="ECFDF3"/>
          </a:solidFill>
          <a:ln w="8890">
            <a:solidFill>
              <a:srgbClr val="ECF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2199132"/>
            <a:ext cx="60350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5803D"/>
                </a:solidFill>
                <a:latin typeface="Segoe UI"/>
              </a:rPr>
              <a:t>BEST FOR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670048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52525"/>
                </a:solidFill>
                <a:latin typeface="Segoe UI"/>
              </a:rPr>
              <a:t>HUMAN EXPERT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3246120"/>
            <a:ext cx="3017520" cy="1737360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252525"/>
                </a:solidFill>
                <a:latin typeface="Segoe UI"/>
              </a:rPr>
              <a:t>• </a:t>
            </a:r>
            <a:r>
              <a:rPr sz="1250" b="1">
                <a:solidFill>
                  <a:srgbClr val="252525"/>
                </a:solidFill>
                <a:latin typeface="Segoe UI"/>
              </a:rPr>
              <a:t>Judgement — </a:t>
            </a:r>
            <a:r>
              <a:rPr sz="1250">
                <a:solidFill>
                  <a:srgbClr val="737373"/>
                </a:solidFill>
                <a:latin typeface="Segoe UI"/>
              </a:rPr>
              <a:t>trade-offs, fairness and final decision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252525"/>
                </a:solidFill>
                <a:latin typeface="Segoe UI"/>
              </a:rPr>
              <a:t>• </a:t>
            </a:r>
            <a:r>
              <a:rPr sz="1250" b="1">
                <a:solidFill>
                  <a:srgbClr val="252525"/>
                </a:solidFill>
                <a:latin typeface="Segoe UI"/>
              </a:rPr>
              <a:t>Strength — </a:t>
            </a:r>
            <a:r>
              <a:rPr sz="1250">
                <a:solidFill>
                  <a:srgbClr val="737373"/>
                </a:solidFill>
                <a:latin typeface="Segoe UI"/>
              </a:rPr>
              <a:t>accountability and domain nuance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252525"/>
                </a:solidFill>
                <a:latin typeface="Segoe UI"/>
              </a:rPr>
              <a:t>• </a:t>
            </a:r>
            <a:r>
              <a:rPr sz="1250" b="1">
                <a:solidFill>
                  <a:srgbClr val="252525"/>
                </a:solidFill>
                <a:latin typeface="Segoe UI"/>
              </a:rPr>
              <a:t>Limit — </a:t>
            </a:r>
            <a:r>
              <a:rPr sz="1250">
                <a:solidFill>
                  <a:srgbClr val="737373"/>
                </a:solidFill>
                <a:latin typeface="Segoe UI"/>
              </a:rPr>
              <a:t>time, consistency and cognitive load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669280"/>
            <a:ext cx="11091672" cy="493776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1270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788152"/>
            <a:ext cx="106070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6657D9"/>
                </a:solidFill>
                <a:latin typeface="Segoe UI"/>
              </a:rPr>
              <a:t>Agentic is justified where the system must decide what evidence to seek next—not merely execute a fixed lookup.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WHY AGENTIC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182880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8288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A layered, auditable agent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Next.js coordinates user workflows; LangGraph manages state; Supabase persists evidence, vectors, tasks and feedback.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039112"/>
            <a:ext cx="1298448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43684"/>
            <a:ext cx="129844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EXPERIENCE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84831" y="1874519"/>
            <a:ext cx="9555480" cy="62179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04288" y="2066543"/>
            <a:ext cx="17282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Dashboard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60520" y="1993391"/>
            <a:ext cx="0" cy="384048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105656" y="2066543"/>
            <a:ext cx="17282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Jobs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61888" y="1993391"/>
            <a:ext cx="0" cy="384048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07024" y="2066543"/>
            <a:ext cx="17282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Candidates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63256" y="1993391"/>
            <a:ext cx="0" cy="384048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08392" y="2066543"/>
            <a:ext cx="17282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Review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564624" y="1993391"/>
            <a:ext cx="0" cy="384048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509760" y="2066543"/>
            <a:ext cx="17282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Demo observability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834640"/>
            <a:ext cx="1298448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2839212"/>
            <a:ext cx="129844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API + CONTROL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84831" y="2670048"/>
            <a:ext cx="9555480" cy="62179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04288" y="2862072"/>
            <a:ext cx="21785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Authenticated routes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610862" y="2788920"/>
            <a:ext cx="0" cy="384048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55998" y="2862072"/>
            <a:ext cx="21785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Zod contracts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62572" y="2788920"/>
            <a:ext cx="0" cy="384048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807708" y="2862072"/>
            <a:ext cx="21785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Deterministic scoring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14282" y="2788920"/>
            <a:ext cx="0" cy="384048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059417" y="2862072"/>
            <a:ext cx="21785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PII boundary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3630168"/>
            <a:ext cx="1298448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3634740"/>
            <a:ext cx="129844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LANGGRAPH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84831" y="3465576"/>
            <a:ext cx="9555480" cy="62179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04288" y="3657600"/>
            <a:ext cx="21785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JD intake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610862" y="3584448"/>
            <a:ext cx="0" cy="384048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55998" y="3657600"/>
            <a:ext cx="21785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Resume intake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862572" y="3584448"/>
            <a:ext cx="0" cy="384048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807708" y="3657600"/>
            <a:ext cx="21785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Candidate analysis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114282" y="3584448"/>
            <a:ext cx="0" cy="384048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059417" y="3657600"/>
            <a:ext cx="21785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Transcript review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4425696"/>
            <a:ext cx="1298448" cy="29260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889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4430268"/>
            <a:ext cx="129844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Segoe UI"/>
              </a:rPr>
              <a:t>AGENT SERVICES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084831" y="4261104"/>
            <a:ext cx="9555480" cy="62179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04288" y="4453128"/>
            <a:ext cx="21785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Structured LLMs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610862" y="4379976"/>
            <a:ext cx="0" cy="384048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555998" y="4453128"/>
            <a:ext cx="21785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Intent planner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862572" y="4379976"/>
            <a:ext cx="0" cy="384048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807708" y="4453128"/>
            <a:ext cx="21785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Reflexion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114282" y="4379976"/>
            <a:ext cx="0" cy="384048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059417" y="4453128"/>
            <a:ext cx="21785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Validation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6928" y="5221223"/>
            <a:ext cx="1298448" cy="292608"/>
          </a:xfrm>
          <a:prstGeom prst="roundRect">
            <a:avLst>
              <a:gd name="adj" fmla="val 12000"/>
            </a:avLst>
          </a:prstGeom>
          <a:solidFill>
            <a:srgbClr val="ECFDF3"/>
          </a:solidFill>
          <a:ln w="8890">
            <a:solidFill>
              <a:srgbClr val="ECF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5225795"/>
            <a:ext cx="129844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5803D"/>
                </a:solidFill>
                <a:latin typeface="Segoe UI"/>
              </a:rPr>
              <a:t>DATA + MEMORY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084831" y="5056631"/>
            <a:ext cx="9555480" cy="62179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04288" y="5248655"/>
            <a:ext cx="21785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Postgres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610862" y="5175503"/>
            <a:ext cx="0" cy="384048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555998" y="5248655"/>
            <a:ext cx="21785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pgvector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862572" y="5175503"/>
            <a:ext cx="0" cy="384048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807708" y="5248655"/>
            <a:ext cx="21785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Agent memory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114282" y="5175503"/>
            <a:ext cx="0" cy="384048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9059417" y="5248655"/>
            <a:ext cx="21785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Tasks / artifacts / events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TECHNICAL ARCHITECTURE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100584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00584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Test outputs, grounding and failure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Evaluation must cover both model quality and orchestration correctness—not only happy-path accuracy.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5349240" cy="3977639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2194560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99132"/>
            <a:ext cx="14173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AUTOMATED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61488"/>
            <a:ext cx="4800600" cy="2606040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40" b="1">
                <a:solidFill>
                  <a:srgbClr val="252525"/>
                </a:solidFill>
                <a:latin typeface="Segoe UI"/>
              </a:rPr>
              <a:t>• </a:t>
            </a:r>
            <a:r>
              <a:rPr sz="1240" b="1">
                <a:solidFill>
                  <a:srgbClr val="252525"/>
                </a:solidFill>
                <a:latin typeface="Segoe UI"/>
              </a:rPr>
              <a:t>Schema tests — </a:t>
            </a:r>
            <a:r>
              <a:rPr sz="1240">
                <a:solidFill>
                  <a:srgbClr val="737373"/>
                </a:solidFill>
                <a:latin typeface="Segoe UI"/>
              </a:rPr>
              <a:t>all structured outputs satisfy strict Zod contracts.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40" b="1">
                <a:solidFill>
                  <a:srgbClr val="252525"/>
                </a:solidFill>
                <a:latin typeface="Segoe UI"/>
              </a:rPr>
              <a:t>• </a:t>
            </a:r>
            <a:r>
              <a:rPr sz="1240" b="1">
                <a:solidFill>
                  <a:srgbClr val="252525"/>
                </a:solidFill>
                <a:latin typeface="Segoe UI"/>
              </a:rPr>
              <a:t>Grounding tests — </a:t>
            </a:r>
            <a:r>
              <a:rPr sz="1240">
                <a:solidFill>
                  <a:srgbClr val="737373"/>
                </a:solidFill>
                <a:latin typeface="Segoe UI"/>
              </a:rPr>
              <a:t>quotes exist in source text and case IDs were retrieved.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40" b="1">
                <a:solidFill>
                  <a:srgbClr val="252525"/>
                </a:solidFill>
                <a:latin typeface="Segoe UI"/>
              </a:rPr>
              <a:t>• </a:t>
            </a:r>
            <a:r>
              <a:rPr sz="1240" b="1">
                <a:solidFill>
                  <a:srgbClr val="252525"/>
                </a:solidFill>
                <a:latin typeface="Segoe UI"/>
              </a:rPr>
              <a:t>Workflow tests — </a:t>
            </a:r>
            <a:r>
              <a:rPr sz="1240">
                <a:solidFill>
                  <a:srgbClr val="737373"/>
                </a:solidFill>
                <a:latin typeface="Segoe UI"/>
              </a:rPr>
              <a:t>branch joins, idempotency and lifecycle state remain correct.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40" b="1">
                <a:solidFill>
                  <a:srgbClr val="252525"/>
                </a:solidFill>
                <a:latin typeface="Segoe UI"/>
              </a:rPr>
              <a:t>• </a:t>
            </a:r>
            <a:r>
              <a:rPr sz="1240" b="1">
                <a:solidFill>
                  <a:srgbClr val="252525"/>
                </a:solidFill>
                <a:latin typeface="Segoe UI"/>
              </a:rPr>
              <a:t>Offline quality — </a:t>
            </a:r>
            <a:r>
              <a:rPr sz="1240">
                <a:solidFill>
                  <a:srgbClr val="737373"/>
                </a:solidFill>
                <a:latin typeface="Segoe UI"/>
              </a:rPr>
              <a:t>DeepEval hallucination checks use exact supplied context.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938528"/>
            <a:ext cx="5468112" cy="3977639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2194560"/>
            <a:ext cx="1115568" cy="292608"/>
          </a:xfrm>
          <a:prstGeom prst="roundRect">
            <a:avLst>
              <a:gd name="adj" fmla="val 12000"/>
            </a:avLst>
          </a:prstGeom>
          <a:solidFill>
            <a:srgbClr val="FFF1F2"/>
          </a:solidFill>
          <a:ln w="8890">
            <a:solidFill>
              <a:srgbClr val="FF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199132"/>
            <a:ext cx="111556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BE123C"/>
                </a:solidFill>
                <a:latin typeface="Segoe UI"/>
              </a:rPr>
              <a:t>EDGE-CASE SUITE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61488"/>
            <a:ext cx="4800600" cy="2743200"/>
          </a:xfrm>
          <a:prstGeom prst="rect">
            <a:avLst/>
          </a:prstGeom>
          <a:noFill/>
        </p:spPr>
        <p:txBody>
          <a:bodyPr wrap="square" lIns="27432" rIns="18288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20" b="1">
                <a:solidFill>
                  <a:srgbClr val="252525"/>
                </a:solidFill>
                <a:latin typeface="Segoe UI"/>
              </a:rPr>
              <a:t>• </a:t>
            </a:r>
            <a:r>
              <a:rPr sz="1220" b="1">
                <a:solidFill>
                  <a:srgbClr val="252525"/>
                </a:solidFill>
                <a:latin typeface="Segoe UI"/>
              </a:rPr>
              <a:t>Cold retrieval — </a:t>
            </a:r>
            <a:r>
              <a:rPr sz="1220">
                <a:solidFill>
                  <a:srgbClr val="737373"/>
                </a:solidFill>
                <a:latin typeface="Segoe UI"/>
              </a:rPr>
              <a:t>no vectors or low-similarity cases.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20" b="1">
                <a:solidFill>
                  <a:srgbClr val="252525"/>
                </a:solidFill>
                <a:latin typeface="Segoe UI"/>
              </a:rPr>
              <a:t>• </a:t>
            </a:r>
            <a:r>
              <a:rPr sz="1220" b="1">
                <a:solidFill>
                  <a:srgbClr val="252525"/>
                </a:solidFill>
                <a:latin typeface="Segoe UI"/>
              </a:rPr>
              <a:t>Noisy documents — </a:t>
            </a:r>
            <a:r>
              <a:rPr sz="1220">
                <a:solidFill>
                  <a:srgbClr val="737373"/>
                </a:solidFill>
                <a:latin typeface="Segoe UI"/>
              </a:rPr>
              <a:t>OCR artefacts, missing sections and malformed VTT.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20" b="1">
                <a:solidFill>
                  <a:srgbClr val="252525"/>
                </a:solidFill>
                <a:latin typeface="Segoe UI"/>
              </a:rPr>
              <a:t>• </a:t>
            </a:r>
            <a:r>
              <a:rPr sz="1220" b="1">
                <a:solidFill>
                  <a:srgbClr val="252525"/>
                </a:solidFill>
                <a:latin typeface="Segoe UI"/>
              </a:rPr>
              <a:t>Conflicting claims — </a:t>
            </a:r>
            <a:r>
              <a:rPr sz="1220">
                <a:solidFill>
                  <a:srgbClr val="737373"/>
                </a:solidFill>
                <a:latin typeface="Segoe UI"/>
              </a:rPr>
              <a:t>resume/transcript dates, roles and technologies disagree.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20" b="1">
                <a:solidFill>
                  <a:srgbClr val="252525"/>
                </a:solidFill>
                <a:latin typeface="Segoe UI"/>
              </a:rPr>
              <a:t>• </a:t>
            </a:r>
            <a:r>
              <a:rPr sz="1220" b="1">
                <a:solidFill>
                  <a:srgbClr val="252525"/>
                </a:solidFill>
                <a:latin typeface="Segoe UI"/>
              </a:rPr>
              <a:t>Adversarial grounding — </a:t>
            </a:r>
            <a:r>
              <a:rPr sz="1220">
                <a:solidFill>
                  <a:srgbClr val="737373"/>
                </a:solidFill>
                <a:latin typeface="Segoe UI"/>
              </a:rPr>
              <a:t>invented quotes, case IDs, PII and prompt injection.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20" b="1">
                <a:solidFill>
                  <a:srgbClr val="252525"/>
                </a:solidFill>
                <a:latin typeface="Segoe UI"/>
              </a:rPr>
              <a:t>• </a:t>
            </a:r>
            <a:r>
              <a:rPr sz="1220" b="1">
                <a:solidFill>
                  <a:srgbClr val="252525"/>
                </a:solidFill>
                <a:latin typeface="Segoe UI"/>
              </a:rPr>
              <a:t>Operational faults — </a:t>
            </a:r>
            <a:r>
              <a:rPr sz="1220">
                <a:solidFill>
                  <a:srgbClr val="737373"/>
                </a:solidFill>
                <a:latin typeface="Segoe UI"/>
              </a:rPr>
              <a:t>timeouts, retries, duplicate requests and partial branch failure.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148590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4859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HUMAN-IN-THE-LOOP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Expert validation closes the learning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The reviewer does more than approve an answer: their correction becomes evidence for the next retrieval and calibration cycle.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3474720" cy="155448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103120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07692"/>
            <a:ext cx="40233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103120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2525"/>
                </a:solidFill>
                <a:latin typeface="Segoe UI"/>
              </a:rPr>
              <a:t>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78608"/>
            <a:ext cx="3063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Inspect scores, quotes, flags and precedent.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9392" y="1920240"/>
            <a:ext cx="3474720" cy="155448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62272" y="2103120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2107692"/>
            <a:ext cx="40233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2624" y="2103120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2525"/>
                </a:solidFill>
                <a:latin typeface="Segoe UI"/>
              </a:rPr>
              <a:t>DECIDE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2578608"/>
            <a:ext cx="3063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Accept or override; only a person changes status.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1920240"/>
            <a:ext cx="3474720" cy="155448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93023" y="2103120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889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023" y="2107692"/>
            <a:ext cx="40233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23376" y="2103120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2525"/>
                </a:solidFill>
                <a:latin typeface="Segoe UI"/>
              </a:rPr>
              <a:t>VERIFY GAPS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3" y="2578608"/>
            <a:ext cx="3063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Record explicit domain gaps, one per line.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794760"/>
            <a:ext cx="3474720" cy="155448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" y="3977640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982212"/>
            <a:ext cx="40233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3977640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2525"/>
                </a:solidFill>
                <a:latin typeface="Segoe UI"/>
              </a:rPr>
              <a:t>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453128"/>
            <a:ext cx="3063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Embed decision, reasoning and verified gaps.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79392" y="3794760"/>
            <a:ext cx="3474720" cy="155448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62272" y="3977640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ECFDF3"/>
          </a:solidFill>
          <a:ln w="8890">
            <a:solidFill>
              <a:srgbClr val="ECF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62272" y="3982212"/>
            <a:ext cx="40233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5803D"/>
                </a:solidFill>
                <a:latin typeface="Segoe U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92624" y="3977640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2525"/>
                </a:solidFill>
                <a:latin typeface="Segoe UI"/>
              </a:rPr>
              <a:t>CALIBRATE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62272" y="4453128"/>
            <a:ext cx="3063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Write high-confidence Gap Analysis memory.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10144" y="3794760"/>
            <a:ext cx="3474720" cy="155448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93023" y="3977640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93023" y="3982212"/>
            <a:ext cx="40233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23376" y="3977640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2525"/>
                </a:solidFill>
                <a:latin typeface="Segoe UI"/>
              </a:rPr>
              <a:t>RETRIEVE AGAIN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3023" y="4453128"/>
            <a:ext cx="3063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Future agents recover expert precedent.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705856"/>
            <a:ext cx="11091672" cy="438912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806440"/>
            <a:ext cx="10625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Governance rule: model recommendations are advisory; expert feedback is attributable, persistent and retrievable.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HUMAN VALIDATION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47472"/>
            <a:ext cx="121158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2115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ROI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Measure value without inventing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Establish a baseline, instrument the workflow, and report observed improvement by role, stage and candidate volume.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2578608" cy="214884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194560"/>
            <a:ext cx="749808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99132"/>
            <a:ext cx="74980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DRIVER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97480"/>
            <a:ext cx="2176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52525"/>
                </a:solidFill>
                <a:latin typeface="Segoe UI"/>
              </a:rPr>
              <a:t>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182112"/>
            <a:ext cx="21762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Minutes to structure a role, screen evidence, prepare questions and assemble review packets.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2" y="1965960"/>
            <a:ext cx="2578608" cy="214884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47872" y="2194560"/>
            <a:ext cx="749808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2199132"/>
            <a:ext cx="74980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DRIVER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2697480"/>
            <a:ext cx="2176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52525"/>
                </a:solidFill>
                <a:latin typeface="Segoe UI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3182112"/>
            <a:ext cx="21762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Quote-grounding rate, retrieval relevance, override rate and unresolved evidence gaps.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1965960"/>
            <a:ext cx="2578608" cy="214884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64224" y="2194560"/>
            <a:ext cx="749808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199132"/>
            <a:ext cx="74980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DRIVER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697480"/>
            <a:ext cx="2176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52525"/>
                </a:solidFill>
                <a:latin typeface="Segoe UI"/>
              </a:rPr>
              <a:t>CONSISTENCY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3182112"/>
            <a:ext cx="21762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Variance in scoring, question coverage and decisions across reviewers and jobs.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7696" y="1965960"/>
            <a:ext cx="2578608" cy="214884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80576" y="2194560"/>
            <a:ext cx="749808" cy="292608"/>
          </a:xfrm>
          <a:prstGeom prst="roundRect">
            <a:avLst>
              <a:gd name="adj" fmla="val 12000"/>
            </a:avLst>
          </a:prstGeom>
          <a:solidFill>
            <a:srgbClr val="FFF1F2"/>
          </a:solidFill>
          <a:ln w="8890">
            <a:solidFill>
              <a:srgbClr val="FF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0576" y="2199132"/>
            <a:ext cx="74980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BE123C"/>
                </a:solidFill>
                <a:latin typeface="Segoe UI"/>
              </a:rPr>
              <a:t>DRIVER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2697480"/>
            <a:ext cx="2176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52525"/>
                </a:solidFill>
                <a:latin typeface="Segoe UI"/>
              </a:rPr>
              <a:t>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3182112"/>
            <a:ext cx="21762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PII boundary violations, unsupported claims, audit gaps and rework after incorrect flags.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407408"/>
            <a:ext cx="6720840" cy="148132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68096" y="4617720"/>
            <a:ext cx="1188720" cy="292608"/>
          </a:xfrm>
          <a:prstGeom prst="roundRect">
            <a:avLst>
              <a:gd name="adj" fmla="val 12000"/>
            </a:avLst>
          </a:prstGeom>
          <a:solidFill>
            <a:srgbClr val="ECFDF3"/>
          </a:solidFill>
          <a:ln w="8890">
            <a:solidFill>
              <a:srgbClr val="ECF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622292"/>
            <a:ext cx="11887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5803D"/>
                </a:solidFill>
                <a:latin typeface="Segoe UI"/>
              </a:rPr>
              <a:t>MEASUREMENT 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5074920"/>
            <a:ext cx="62636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252525"/>
                </a:solidFill>
                <a:latin typeface="Segoe UI"/>
              </a:rPr>
              <a:t>ROI = (labour saved + avoided rework + quality/risk value − operating cost) ÷ operating cost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79" y="4407408"/>
            <a:ext cx="4142232" cy="1481328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54112" y="4645152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REPORT ONLY OBSERVED RESULTS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54112" y="5047488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Baseline → pilot cohort → production trend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ROI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HireLens — Agentic AI Agents</dc:title>
  <dc:subject>Application agent architecture, Agentic RAG, privacy and observability</dc:subject>
  <dc:creator>HireLens</dc:creator>
  <cp:keywords>HireLens, Agentic AI, RAG, recruitment, LangGraph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