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297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678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D024A03-9851-4A97-AF18-754C0C4B79D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914400" cy="47625"/>
          </a:xfrm>
          <a:prstGeom prst="rect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32F242-CAB6-493F-9349-2419337AA25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RECRUITMENT INTELLIGENCE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F3AE59-8A0C-473C-8C6F-58EAEBB8A99D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666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800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4800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HireLens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B2BA29-C29A-4A13-89F3-07CF8BE134E1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6191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Evidence-based hiring, orchestrated by an adaptive multi-agent system.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003056-F11B-44FF-B378-1AB2EEC5A3C0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628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Reflexion  •  Shared memory  •  Cross-candidate reasoning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FFFBAC-1F74-4FF8-818D-F4FBDC83BA18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v0.1.0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FF685E-6308-49EF-88CA-3B0406AC6DDA}"/>
              </a:ext>
            </a:extLst>
          </p:cNvPr>
          <p:cNvSpPr>
            <a:spLocks noGrp="1"/>
          </p:cNvSpPr>
          <p:nvPr/>
        </p:nvSpPr>
        <p:spPr>
          <a:xfrm>
            <a:off x="7810500" y="876300"/>
            <a:ext cx="3143250" cy="3143250"/>
          </a:xfrm>
          <a:prstGeom prst="ellipse">
            <a:avLst/>
          </a:prstGeom>
          <a:solidFill>
            <a:srgbClr val="E7DDE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4DF6FF-E620-46E5-99AD-132EFF183988}"/>
              </a:ext>
            </a:extLst>
          </p:cNvPr>
          <p:cNvSpPr>
            <a:spLocks noGrp="1"/>
          </p:cNvSpPr>
          <p:nvPr/>
        </p:nvSpPr>
        <p:spPr>
          <a:xfrm>
            <a:off x="8334375" y="1409700"/>
            <a:ext cx="1028700" cy="1028700"/>
          </a:xfrm>
          <a:prstGeom prst="ellipse">
            <a:avLst/>
          </a:prstGeom>
          <a:solidFill>
            <a:srgbClr val="4A17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A9F7DA6-5CEC-4C56-B072-BFBCEB65E5E6}"/>
              </a:ext>
            </a:extLst>
          </p:cNvPr>
          <p:cNvSpPr>
            <a:spLocks noGrp="1"/>
          </p:cNvSpPr>
          <p:nvPr/>
        </p:nvSpPr>
        <p:spPr>
          <a:xfrm>
            <a:off x="9525000" y="1809750"/>
            <a:ext cx="1028700" cy="102870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6000AB-22F4-49B3-A615-84474EDEC4E8}"/>
              </a:ext>
            </a:extLst>
          </p:cNvPr>
          <p:cNvSpPr>
            <a:spLocks noGrp="1"/>
          </p:cNvSpPr>
          <p:nvPr/>
        </p:nvSpPr>
        <p:spPr>
          <a:xfrm>
            <a:off x="8763000" y="2895600"/>
            <a:ext cx="1028700" cy="1028700"/>
          </a:xfrm>
          <a:prstGeom prst="ellipse">
            <a:avLst/>
          </a:prstGeom>
          <a:solidFill>
            <a:srgbClr val="6E9B8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D766FA-D1EA-48DB-9604-6A12C72C08ED}"/>
              </a:ext>
            </a:extLst>
          </p:cNvPr>
          <p:cNvSpPr>
            <a:spLocks noGrp="1"/>
          </p:cNvSpPr>
          <p:nvPr/>
        </p:nvSpPr>
        <p:spPr>
          <a:xfrm>
            <a:off x="8334375" y="1724025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9DB242-6EB6-48B6-A55F-DE342B7B5CA3}"/>
              </a:ext>
            </a:extLst>
          </p:cNvPr>
          <p:cNvSpPr>
            <a:spLocks noGrp="1"/>
          </p:cNvSpPr>
          <p:nvPr/>
        </p:nvSpPr>
        <p:spPr>
          <a:xfrm>
            <a:off x="9525000" y="2124075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558788-CF39-4E5B-B310-CFFF702F799E}"/>
              </a:ext>
            </a:extLst>
          </p:cNvPr>
          <p:cNvSpPr>
            <a:spLocks noGrp="1"/>
          </p:cNvSpPr>
          <p:nvPr/>
        </p:nvSpPr>
        <p:spPr>
          <a:xfrm>
            <a:off x="8763000" y="3209925"/>
            <a:ext cx="1028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</a:t>
            </a:r>
          </a:p>
        </p:txBody>
      </p:sp>
      <p:cxnSp>
        <p:nvCxnSpPr>
          <p:cNvPr id="14" name="Straight Arrow Connector 13"/>
          <p:cNvCxnSpPr>
            <a:stCxn id="8" idx="6"/>
            <a:endCxn id="9" idx="2"/>
          </p:cNvCxnSpPr>
          <p:nvPr/>
        </p:nvCxnSpPr>
        <p:spPr>
          <a:xfrm>
            <a:off x="9363075" y="1924050"/>
            <a:ext cx="161925" cy="400050"/>
          </a:xfrm>
          <a:prstGeom prst="straightConnector1">
            <a:avLst/>
          </a:prstGeom>
          <a:ln w="28575">
            <a:solidFill>
              <a:srgbClr val="C7953A"/>
            </a:solidFill>
            <a:prstDash val="solid"/>
          </a:ln>
        </p:spPr>
      </p:cxnSp>
      <p:cxnSp>
        <p:nvCxnSpPr>
          <p:cNvPr id="15" name="Straight Arrow Connector 14"/>
          <p:cNvCxnSpPr>
            <a:stCxn id="9" idx="4"/>
            <a:endCxn id="10" idx="6"/>
          </p:cNvCxnSpPr>
          <p:nvPr/>
        </p:nvCxnSpPr>
        <p:spPr>
          <a:xfrm flipH="1">
            <a:off x="9791700" y="2838450"/>
            <a:ext cx="247650" cy="571500"/>
          </a:xfrm>
          <a:prstGeom prst="straightConnector1">
            <a:avLst/>
          </a:prstGeom>
          <a:ln w="28575">
            <a:solidFill>
              <a:srgbClr val="C7953A"/>
            </a:solidFill>
            <a:prstDash val="solid"/>
          </a:ln>
        </p:spPr>
      </p:cxnSp>
      <p:cxnSp>
        <p:nvCxnSpPr>
          <p:cNvPr id="16" name="Straight Arrow Connector 15"/>
          <p:cNvCxnSpPr>
            <a:stCxn id="10" idx="0"/>
            <a:endCxn id="8" idx="4"/>
          </p:cNvCxnSpPr>
          <p:nvPr/>
        </p:nvCxnSpPr>
        <p:spPr>
          <a:xfrm flipH="1" flipV="1">
            <a:off x="8848725" y="2438400"/>
            <a:ext cx="428625" cy="457200"/>
          </a:xfrm>
          <a:prstGeom prst="straightConnector1">
            <a:avLst/>
          </a:prstGeom>
          <a:ln w="28575">
            <a:solidFill>
              <a:srgbClr val="C7953A"/>
            </a:solidFill>
            <a:prstDash val="solid"/>
          </a:ln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2C6C8F9-FA3C-4C81-8BBE-C1E0CB3F0649}"/>
              </a:ext>
            </a:extLst>
          </p:cNvPr>
          <p:cNvSpPr>
            <a:spLocks noGrp="1"/>
          </p:cNvSpPr>
          <p:nvPr/>
        </p:nvSpPr>
        <p:spPr>
          <a:xfrm>
            <a:off x="9982200" y="4095750"/>
            <a:ext cx="142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HUMAN</a:t>
            </a:r>
          </a:p>
          <a:p>
            <a:pPr>
              <a:defRPr sz="120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5D6E06-1D2E-40A9-80B3-06E6B257ED6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 /  v0.1.0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851394-8AF5-4161-B41E-E3AF7101B112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162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457DD95-716A-4981-BA93-935B5FA1515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THE PROPOSITION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387B80-DBB7-48E3-96D7-42E5C44626C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34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Hiring becomes a chain of evidence, not a stack of documents.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AEC8C-FD4B-422F-8D49-A793634ACD40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normalises inputs, coordinates specialist reasoning, and delivers an auditable decision packet.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1794D6-9D30-4507-B808-2C2C9D90D00A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FE861C-4EAB-4491-9E40-73EB027E1110}"/>
              </a:ext>
            </a:extLst>
          </p:cNvPr>
          <p:cNvSpPr>
            <a:spLocks noGrp="1"/>
          </p:cNvSpPr>
          <p:nvPr/>
        </p:nvSpPr>
        <p:spPr>
          <a:xfrm>
            <a:off x="628650" y="23812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UNSTRUCTURED INPUTS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D6E6BE-F59D-41DF-9268-B78C66B3FC40}"/>
              </a:ext>
            </a:extLst>
          </p:cNvPr>
          <p:cNvSpPr>
            <a:spLocks noGrp="1"/>
          </p:cNvSpPr>
          <p:nvPr/>
        </p:nvSpPr>
        <p:spPr>
          <a:xfrm>
            <a:off x="4333875" y="23812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REPRODUCIBLE INTELLIGENCE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D969BF-6EA2-45D8-A91F-45081CDB13EC}"/>
              </a:ext>
            </a:extLst>
          </p:cNvPr>
          <p:cNvSpPr>
            <a:spLocks noGrp="1"/>
          </p:cNvSpPr>
          <p:nvPr/>
        </p:nvSpPr>
        <p:spPr>
          <a:xfrm>
            <a:off x="9620250" y="23812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HUMAN DECISION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C465BC-E54A-4309-A302-36426D3F56C2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2286000" cy="666750"/>
          </a:xfrm>
          <a:prstGeom prst="roundRect">
            <a:avLst>
              <a:gd name="adj" fmla="val 14286"/>
            </a:avLst>
          </a:prstGeom>
          <a:solidFill>
            <a:srgbClr val="EADFCF"/>
          </a:solidFill>
          <a:ln w="14288">
            <a:solidFill>
              <a:srgbClr val="C795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0748AC-EE76-4B3F-B8EE-19C57D974450}"/>
              </a:ext>
            </a:extLst>
          </p:cNvPr>
          <p:cNvSpPr>
            <a:spLocks noGrp="1"/>
          </p:cNvSpPr>
          <p:nvPr/>
        </p:nvSpPr>
        <p:spPr>
          <a:xfrm>
            <a:off x="704850" y="3088005"/>
            <a:ext cx="2095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JOB DESCRIPTION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EBCBBF-7280-4427-9CFD-11C3F20F272D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286000" cy="666750"/>
          </a:xfrm>
          <a:prstGeom prst="roundRect">
            <a:avLst>
              <a:gd name="adj" fmla="val 14286"/>
            </a:avLst>
          </a:prstGeom>
          <a:solidFill>
            <a:srgbClr val="F2D9D3"/>
          </a:solidFill>
          <a:ln w="14288">
            <a:solidFill>
              <a:srgbClr val="E4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C77064-0EEE-4C69-A4E2-15140B0455B9}"/>
              </a:ext>
            </a:extLst>
          </p:cNvPr>
          <p:cNvSpPr>
            <a:spLocks noGrp="1"/>
          </p:cNvSpPr>
          <p:nvPr/>
        </p:nvSpPr>
        <p:spPr>
          <a:xfrm>
            <a:off x="704850" y="4135755"/>
            <a:ext cx="209550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RESUMES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C6F7A19-BB23-4E97-9D37-0BB92D9D5801}"/>
              </a:ext>
            </a:extLst>
          </p:cNvPr>
          <p:cNvSpPr>
            <a:spLocks noGrp="1"/>
          </p:cNvSpPr>
          <p:nvPr/>
        </p:nvSpPr>
        <p:spPr>
          <a:xfrm>
            <a:off x="3924300" y="2933700"/>
            <a:ext cx="2476500" cy="742950"/>
          </a:xfrm>
          <a:prstGeom prst="roundRect">
            <a:avLst>
              <a:gd name="adj" fmla="val 12821"/>
            </a:avLst>
          </a:prstGeom>
          <a:solidFill>
            <a:srgbClr val="FFFDF8"/>
          </a:solidFill>
          <a:ln w="14288">
            <a:solidFill>
              <a:srgbClr val="4A1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634E0-C42E-4AA0-8D0F-3781A949C465}"/>
              </a:ext>
            </a:extLst>
          </p:cNvPr>
          <p:cNvSpPr>
            <a:spLocks noGrp="1"/>
          </p:cNvSpPr>
          <p:nvPr/>
        </p:nvSpPr>
        <p:spPr>
          <a:xfrm>
            <a:off x="4019550" y="3189446"/>
            <a:ext cx="2286000" cy="2486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Structured, comparable</a:t>
            </a:r>
          </a:p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profiles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2174989-5505-4D1D-BE2A-24A0AEB5CF1C}"/>
              </a:ext>
            </a:extLst>
          </p:cNvPr>
          <p:cNvSpPr>
            <a:spLocks noGrp="1"/>
          </p:cNvSpPr>
          <p:nvPr/>
        </p:nvSpPr>
        <p:spPr>
          <a:xfrm>
            <a:off x="6838950" y="2933700"/>
            <a:ext cx="2381250" cy="742950"/>
          </a:xfrm>
          <a:prstGeom prst="roundRect">
            <a:avLst>
              <a:gd name="adj" fmla="val 12821"/>
            </a:avLst>
          </a:prstGeom>
          <a:solidFill>
            <a:srgbClr val="E7DDE6"/>
          </a:solidFill>
          <a:ln w="14288">
            <a:solidFill>
              <a:srgbClr val="4A1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01048D-A416-4E0A-B15C-4D8D4ABDB7C2}"/>
              </a:ext>
            </a:extLst>
          </p:cNvPr>
          <p:cNvSpPr>
            <a:spLocks noGrp="1"/>
          </p:cNvSpPr>
          <p:nvPr/>
        </p:nvSpPr>
        <p:spPr>
          <a:xfrm>
            <a:off x="6934200" y="3189446"/>
            <a:ext cx="2190750" cy="2486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Adaptive multi-agent</a:t>
            </a:r>
          </a:p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3AE6B3-4D4A-4CB8-9D70-9CC1F086550A}"/>
              </a:ext>
            </a:extLst>
          </p:cNvPr>
          <p:cNvSpPr>
            <a:spLocks noGrp="1"/>
          </p:cNvSpPr>
          <p:nvPr/>
        </p:nvSpPr>
        <p:spPr>
          <a:xfrm>
            <a:off x="9810750" y="3238500"/>
            <a:ext cx="1714500" cy="876300"/>
          </a:xfrm>
          <a:prstGeom prst="roundRect">
            <a:avLst>
              <a:gd name="adj" fmla="val 10870"/>
            </a:avLst>
          </a:prstGeom>
          <a:solidFill>
            <a:srgbClr val="4A173C"/>
          </a:solidFill>
          <a:ln w="14288">
            <a:solidFill>
              <a:srgbClr val="4A1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0BE7B2-25E1-4A7E-B9C6-72D91552632C}"/>
              </a:ext>
            </a:extLst>
          </p:cNvPr>
          <p:cNvSpPr>
            <a:spLocks noGrp="1"/>
          </p:cNvSpPr>
          <p:nvPr/>
        </p:nvSpPr>
        <p:spPr>
          <a:xfrm>
            <a:off x="9906000" y="3541633"/>
            <a:ext cx="1524000" cy="2900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  <a:p>
            <a:pPr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packet</a:t>
            </a:r>
          </a:p>
        </p:txBody>
      </p:sp>
      <p:cxnSp>
        <p:nvCxnSpPr>
          <p:cNvPr id="18" name="Straight Arrow Connector 17"/>
          <p:cNvCxnSpPr>
            <a:stCxn id="8" idx="3"/>
            <a:endCxn id="12" idx="1"/>
          </p:cNvCxnSpPr>
          <p:nvPr/>
        </p:nvCxnSpPr>
        <p:spPr>
          <a:xfrm>
            <a:off x="2895600" y="3190875"/>
            <a:ext cx="1028700" cy="114300"/>
          </a:xfrm>
          <a:prstGeom prst="straightConnector1">
            <a:avLst/>
          </a:prstGeom>
          <a:ln w="19050">
            <a:solidFill>
              <a:srgbClr val="C7953A"/>
            </a:solidFill>
            <a:prstDash val="solid"/>
            <a:tailEnd type="arrow" w="sm" len="sm"/>
          </a:ln>
        </p:spPr>
      </p:cxnSp>
      <p:cxnSp>
        <p:nvCxnSpPr>
          <p:cNvPr id="19" name="Straight Arrow Connector 18"/>
          <p:cNvCxnSpPr>
            <a:stCxn id="10" idx="3"/>
            <a:endCxn id="12" idx="1"/>
          </p:cNvCxnSpPr>
          <p:nvPr/>
        </p:nvCxnSpPr>
        <p:spPr>
          <a:xfrm flipV="1">
            <a:off x="2895600" y="3305175"/>
            <a:ext cx="1028700" cy="933450"/>
          </a:xfrm>
          <a:prstGeom prst="straightConnector1">
            <a:avLst/>
          </a:prstGeom>
          <a:ln w="19050">
            <a:solidFill>
              <a:srgbClr val="E45C5C"/>
            </a:solidFill>
            <a:prstDash val="solid"/>
            <a:tailEnd type="arrow" w="sm" len="sm"/>
          </a:ln>
        </p:spPr>
      </p:cxnSp>
      <p:cxnSp>
        <p:nvCxnSpPr>
          <p:cNvPr id="20" name="Straight Arrow Connector 19"/>
          <p:cNvCxnSpPr>
            <a:stCxn id="12" idx="3"/>
            <a:endCxn id="14" idx="1"/>
          </p:cNvCxnSpPr>
          <p:nvPr/>
        </p:nvCxnSpPr>
        <p:spPr>
          <a:xfrm>
            <a:off x="6400800" y="3305175"/>
            <a:ext cx="438150" cy="0"/>
          </a:xfrm>
          <a:prstGeom prst="straightConnector1">
            <a:avLst/>
          </a:prstGeom>
          <a:ln w="19050">
            <a:solidFill>
              <a:srgbClr val="4A173C"/>
            </a:solidFill>
            <a:prstDash val="solid"/>
            <a:tailEnd type="arrow" w="sm" len="sm"/>
          </a:ln>
        </p:spPr>
      </p:cxnSp>
      <p:cxnSp>
        <p:nvCxnSpPr>
          <p:cNvPr id="21" name="Straight Arrow Connector 20"/>
          <p:cNvCxnSpPr>
            <a:stCxn id="14" idx="3"/>
            <a:endCxn id="16" idx="1"/>
          </p:cNvCxnSpPr>
          <p:nvPr/>
        </p:nvCxnSpPr>
        <p:spPr>
          <a:xfrm>
            <a:off x="9220200" y="3305175"/>
            <a:ext cx="590550" cy="371475"/>
          </a:xfrm>
          <a:prstGeom prst="straightConnector1">
            <a:avLst/>
          </a:prstGeom>
          <a:ln w="19050">
            <a:solidFill>
              <a:srgbClr val="4A173C"/>
            </a:solidFill>
            <a:prstDash val="solid"/>
            <a:tailEnd type="arrow" w="sm" len="sm"/>
          </a:ln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C2A49E4-75CA-4366-9B4E-347A1E7F2B03}"/>
              </a:ext>
            </a:extLst>
          </p:cNvPr>
          <p:cNvSpPr>
            <a:spLocks noGrp="1"/>
          </p:cNvSpPr>
          <p:nvPr/>
        </p:nvSpPr>
        <p:spPr>
          <a:xfrm>
            <a:off x="3924300" y="39433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Requirements • importance • categories • experience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450319-2349-4966-9F3E-3886BDBFCFB2}"/>
              </a:ext>
            </a:extLst>
          </p:cNvPr>
          <p:cNvSpPr>
            <a:spLocks noGrp="1"/>
          </p:cNvSpPr>
          <p:nvPr/>
        </p:nvSpPr>
        <p:spPr>
          <a:xfrm>
            <a:off x="6838950" y="3943350"/>
            <a:ext cx="238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Routing • retrieval • gap analysis • questions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EF5A68-9EE9-44A8-BFF3-2BCE67328FE8}"/>
              </a:ext>
            </a:extLst>
          </p:cNvPr>
          <p:cNvSpPr>
            <a:spLocks noGrp="1"/>
          </p:cNvSpPr>
          <p:nvPr/>
        </p:nvSpPr>
        <p:spPr>
          <a:xfrm>
            <a:off x="8953500" y="50673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Every AI output is advisory.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175811-5695-42A3-A802-93AC27A2D15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 /  v0.1.0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014CE3-2E60-41F9-B2ED-4890D490B3D2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55924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7FDAC502-C1FC-4142-A026-8268D23985D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PLATFORM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BB1515-E0F9-43FA-AB6B-45824F84400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34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One platform supports the full hiring loop.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3E055B-E97A-4A9B-9A03-BF907F64393C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Capabilities are organised around a continuous evidence trail—not isolated point solutions.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817069-3A3F-4B8E-A1A3-BBAB417963DE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C535D5-5501-4242-8A3D-593A02401509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 i="0">
                <a:solidFill>
                  <a:srgbClr val="E45C5C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E45C5C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F383F7-9245-4F5A-A816-9B1438E460F2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INTAKE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D644A9-2753-4DCA-A81C-08888D661D51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1333500" cy="2857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FEF8EE-969A-466C-A780-D79855FFB66A}"/>
              </a:ext>
            </a:extLst>
          </p:cNvPr>
          <p:cNvSpPr>
            <a:spLocks noGrp="1"/>
          </p:cNvSpPr>
          <p:nvPr/>
        </p:nvSpPr>
        <p:spPr>
          <a:xfrm>
            <a:off x="2381250" y="23812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 i="0">
                <a:solidFill>
                  <a:srgbClr val="E45C5C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E45C5C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9AC88F-4DA3-4355-8035-C152B7FA63D6}"/>
              </a:ext>
            </a:extLst>
          </p:cNvPr>
          <p:cNvSpPr>
            <a:spLocks noGrp="1"/>
          </p:cNvSpPr>
          <p:nvPr/>
        </p:nvSpPr>
        <p:spPr>
          <a:xfrm>
            <a:off x="2381250" y="27813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ANALYSE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141661-8C80-4E71-9BA8-73F969B8EC66}"/>
              </a:ext>
            </a:extLst>
          </p:cNvPr>
          <p:cNvSpPr>
            <a:spLocks noGrp="1"/>
          </p:cNvSpPr>
          <p:nvPr/>
        </p:nvSpPr>
        <p:spPr>
          <a:xfrm>
            <a:off x="2381250" y="3067050"/>
            <a:ext cx="1333500" cy="2857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179CA0-C460-4FF9-ADBF-04986F565614}"/>
              </a:ext>
            </a:extLst>
          </p:cNvPr>
          <p:cNvSpPr>
            <a:spLocks noGrp="1"/>
          </p:cNvSpPr>
          <p:nvPr/>
        </p:nvSpPr>
        <p:spPr>
          <a:xfrm>
            <a:off x="4095750" y="23812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 i="0">
                <a:solidFill>
                  <a:srgbClr val="E45C5C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E45C5C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20153F-383B-42F3-A029-3CFFFB88A5DB}"/>
              </a:ext>
            </a:extLst>
          </p:cNvPr>
          <p:cNvSpPr>
            <a:spLocks noGrp="1"/>
          </p:cNvSpPr>
          <p:nvPr/>
        </p:nvSpPr>
        <p:spPr>
          <a:xfrm>
            <a:off x="4095750" y="27813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INTERVIEW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6FB3A4-0A1D-43FA-9435-0868DDEC256C}"/>
              </a:ext>
            </a:extLst>
          </p:cNvPr>
          <p:cNvSpPr>
            <a:spLocks noGrp="1"/>
          </p:cNvSpPr>
          <p:nvPr/>
        </p:nvSpPr>
        <p:spPr>
          <a:xfrm>
            <a:off x="4095750" y="3067050"/>
            <a:ext cx="1333500" cy="2857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AF21E4-27E6-44B6-937D-1C1F727A895D}"/>
              </a:ext>
            </a:extLst>
          </p:cNvPr>
          <p:cNvSpPr>
            <a:spLocks noGrp="1"/>
          </p:cNvSpPr>
          <p:nvPr/>
        </p:nvSpPr>
        <p:spPr>
          <a:xfrm>
            <a:off x="5810250" y="23812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 i="0">
                <a:solidFill>
                  <a:srgbClr val="E45C5C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E45C5C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FEE12F-D884-412C-B613-0C68648DA0DC}"/>
              </a:ext>
            </a:extLst>
          </p:cNvPr>
          <p:cNvSpPr>
            <a:spLocks noGrp="1"/>
          </p:cNvSpPr>
          <p:nvPr/>
        </p:nvSpPr>
        <p:spPr>
          <a:xfrm>
            <a:off x="5810250" y="27813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9CB6D7-867C-4E3A-9D51-F344C46BE2BE}"/>
              </a:ext>
            </a:extLst>
          </p:cNvPr>
          <p:cNvSpPr>
            <a:spLocks noGrp="1"/>
          </p:cNvSpPr>
          <p:nvPr/>
        </p:nvSpPr>
        <p:spPr>
          <a:xfrm>
            <a:off x="5810250" y="3067050"/>
            <a:ext cx="1333500" cy="2857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1E0960-4157-43D0-AAA5-5523A2ABF3F0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 i="0">
                <a:solidFill>
                  <a:srgbClr val="E45C5C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E45C5C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D83E2B-545D-450B-BA09-D82CF5873AF6}"/>
              </a:ext>
            </a:extLst>
          </p:cNvPr>
          <p:cNvSpPr>
            <a:spLocks noGrp="1"/>
          </p:cNvSpPr>
          <p:nvPr/>
        </p:nvSpPr>
        <p:spPr>
          <a:xfrm>
            <a:off x="7524750" y="27813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161788-141C-4801-A75D-0890672F6BB8}"/>
              </a:ext>
            </a:extLst>
          </p:cNvPr>
          <p:cNvSpPr>
            <a:spLocks noGrp="1"/>
          </p:cNvSpPr>
          <p:nvPr/>
        </p:nvSpPr>
        <p:spPr>
          <a:xfrm>
            <a:off x="7524750" y="3067050"/>
            <a:ext cx="1333500" cy="2857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A4086D-290F-4C4D-BC78-0E0D77300570}"/>
              </a:ext>
            </a:extLst>
          </p:cNvPr>
          <p:cNvSpPr>
            <a:spLocks noGrp="1"/>
          </p:cNvSpPr>
          <p:nvPr/>
        </p:nvSpPr>
        <p:spPr>
          <a:xfrm>
            <a:off x="9239250" y="2381250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 i="0">
                <a:solidFill>
                  <a:srgbClr val="E45C5C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E45C5C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4489B4-24CB-4A05-83AA-D42E111E6859}"/>
              </a:ext>
            </a:extLst>
          </p:cNvPr>
          <p:cNvSpPr>
            <a:spLocks noGrp="1"/>
          </p:cNvSpPr>
          <p:nvPr/>
        </p:nvSpPr>
        <p:spPr>
          <a:xfrm>
            <a:off x="9239250" y="27813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020E1C-4CA5-467B-9504-D8F98327D4AB}"/>
              </a:ext>
            </a:extLst>
          </p:cNvPr>
          <p:cNvSpPr>
            <a:spLocks noGrp="1"/>
          </p:cNvSpPr>
          <p:nvPr/>
        </p:nvSpPr>
        <p:spPr>
          <a:xfrm>
            <a:off x="9239250" y="3067050"/>
            <a:ext cx="1333500" cy="28575"/>
          </a:xfrm>
          <a:prstGeom prst="rect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DAE60B4-DFBD-4B7B-903E-6AA870AE52ED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76200" cy="76200"/>
          </a:xfrm>
          <a:prstGeom prst="ellipse">
            <a:avLst/>
          </a:prstGeom>
          <a:solidFill>
            <a:srgbClr val="C795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C265EB-BEAE-4EC2-9252-7EE9E44AAB76}"/>
              </a:ext>
            </a:extLst>
          </p:cNvPr>
          <p:cNvSpPr>
            <a:spLocks noGrp="1"/>
          </p:cNvSpPr>
          <p:nvPr/>
        </p:nvSpPr>
        <p:spPr>
          <a:xfrm>
            <a:off x="857250" y="33528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Job intake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3C85588-2880-426F-B1AA-1ADAA566B0CC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76200" cy="76200"/>
          </a:xfrm>
          <a:prstGeom prst="ellipse">
            <a:avLst/>
          </a:prstGeom>
          <a:solidFill>
            <a:srgbClr val="C795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8C2024-88B3-4B7C-9C72-5975C894B88B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Candidate intake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EE1A704-E090-436A-BB5C-EC8CD4477A99}"/>
              </a:ext>
            </a:extLst>
          </p:cNvPr>
          <p:cNvSpPr>
            <a:spLocks noGrp="1"/>
          </p:cNvSpPr>
          <p:nvPr/>
        </p:nvSpPr>
        <p:spPr>
          <a:xfrm>
            <a:off x="2400300" y="3409950"/>
            <a:ext cx="76200" cy="76200"/>
          </a:xfrm>
          <a:prstGeom prst="ellipse">
            <a:avLst/>
          </a:prstGeom>
          <a:solidFill>
            <a:srgbClr val="4A17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4ED13C-A4A8-480A-8300-D1D9821CCE49}"/>
              </a:ext>
            </a:extLst>
          </p:cNvPr>
          <p:cNvSpPr>
            <a:spLocks noGrp="1"/>
          </p:cNvSpPr>
          <p:nvPr/>
        </p:nvSpPr>
        <p:spPr>
          <a:xfrm>
            <a:off x="2571750" y="33528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Adaptive routing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319EEC3-AC83-47BA-B835-805C40483483}"/>
              </a:ext>
            </a:extLst>
          </p:cNvPr>
          <p:cNvSpPr>
            <a:spLocks noGrp="1"/>
          </p:cNvSpPr>
          <p:nvPr/>
        </p:nvSpPr>
        <p:spPr>
          <a:xfrm>
            <a:off x="2400300" y="3848100"/>
            <a:ext cx="76200" cy="76200"/>
          </a:xfrm>
          <a:prstGeom prst="ellipse">
            <a:avLst/>
          </a:prstGeom>
          <a:solidFill>
            <a:srgbClr val="4A17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3CD0A8-1FC4-4B5F-8AB7-6DBA06FA8D8C}"/>
              </a:ext>
            </a:extLst>
          </p:cNvPr>
          <p:cNvSpPr>
            <a:spLocks noGrp="1"/>
          </p:cNvSpPr>
          <p:nvPr/>
        </p:nvSpPr>
        <p:spPr>
          <a:xfrm>
            <a:off x="2571750" y="379095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Evidence matching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0DEBBDA-CD92-4177-978F-C68E526BED26}"/>
              </a:ext>
            </a:extLst>
          </p:cNvPr>
          <p:cNvSpPr>
            <a:spLocks noGrp="1"/>
          </p:cNvSpPr>
          <p:nvPr/>
        </p:nvSpPr>
        <p:spPr>
          <a:xfrm>
            <a:off x="2400300" y="4286250"/>
            <a:ext cx="76200" cy="76200"/>
          </a:xfrm>
          <a:prstGeom prst="ellipse">
            <a:avLst/>
          </a:prstGeom>
          <a:solidFill>
            <a:srgbClr val="4A17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BF0CEB-4901-4203-92CD-3B1C88C36B12}"/>
              </a:ext>
            </a:extLst>
          </p:cNvPr>
          <p:cNvSpPr>
            <a:spLocks noGrp="1"/>
          </p:cNvSpPr>
          <p:nvPr/>
        </p:nvSpPr>
        <p:spPr>
          <a:xfrm>
            <a:off x="2571750" y="42291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Peer context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40A1509-E013-43F9-A05A-EDF33C858DE1}"/>
              </a:ext>
            </a:extLst>
          </p:cNvPr>
          <p:cNvSpPr>
            <a:spLocks noGrp="1"/>
          </p:cNvSpPr>
          <p:nvPr/>
        </p:nvSpPr>
        <p:spPr>
          <a:xfrm>
            <a:off x="4114800" y="3409950"/>
            <a:ext cx="76200" cy="7620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C2FC16-5267-4835-8235-D40583E7C796}"/>
              </a:ext>
            </a:extLst>
          </p:cNvPr>
          <p:cNvSpPr>
            <a:spLocks noGrp="1"/>
          </p:cNvSpPr>
          <p:nvPr/>
        </p:nvSpPr>
        <p:spPr>
          <a:xfrm>
            <a:off x="4286250" y="33528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Question sets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E26AE8A-F783-4DB7-A2B5-104DD738E8E2}"/>
              </a:ext>
            </a:extLst>
          </p:cNvPr>
          <p:cNvSpPr>
            <a:spLocks noGrp="1"/>
          </p:cNvSpPr>
          <p:nvPr/>
        </p:nvSpPr>
        <p:spPr>
          <a:xfrm>
            <a:off x="4114800" y="3848100"/>
            <a:ext cx="76200" cy="7620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C0D2B5-092B-47DA-95C6-ED8F157A1CB3}"/>
              </a:ext>
            </a:extLst>
          </p:cNvPr>
          <p:cNvSpPr>
            <a:spLocks noGrp="1"/>
          </p:cNvSpPr>
          <p:nvPr/>
        </p:nvSpPr>
        <p:spPr>
          <a:xfrm>
            <a:off x="4286250" y="379095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Transcript scoring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32B736F-EB81-4B0C-8B0C-064D2AE6F4F0}"/>
              </a:ext>
            </a:extLst>
          </p:cNvPr>
          <p:cNvSpPr>
            <a:spLocks noGrp="1"/>
          </p:cNvSpPr>
          <p:nvPr/>
        </p:nvSpPr>
        <p:spPr>
          <a:xfrm>
            <a:off x="4114800" y="4286250"/>
            <a:ext cx="76200" cy="7620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29F5214-9635-4B3A-8A50-ACC63F54CF9C}"/>
              </a:ext>
            </a:extLst>
          </p:cNvPr>
          <p:cNvSpPr>
            <a:spLocks noGrp="1"/>
          </p:cNvSpPr>
          <p:nvPr/>
        </p:nvSpPr>
        <p:spPr>
          <a:xfrm>
            <a:off x="4286250" y="42291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Red flags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897E301-F4FA-4556-ADC3-D3DA7644E099}"/>
              </a:ext>
            </a:extLst>
          </p:cNvPr>
          <p:cNvSpPr>
            <a:spLocks noGrp="1"/>
          </p:cNvSpPr>
          <p:nvPr/>
        </p:nvSpPr>
        <p:spPr>
          <a:xfrm>
            <a:off x="5829300" y="3409950"/>
            <a:ext cx="76200" cy="76200"/>
          </a:xfrm>
          <a:prstGeom prst="ellipse">
            <a:avLst/>
          </a:prstGeom>
          <a:solidFill>
            <a:srgbClr val="6E9B8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FD2A19-9E28-4EE2-8AAA-BF33C37D5B2F}"/>
              </a:ext>
            </a:extLst>
          </p:cNvPr>
          <p:cNvSpPr>
            <a:spLocks noGrp="1"/>
          </p:cNvSpPr>
          <p:nvPr/>
        </p:nvSpPr>
        <p:spPr>
          <a:xfrm>
            <a:off x="6000750" y="33528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Review synthesis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75468CA-78A7-4656-B7C1-D24769B055CD}"/>
              </a:ext>
            </a:extLst>
          </p:cNvPr>
          <p:cNvSpPr>
            <a:spLocks noGrp="1"/>
          </p:cNvSpPr>
          <p:nvPr/>
        </p:nvSpPr>
        <p:spPr>
          <a:xfrm>
            <a:off x="5829300" y="3848100"/>
            <a:ext cx="76200" cy="76200"/>
          </a:xfrm>
          <a:prstGeom prst="ellipse">
            <a:avLst/>
          </a:prstGeom>
          <a:solidFill>
            <a:srgbClr val="6E9B8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19758E-9A46-45E9-A0C9-42EB50CE8133}"/>
              </a:ext>
            </a:extLst>
          </p:cNvPr>
          <p:cNvSpPr>
            <a:spLocks noGrp="1"/>
          </p:cNvSpPr>
          <p:nvPr/>
        </p:nvSpPr>
        <p:spPr>
          <a:xfrm>
            <a:off x="6000750" y="379095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Human override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9E2365F-E1D1-4E13-896A-7D737FAA3308}"/>
              </a:ext>
            </a:extLst>
          </p:cNvPr>
          <p:cNvSpPr>
            <a:spLocks noGrp="1"/>
          </p:cNvSpPr>
          <p:nvPr/>
        </p:nvSpPr>
        <p:spPr>
          <a:xfrm>
            <a:off x="7543800" y="3409950"/>
            <a:ext cx="76200" cy="76200"/>
          </a:xfrm>
          <a:prstGeom prst="ellipse">
            <a:avLst/>
          </a:prstGeom>
          <a:solidFill>
            <a:srgbClr val="C795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57C751-5869-44D8-9C25-08E9EE058AAC}"/>
              </a:ext>
            </a:extLst>
          </p:cNvPr>
          <p:cNvSpPr>
            <a:spLocks noGrp="1"/>
          </p:cNvSpPr>
          <p:nvPr/>
        </p:nvSpPr>
        <p:spPr>
          <a:xfrm>
            <a:off x="7715250" y="33528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PDF prep report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5D93CE3-A960-4E63-9AC5-FA33FC7BE31D}"/>
              </a:ext>
            </a:extLst>
          </p:cNvPr>
          <p:cNvSpPr>
            <a:spLocks noGrp="1"/>
          </p:cNvSpPr>
          <p:nvPr/>
        </p:nvSpPr>
        <p:spPr>
          <a:xfrm>
            <a:off x="7543800" y="3848100"/>
            <a:ext cx="76200" cy="76200"/>
          </a:xfrm>
          <a:prstGeom prst="ellipse">
            <a:avLst/>
          </a:prstGeom>
          <a:solidFill>
            <a:srgbClr val="C795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50161C5-734E-43C4-AA51-EE014FD659D4}"/>
              </a:ext>
            </a:extLst>
          </p:cNvPr>
          <p:cNvSpPr>
            <a:spLocks noGrp="1"/>
          </p:cNvSpPr>
          <p:nvPr/>
        </p:nvSpPr>
        <p:spPr>
          <a:xfrm>
            <a:off x="7715250" y="379095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Email export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8164568-5BBD-4526-A2B6-5B99A24B5375}"/>
              </a:ext>
            </a:extLst>
          </p:cNvPr>
          <p:cNvSpPr>
            <a:spLocks noGrp="1"/>
          </p:cNvSpPr>
          <p:nvPr/>
        </p:nvSpPr>
        <p:spPr>
          <a:xfrm>
            <a:off x="7543800" y="4286250"/>
            <a:ext cx="76200" cy="76200"/>
          </a:xfrm>
          <a:prstGeom prst="ellipse">
            <a:avLst/>
          </a:prstGeom>
          <a:solidFill>
            <a:srgbClr val="C795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4A62792-2F12-46E6-9C00-FE8D33FE5ABA}"/>
              </a:ext>
            </a:extLst>
          </p:cNvPr>
          <p:cNvSpPr>
            <a:spLocks noGrp="1"/>
          </p:cNvSpPr>
          <p:nvPr/>
        </p:nvSpPr>
        <p:spPr>
          <a:xfrm>
            <a:off x="7715250" y="42291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Candidate compare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0565FDF-A76F-445B-A135-F8DF0E30FA8C}"/>
              </a:ext>
            </a:extLst>
          </p:cNvPr>
          <p:cNvSpPr>
            <a:spLocks noGrp="1"/>
          </p:cNvSpPr>
          <p:nvPr/>
        </p:nvSpPr>
        <p:spPr>
          <a:xfrm>
            <a:off x="9258300" y="3409950"/>
            <a:ext cx="76200" cy="76200"/>
          </a:xfrm>
          <a:prstGeom prst="ellipse">
            <a:avLst/>
          </a:prstGeom>
          <a:solidFill>
            <a:srgbClr val="4A17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D29B856-F5DF-4F82-87C4-C2A13DCCAF9B}"/>
              </a:ext>
            </a:extLst>
          </p:cNvPr>
          <p:cNvSpPr>
            <a:spLocks noGrp="1"/>
          </p:cNvSpPr>
          <p:nvPr/>
        </p:nvSpPr>
        <p:spPr>
          <a:xfrm>
            <a:off x="9429750" y="33528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Shared memory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DFDBB21-D5A3-4FC5-B862-9E1475F69E53}"/>
              </a:ext>
            </a:extLst>
          </p:cNvPr>
          <p:cNvSpPr>
            <a:spLocks noGrp="1"/>
          </p:cNvSpPr>
          <p:nvPr/>
        </p:nvSpPr>
        <p:spPr>
          <a:xfrm>
            <a:off x="9258300" y="3848100"/>
            <a:ext cx="76200" cy="76200"/>
          </a:xfrm>
          <a:prstGeom prst="ellipse">
            <a:avLst/>
          </a:prstGeom>
          <a:solidFill>
            <a:srgbClr val="4A17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8CEAC1B-A741-4509-9C7F-1EC5A3ADF217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Knowledge base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9A7E1D2-A1D8-4E60-895B-63EDF41B7C3B}"/>
              </a:ext>
            </a:extLst>
          </p:cNvPr>
          <p:cNvSpPr>
            <a:spLocks noGrp="1"/>
          </p:cNvSpPr>
          <p:nvPr/>
        </p:nvSpPr>
        <p:spPr>
          <a:xfrm>
            <a:off x="9258300" y="4286250"/>
            <a:ext cx="76200" cy="76200"/>
          </a:xfrm>
          <a:prstGeom prst="ellipse">
            <a:avLst/>
          </a:prstGeom>
          <a:solidFill>
            <a:srgbClr val="4A17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24A1CB3-24B7-4BE5-A1C9-6C1B5DFEFBE7}"/>
              </a:ext>
            </a:extLst>
          </p:cNvPr>
          <p:cNvSpPr>
            <a:spLocks noGrp="1"/>
          </p:cNvSpPr>
          <p:nvPr/>
        </p:nvSpPr>
        <p:spPr>
          <a:xfrm>
            <a:off x="9429750" y="42291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Token tracking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42F4305-177F-4BE3-8B2C-1EB0C5537906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440D9C1-89AF-4207-B62F-D2E4359B486E}"/>
              </a:ext>
            </a:extLst>
          </p:cNvPr>
          <p:cNvSpPr>
            <a:spLocks noGrp="1"/>
          </p:cNvSpPr>
          <p:nvPr/>
        </p:nvSpPr>
        <p:spPr>
          <a:xfrm>
            <a:off x="628650" y="56388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Shared workspace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62FD25F-3C5A-4504-BFD9-3C220869AB98}"/>
              </a:ext>
            </a:extLst>
          </p:cNvPr>
          <p:cNvSpPr>
            <a:spLocks noGrp="1"/>
          </p:cNvSpPr>
          <p:nvPr/>
        </p:nvSpPr>
        <p:spPr>
          <a:xfrm>
            <a:off x="2343150" y="5638800"/>
            <a:ext cx="581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All authenticated users manage all jobs and candidates; created_by remains an audit field.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E6979A9-0B5B-44A0-BE22-EDB6A37BE491}"/>
              </a:ext>
            </a:extLst>
          </p:cNvPr>
          <p:cNvSpPr>
            <a:spLocks noGrp="1"/>
          </p:cNvSpPr>
          <p:nvPr/>
        </p:nvSpPr>
        <p:spPr>
          <a:xfrm>
            <a:off x="8763000" y="56388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Safe deletion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0E276E-862B-453C-AFC4-87E97D931322}"/>
              </a:ext>
            </a:extLst>
          </p:cNvPr>
          <p:cNvSpPr>
            <a:spLocks noGrp="1"/>
          </p:cNvSpPr>
          <p:nvPr/>
        </p:nvSpPr>
        <p:spPr>
          <a:xfrm>
            <a:off x="8763000" y="59245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Wrong-job profiles can be removed with all associated data.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F227BDF-8D2F-4BB8-B71A-EE56608B6CB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 /  v0.1.0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36676D6-37B7-404F-82C6-5D94DF58F9CA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4154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B346B48B-4038-4F82-AC4B-E848CC5174C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WORKFLOW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654104-3B7A-4A30-A150-61C7F6A2761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34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Four workflows create one reproducible lifecycle.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C1C2EA-E571-4EF2-9AEB-553AC89B7805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LangGraph state machines persist each transition, artifact, and evidence claim.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AFCC2A-96E7-4381-98E8-93DDF5529A62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B68C42-C7DB-4D13-8451-F2EFD758B4E2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2343150" cy="838200"/>
          </a:xfrm>
          <a:prstGeom prst="roundRect">
            <a:avLst>
              <a:gd name="adj" fmla="val 11364"/>
            </a:avLst>
          </a:prstGeom>
          <a:solidFill>
            <a:srgbClr val="EADFCF"/>
          </a:solidFill>
          <a:ln w="14288">
            <a:solidFill>
              <a:srgbClr val="C795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435813-689C-429D-86B4-1D838872347B}"/>
              </a:ext>
            </a:extLst>
          </p:cNvPr>
          <p:cNvSpPr>
            <a:spLocks noGrp="1"/>
          </p:cNvSpPr>
          <p:nvPr/>
        </p:nvSpPr>
        <p:spPr>
          <a:xfrm>
            <a:off x="704850" y="3078242"/>
            <a:ext cx="2152650" cy="2624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1  JD INTAKE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0AED41-581B-4D34-9F18-61FB0D1B93F1}"/>
              </a:ext>
            </a:extLst>
          </p:cNvPr>
          <p:cNvSpPr>
            <a:spLocks noGrp="1"/>
          </p:cNvSpPr>
          <p:nvPr/>
        </p:nvSpPr>
        <p:spPr>
          <a:xfrm>
            <a:off x="3371850" y="2781300"/>
            <a:ext cx="2343150" cy="838200"/>
          </a:xfrm>
          <a:prstGeom prst="roundRect">
            <a:avLst>
              <a:gd name="adj" fmla="val 11364"/>
            </a:avLst>
          </a:prstGeom>
          <a:solidFill>
            <a:srgbClr val="F2D9D3"/>
          </a:solidFill>
          <a:ln w="14288">
            <a:solidFill>
              <a:srgbClr val="E4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B8CD1B-234D-48E0-98EB-FFBBC5C622A0}"/>
              </a:ext>
            </a:extLst>
          </p:cNvPr>
          <p:cNvSpPr>
            <a:spLocks noGrp="1"/>
          </p:cNvSpPr>
          <p:nvPr/>
        </p:nvSpPr>
        <p:spPr>
          <a:xfrm>
            <a:off x="3467100" y="3078242"/>
            <a:ext cx="2152650" cy="2624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2  RESUME INTAKE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BE3E9D7-6923-4180-9759-EF323D88CA27}"/>
              </a:ext>
            </a:extLst>
          </p:cNvPr>
          <p:cNvSpPr>
            <a:spLocks noGrp="1"/>
          </p:cNvSpPr>
          <p:nvPr/>
        </p:nvSpPr>
        <p:spPr>
          <a:xfrm>
            <a:off x="6134100" y="2781300"/>
            <a:ext cx="2343150" cy="838200"/>
          </a:xfrm>
          <a:prstGeom prst="roundRect">
            <a:avLst>
              <a:gd name="adj" fmla="val 11364"/>
            </a:avLst>
          </a:prstGeom>
          <a:solidFill>
            <a:srgbClr val="E7DDE6"/>
          </a:solidFill>
          <a:ln w="14288">
            <a:solidFill>
              <a:srgbClr val="4A1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CCEBBE-AF7A-42A6-97CD-F2F9EC860056}"/>
              </a:ext>
            </a:extLst>
          </p:cNvPr>
          <p:cNvSpPr>
            <a:spLocks noGrp="1"/>
          </p:cNvSpPr>
          <p:nvPr/>
        </p:nvSpPr>
        <p:spPr>
          <a:xfrm>
            <a:off x="6229350" y="3084671"/>
            <a:ext cx="2152650" cy="2486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3  CANDIDATE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2D58AC-2C4C-437B-B55C-3BD32801E599}"/>
              </a:ext>
            </a:extLst>
          </p:cNvPr>
          <p:cNvSpPr>
            <a:spLocks noGrp="1"/>
          </p:cNvSpPr>
          <p:nvPr/>
        </p:nvSpPr>
        <p:spPr>
          <a:xfrm>
            <a:off x="8896350" y="2781300"/>
            <a:ext cx="2343150" cy="838200"/>
          </a:xfrm>
          <a:prstGeom prst="roundRect">
            <a:avLst>
              <a:gd name="adj" fmla="val 11364"/>
            </a:avLst>
          </a:prstGeom>
          <a:solidFill>
            <a:srgbClr val="DCE8DF"/>
          </a:solidFill>
          <a:ln w="14288">
            <a:solidFill>
              <a:srgbClr val="6E9B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699430-DFB7-4C7B-A4CC-416F021420E5}"/>
              </a:ext>
            </a:extLst>
          </p:cNvPr>
          <p:cNvSpPr>
            <a:spLocks noGrp="1"/>
          </p:cNvSpPr>
          <p:nvPr/>
        </p:nvSpPr>
        <p:spPr>
          <a:xfrm>
            <a:off x="8991600" y="3084671"/>
            <a:ext cx="2152650" cy="2486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4  TRANSCRIPT REVIEW</a:t>
            </a:r>
          </a:p>
        </p:txBody>
      </p:sp>
      <p:cxnSp>
        <p:nvCxnSpPr>
          <p:cNvPr id="13" name="Straight Arrow Connector 12"/>
          <p:cNvCxnSpPr>
            <a:stCxn id="5" idx="3"/>
            <a:endCxn id="7" idx="1"/>
          </p:cNvCxnSpPr>
          <p:nvPr/>
        </p:nvCxnSpPr>
        <p:spPr>
          <a:xfrm>
            <a:off x="2952750" y="3200400"/>
            <a:ext cx="419100" cy="0"/>
          </a:xfrm>
          <a:prstGeom prst="straightConnector1">
            <a:avLst/>
          </a:prstGeom>
          <a:ln w="19050">
            <a:solidFill>
              <a:srgbClr val="4A173C"/>
            </a:solidFill>
            <a:prstDash val="solid"/>
            <a:tailEnd type="arrow" w="sm" len="sm"/>
          </a:ln>
        </p:spPr>
      </p:cxnSp>
      <p:cxnSp>
        <p:nvCxnSpPr>
          <p:cNvPr id="14" name="Straight Arrow Connector 13"/>
          <p:cNvCxnSpPr>
            <a:stCxn id="7" idx="3"/>
            <a:endCxn id="9" idx="1"/>
          </p:cNvCxnSpPr>
          <p:nvPr/>
        </p:nvCxnSpPr>
        <p:spPr>
          <a:xfrm>
            <a:off x="5715000" y="3200400"/>
            <a:ext cx="419100" cy="0"/>
          </a:xfrm>
          <a:prstGeom prst="straightConnector1">
            <a:avLst/>
          </a:prstGeom>
          <a:ln w="19050">
            <a:solidFill>
              <a:srgbClr val="4A173C"/>
            </a:solidFill>
            <a:prstDash val="solid"/>
            <a:tailEnd type="arrow" w="sm" len="sm"/>
          </a:ln>
        </p:spPr>
      </p:cxnSp>
      <p:cxnSp>
        <p:nvCxnSpPr>
          <p:cNvPr id="15" name="Straight Arrow Connector 14"/>
          <p:cNvCxnSpPr>
            <a:stCxn id="9" idx="3"/>
            <a:endCxn id="11" idx="1"/>
          </p:cNvCxnSpPr>
          <p:nvPr/>
        </p:nvCxnSpPr>
        <p:spPr>
          <a:xfrm>
            <a:off x="8477250" y="3200400"/>
            <a:ext cx="419100" cy="0"/>
          </a:xfrm>
          <a:prstGeom prst="straightConnector1">
            <a:avLst/>
          </a:prstGeom>
          <a:ln w="19050">
            <a:solidFill>
              <a:srgbClr val="4A173C"/>
            </a:solidFill>
            <a:prstDash val="solid"/>
            <a:tailEnd type="arrow" w="sm" len="sm"/>
          </a:ln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65DAB8A-5E9A-4F5A-801A-ECF5875068B4}"/>
              </a:ext>
            </a:extLst>
          </p:cNvPr>
          <p:cNvSpPr>
            <a:spLocks noGrp="1"/>
          </p:cNvSpPr>
          <p:nvPr/>
        </p:nvSpPr>
        <p:spPr>
          <a:xfrm>
            <a:off x="685800" y="4010025"/>
            <a:ext cx="76200" cy="76200"/>
          </a:xfrm>
          <a:prstGeom prst="ellipse">
            <a:avLst/>
          </a:prstGeom>
          <a:solidFill>
            <a:srgbClr val="C795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A9A9F4-E81F-4C5B-A0E2-018D8EA6A4E8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CE7ACC7-F053-4D62-A8D8-46CCC12E7D6E}"/>
              </a:ext>
            </a:extLst>
          </p:cNvPr>
          <p:cNvSpPr>
            <a:spLocks noGrp="1"/>
          </p:cNvSpPr>
          <p:nvPr/>
        </p:nvSpPr>
        <p:spPr>
          <a:xfrm>
            <a:off x="685800" y="4410075"/>
            <a:ext cx="76200" cy="76200"/>
          </a:xfrm>
          <a:prstGeom prst="ellipse">
            <a:avLst/>
          </a:prstGeom>
          <a:solidFill>
            <a:srgbClr val="C795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B849F8-07B2-411A-A1A8-A8450A78F8B0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Extract JD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B924646-7CDB-4284-B240-D9F3D8D2835C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76200" cy="76200"/>
          </a:xfrm>
          <a:prstGeom prst="ellipse">
            <a:avLst/>
          </a:prstGeom>
          <a:solidFill>
            <a:srgbClr val="C795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54AEBF-31C5-44C3-A151-2874F9721D5E}"/>
              </a:ext>
            </a:extLst>
          </p:cNvPr>
          <p:cNvSpPr>
            <a:spLocks noGrp="1"/>
          </p:cNvSpPr>
          <p:nvPr/>
        </p:nvSpPr>
        <p:spPr>
          <a:xfrm>
            <a:off x="857250" y="47244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Persist + index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1FC4AEC-8D5B-48A0-A60C-16160625ADA3}"/>
              </a:ext>
            </a:extLst>
          </p:cNvPr>
          <p:cNvSpPr>
            <a:spLocks noGrp="1"/>
          </p:cNvSpPr>
          <p:nvPr/>
        </p:nvSpPr>
        <p:spPr>
          <a:xfrm>
            <a:off x="3448050" y="4010025"/>
            <a:ext cx="76200" cy="7620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DF6A7F-D086-464C-891A-B5BF7702A85C}"/>
              </a:ext>
            </a:extLst>
          </p:cNvPr>
          <p:cNvSpPr>
            <a:spLocks noGrp="1"/>
          </p:cNvSpPr>
          <p:nvPr/>
        </p:nvSpPr>
        <p:spPr>
          <a:xfrm>
            <a:off x="3619500" y="3924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8CFE8FD-E27A-4E3F-BF54-F362539967ED}"/>
              </a:ext>
            </a:extLst>
          </p:cNvPr>
          <p:cNvSpPr>
            <a:spLocks noGrp="1"/>
          </p:cNvSpPr>
          <p:nvPr/>
        </p:nvSpPr>
        <p:spPr>
          <a:xfrm>
            <a:off x="3448050" y="4410075"/>
            <a:ext cx="76200" cy="7620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F1E98E-B107-4975-B515-798A2CB63957}"/>
              </a:ext>
            </a:extLst>
          </p:cNvPr>
          <p:cNvSpPr>
            <a:spLocks noGrp="1"/>
          </p:cNvSpPr>
          <p:nvPr/>
        </p:nvSpPr>
        <p:spPr>
          <a:xfrm>
            <a:off x="3619500" y="43243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Extract resume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55AF67A-B5D2-4EE9-BC6B-97B36F966D32}"/>
              </a:ext>
            </a:extLst>
          </p:cNvPr>
          <p:cNvSpPr>
            <a:spLocks noGrp="1"/>
          </p:cNvSpPr>
          <p:nvPr/>
        </p:nvSpPr>
        <p:spPr>
          <a:xfrm>
            <a:off x="3448050" y="4810125"/>
            <a:ext cx="76200" cy="7620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DC5234-5272-4BA5-88D6-5524501C920D}"/>
              </a:ext>
            </a:extLst>
          </p:cNvPr>
          <p:cNvSpPr>
            <a:spLocks noGrp="1"/>
          </p:cNvSpPr>
          <p:nvPr/>
        </p:nvSpPr>
        <p:spPr>
          <a:xfrm>
            <a:off x="3619500" y="47244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Persist + index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5E3A9BC-B05A-4C32-B9A4-13AD577D79C0}"/>
              </a:ext>
            </a:extLst>
          </p:cNvPr>
          <p:cNvSpPr>
            <a:spLocks noGrp="1"/>
          </p:cNvSpPr>
          <p:nvPr/>
        </p:nvSpPr>
        <p:spPr>
          <a:xfrm>
            <a:off x="6210300" y="4010025"/>
            <a:ext cx="76200" cy="76200"/>
          </a:xfrm>
          <a:prstGeom prst="ellipse">
            <a:avLst/>
          </a:prstGeom>
          <a:solidFill>
            <a:srgbClr val="4A17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E898B4-3B44-49C2-9FC8-2044CDC23FA8}"/>
              </a:ext>
            </a:extLst>
          </p:cNvPr>
          <p:cNvSpPr>
            <a:spLocks noGrp="1"/>
          </p:cNvSpPr>
          <p:nvPr/>
        </p:nvSpPr>
        <p:spPr>
          <a:xfrm>
            <a:off x="6381750" y="3924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Route depth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AD79E64-1266-4285-83AA-00E7F0EAD51C}"/>
              </a:ext>
            </a:extLst>
          </p:cNvPr>
          <p:cNvSpPr>
            <a:spLocks noGrp="1"/>
          </p:cNvSpPr>
          <p:nvPr/>
        </p:nvSpPr>
        <p:spPr>
          <a:xfrm>
            <a:off x="6210300" y="4410075"/>
            <a:ext cx="76200" cy="76200"/>
          </a:xfrm>
          <a:prstGeom prst="ellipse">
            <a:avLst/>
          </a:prstGeom>
          <a:solidFill>
            <a:srgbClr val="4A17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67F7EC-B2ED-4417-8C16-3B7B2DCE7E03}"/>
              </a:ext>
            </a:extLst>
          </p:cNvPr>
          <p:cNvSpPr>
            <a:spLocks noGrp="1"/>
          </p:cNvSpPr>
          <p:nvPr/>
        </p:nvSpPr>
        <p:spPr>
          <a:xfrm>
            <a:off x="6381750" y="43243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Peer + evidence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4AF6E13-E38B-4070-9870-9BE6A3FB33D8}"/>
              </a:ext>
            </a:extLst>
          </p:cNvPr>
          <p:cNvSpPr>
            <a:spLocks noGrp="1"/>
          </p:cNvSpPr>
          <p:nvPr/>
        </p:nvSpPr>
        <p:spPr>
          <a:xfrm>
            <a:off x="6210300" y="4810125"/>
            <a:ext cx="76200" cy="76200"/>
          </a:xfrm>
          <a:prstGeom prst="ellipse">
            <a:avLst/>
          </a:prstGeom>
          <a:solidFill>
            <a:srgbClr val="4A17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54C7FF-EB74-483B-A7C3-AD28018C5C03}"/>
              </a:ext>
            </a:extLst>
          </p:cNvPr>
          <p:cNvSpPr>
            <a:spLocks noGrp="1"/>
          </p:cNvSpPr>
          <p:nvPr/>
        </p:nvSpPr>
        <p:spPr>
          <a:xfrm>
            <a:off x="6381750" y="47244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Gap → questions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354935A-D1FE-4992-BDAC-7D0DA486BB0F}"/>
              </a:ext>
            </a:extLst>
          </p:cNvPr>
          <p:cNvSpPr>
            <a:spLocks noGrp="1"/>
          </p:cNvSpPr>
          <p:nvPr/>
        </p:nvSpPr>
        <p:spPr>
          <a:xfrm>
            <a:off x="8972550" y="4010025"/>
            <a:ext cx="76200" cy="76200"/>
          </a:xfrm>
          <a:prstGeom prst="ellipse">
            <a:avLst/>
          </a:prstGeom>
          <a:solidFill>
            <a:srgbClr val="6E9B8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1867BD8-5085-4693-97AF-BF234844A4B1}"/>
              </a:ext>
            </a:extLst>
          </p:cNvPr>
          <p:cNvSpPr>
            <a:spLocks noGrp="1"/>
          </p:cNvSpPr>
          <p:nvPr/>
        </p:nvSpPr>
        <p:spPr>
          <a:xfrm>
            <a:off x="9144000" y="39243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Evaluate ∥ flags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98D461D-5049-4849-91F0-13655B60E955}"/>
              </a:ext>
            </a:extLst>
          </p:cNvPr>
          <p:cNvSpPr>
            <a:spLocks noGrp="1"/>
          </p:cNvSpPr>
          <p:nvPr/>
        </p:nvSpPr>
        <p:spPr>
          <a:xfrm>
            <a:off x="8972550" y="4410075"/>
            <a:ext cx="76200" cy="76200"/>
          </a:xfrm>
          <a:prstGeom prst="ellipse">
            <a:avLst/>
          </a:prstGeom>
          <a:solidFill>
            <a:srgbClr val="6E9B8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2F0C6F-6A9A-488D-8DEB-429A0BE694CD}"/>
              </a:ext>
            </a:extLst>
          </p:cNvPr>
          <p:cNvSpPr>
            <a:spLocks noGrp="1"/>
          </p:cNvSpPr>
          <p:nvPr/>
        </p:nvSpPr>
        <p:spPr>
          <a:xfrm>
            <a:off x="9144000" y="43243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Synthesis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AFEC1A6-DD02-4A40-9C95-3D02E4E1D676}"/>
              </a:ext>
            </a:extLst>
          </p:cNvPr>
          <p:cNvSpPr>
            <a:spLocks noGrp="1"/>
          </p:cNvSpPr>
          <p:nvPr/>
        </p:nvSpPr>
        <p:spPr>
          <a:xfrm>
            <a:off x="8972550" y="4810125"/>
            <a:ext cx="76200" cy="76200"/>
          </a:xfrm>
          <a:prstGeom prst="ellipse">
            <a:avLst/>
          </a:prstGeom>
          <a:solidFill>
            <a:srgbClr val="6E9B8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16E27A3-9C44-4C93-83E8-62328828474D}"/>
              </a:ext>
            </a:extLst>
          </p:cNvPr>
          <p:cNvSpPr>
            <a:spLocks noGrp="1"/>
          </p:cNvSpPr>
          <p:nvPr/>
        </p:nvSpPr>
        <p:spPr>
          <a:xfrm>
            <a:off x="9144000" y="47244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Knowledge base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528D5BD-0726-4585-B444-06178300835D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45C43A-E53E-4ECD-851A-CA700FF5C2AF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Vector indexes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A3E4637-AE63-44DE-A7AE-7567753D8521}"/>
              </a:ext>
            </a:extLst>
          </p:cNvPr>
          <p:cNvSpPr>
            <a:spLocks noGrp="1"/>
          </p:cNvSpPr>
          <p:nvPr/>
        </p:nvSpPr>
        <p:spPr>
          <a:xfrm>
            <a:off x="2133600" y="56769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Job descriptions • resumes • questions • evaluations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68AE072-4243-4964-9955-94FF021675AB}"/>
              </a:ext>
            </a:extLst>
          </p:cNvPr>
          <p:cNvSpPr>
            <a:spLocks noGrp="1"/>
          </p:cNvSpPr>
          <p:nvPr/>
        </p:nvSpPr>
        <p:spPr>
          <a:xfrm>
            <a:off x="7715250" y="5676900"/>
            <a:ext cx="3867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1">
                <a:solidFill>
                  <a:srgbClr val="E45C5C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E45C5C"/>
                </a:solidFill>
                <a:latin typeface="Georgia"/>
                <a:ea typeface="Georgia"/>
                <a:cs typeface="Georgia"/>
              </a:rPr>
              <a:t>explicit memory for future recommendations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01A33F8-FDAA-46A0-922F-AC354773D1D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 /  v0.1.0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AFFC3A8-C84D-43DF-A4D5-3480A125BE35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063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5588E31-FEA2-4D82-A26F-5B64950DE6E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ADAPTIVE SUPERVISION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EC0276-8DA0-4E9E-9F74-0C1C259E39C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34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Analysis depth adapts before expensive reasoning begins.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3F36A2-B80D-4B9F-9728-342075A4408E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The supervisor inspects requirement coverage and seniority, then routes the candidate to the right depth.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5C48D-D7D2-4B27-B735-5F0E89234D53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3D8676-EDBB-4CF5-BC32-F7C4E0FE9207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2266950" cy="1066800"/>
          </a:xfrm>
          <a:prstGeom prst="roundRect">
            <a:avLst>
              <a:gd name="adj" fmla="val 8929"/>
            </a:avLst>
          </a:prstGeom>
          <a:solidFill>
            <a:srgbClr val="4A173C"/>
          </a:solidFill>
          <a:ln w="14288">
            <a:solidFill>
              <a:srgbClr val="4A1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FB0F4C-CE25-4F60-9B85-885C0C2F3655}"/>
              </a:ext>
            </a:extLst>
          </p:cNvPr>
          <p:cNvSpPr>
            <a:spLocks noGrp="1"/>
          </p:cNvSpPr>
          <p:nvPr/>
        </p:nvSpPr>
        <p:spPr>
          <a:xfrm>
            <a:off x="704850" y="3383042"/>
            <a:ext cx="2076450" cy="2624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SUPERVISOR</a:t>
            </a:r>
          </a:p>
          <a:p>
            <a:pPr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coverage × seniority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1342E5-3985-4F13-85BA-A67DFCDE2D2E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2000250" cy="685800"/>
          </a:xfrm>
          <a:prstGeom prst="roundRect">
            <a:avLst>
              <a:gd name="adj" fmla="val 13889"/>
            </a:avLst>
          </a:prstGeom>
          <a:solidFill>
            <a:srgbClr val="DCE8DF"/>
          </a:solidFill>
          <a:ln w="14288">
            <a:solidFill>
              <a:srgbClr val="6E9B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7B3AB5-31A9-40C1-A7A4-1454DEB76CF1}"/>
              </a:ext>
            </a:extLst>
          </p:cNvPr>
          <p:cNvSpPr>
            <a:spLocks noGrp="1"/>
          </p:cNvSpPr>
          <p:nvPr/>
        </p:nvSpPr>
        <p:spPr>
          <a:xfrm>
            <a:off x="4552950" y="2608183"/>
            <a:ext cx="1809750" cy="2900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 i="0">
                <a:solidFill>
                  <a:srgbClr val="40775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40775B"/>
                </a:solidFill>
                <a:latin typeface="Aptos"/>
                <a:ea typeface="Aptos"/>
                <a:cs typeface="Aptos"/>
              </a:rPr>
              <a:t>MINIMAL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F42385-03BC-4E2D-9FA4-5CD6F2B07FBB}"/>
              </a:ext>
            </a:extLst>
          </p:cNvPr>
          <p:cNvSpPr>
            <a:spLocks noGrp="1"/>
          </p:cNvSpPr>
          <p:nvPr/>
        </p:nvSpPr>
        <p:spPr>
          <a:xfrm>
            <a:off x="4457700" y="3486150"/>
            <a:ext cx="2000250" cy="685800"/>
          </a:xfrm>
          <a:prstGeom prst="roundRect">
            <a:avLst>
              <a:gd name="adj" fmla="val 13889"/>
            </a:avLst>
          </a:prstGeom>
          <a:solidFill>
            <a:srgbClr val="EADFCF"/>
          </a:solidFill>
          <a:ln w="14288">
            <a:solidFill>
              <a:srgbClr val="C795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39FA89-4302-4B2E-A641-A19F146AED3C}"/>
              </a:ext>
            </a:extLst>
          </p:cNvPr>
          <p:cNvSpPr>
            <a:spLocks noGrp="1"/>
          </p:cNvSpPr>
          <p:nvPr/>
        </p:nvSpPr>
        <p:spPr>
          <a:xfrm>
            <a:off x="4552950" y="3694033"/>
            <a:ext cx="1809750" cy="2900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STANDARD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AE7AB1-42AA-49CF-91D1-98F2002E9098}"/>
              </a:ext>
            </a:extLst>
          </p:cNvPr>
          <p:cNvSpPr>
            <a:spLocks noGrp="1"/>
          </p:cNvSpPr>
          <p:nvPr/>
        </p:nvSpPr>
        <p:spPr>
          <a:xfrm>
            <a:off x="4457700" y="4572000"/>
            <a:ext cx="2000250" cy="685800"/>
          </a:xfrm>
          <a:prstGeom prst="roundRect">
            <a:avLst>
              <a:gd name="adj" fmla="val 13889"/>
            </a:avLst>
          </a:prstGeom>
          <a:solidFill>
            <a:srgbClr val="F2D9D3"/>
          </a:solidFill>
          <a:ln w="14288">
            <a:solidFill>
              <a:srgbClr val="E4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1E9BE6-456A-4690-8D9F-D23D3C8168D3}"/>
              </a:ext>
            </a:extLst>
          </p:cNvPr>
          <p:cNvSpPr>
            <a:spLocks noGrp="1"/>
          </p:cNvSpPr>
          <p:nvPr/>
        </p:nvSpPr>
        <p:spPr>
          <a:xfrm>
            <a:off x="4552950" y="4779883"/>
            <a:ext cx="1809750" cy="2900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 i="0">
                <a:solidFill>
                  <a:srgbClr val="B8414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B84148"/>
                </a:solidFill>
                <a:latin typeface="Aptos"/>
                <a:ea typeface="Aptos"/>
                <a:cs typeface="Aptos"/>
              </a:rPr>
              <a:t>DEEP</a:t>
            </a:r>
          </a:p>
        </p:txBody>
      </p:sp>
      <p:cxnSp>
        <p:nvCxnSpPr>
          <p:cNvPr id="13" name="Straight Arrow Connector 12"/>
          <p:cNvCxnSpPr>
            <a:stCxn id="5" idx="3"/>
            <a:endCxn id="7" idx="1"/>
          </p:cNvCxnSpPr>
          <p:nvPr/>
        </p:nvCxnSpPr>
        <p:spPr>
          <a:xfrm flipV="1">
            <a:off x="2876550" y="2743200"/>
            <a:ext cx="1581150" cy="762000"/>
          </a:xfrm>
          <a:prstGeom prst="straightConnector1">
            <a:avLst/>
          </a:prstGeom>
          <a:ln w="19050">
            <a:solidFill>
              <a:srgbClr val="6E9B83"/>
            </a:solidFill>
            <a:prstDash val="solid"/>
            <a:tailEnd type="arrow" w="sm" len="sm"/>
          </a:ln>
        </p:spPr>
      </p:cxnSp>
      <p:cxnSp>
        <p:nvCxnSpPr>
          <p:cNvPr id="14" name="Straight Arrow Connector 13"/>
          <p:cNvCxnSpPr>
            <a:stCxn id="5" idx="3"/>
            <a:endCxn id="9" idx="1"/>
          </p:cNvCxnSpPr>
          <p:nvPr/>
        </p:nvCxnSpPr>
        <p:spPr>
          <a:xfrm>
            <a:off x="2876550" y="3505200"/>
            <a:ext cx="1581150" cy="323850"/>
          </a:xfrm>
          <a:prstGeom prst="straightConnector1">
            <a:avLst/>
          </a:prstGeom>
          <a:ln w="19050">
            <a:solidFill>
              <a:srgbClr val="C7953A"/>
            </a:solidFill>
            <a:prstDash val="solid"/>
            <a:tailEnd type="arrow" w="sm" len="sm"/>
          </a:ln>
        </p:spPr>
      </p:cxnSp>
      <p:cxnSp>
        <p:nvCxnSpPr>
          <p:cNvPr id="15" name="Straight Arrow Connector 14"/>
          <p:cNvCxnSpPr>
            <a:stCxn id="5" idx="3"/>
            <a:endCxn id="11" idx="1"/>
          </p:cNvCxnSpPr>
          <p:nvPr/>
        </p:nvCxnSpPr>
        <p:spPr>
          <a:xfrm>
            <a:off x="2876550" y="3505200"/>
            <a:ext cx="1581150" cy="1409700"/>
          </a:xfrm>
          <a:prstGeom prst="straightConnector1">
            <a:avLst/>
          </a:prstGeom>
          <a:ln w="19050">
            <a:solidFill>
              <a:srgbClr val="E45C5C"/>
            </a:solidFill>
            <a:prstDash val="solid"/>
            <a:tailEnd type="arrow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0141B6D-D5A3-47A4-A984-EA5A9D3CC8A6}"/>
              </a:ext>
            </a:extLst>
          </p:cNvPr>
          <p:cNvSpPr>
            <a:spLocks noGrp="1"/>
          </p:cNvSpPr>
          <p:nvPr/>
        </p:nvSpPr>
        <p:spPr>
          <a:xfrm>
            <a:off x="7086600" y="23812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WHEN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D29233-B061-48CF-8BD5-24246616A6F6}"/>
              </a:ext>
            </a:extLst>
          </p:cNvPr>
          <p:cNvSpPr>
            <a:spLocks noGrp="1"/>
          </p:cNvSpPr>
          <p:nvPr/>
        </p:nvSpPr>
        <p:spPr>
          <a:xfrm>
            <a:off x="7086600" y="26670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Senior + well matched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E788F7-859C-4BE6-A1CE-74AD121653F3}"/>
              </a:ext>
            </a:extLst>
          </p:cNvPr>
          <p:cNvSpPr>
            <a:spLocks noGrp="1"/>
          </p:cNvSpPr>
          <p:nvPr/>
        </p:nvSpPr>
        <p:spPr>
          <a:xfrm>
            <a:off x="7086600" y="29813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Skip evidence retrieval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7C4288-9415-4E01-A4E7-8E59480B6226}"/>
              </a:ext>
            </a:extLst>
          </p:cNvPr>
          <p:cNvSpPr>
            <a:spLocks noGrp="1"/>
          </p:cNvSpPr>
          <p:nvPr/>
        </p:nvSpPr>
        <p:spPr>
          <a:xfrm>
            <a:off x="7086600" y="3476625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WHEN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62EE2A-5EF6-4D81-A472-57CEB427F7B8}"/>
              </a:ext>
            </a:extLst>
          </p:cNvPr>
          <p:cNvSpPr>
            <a:spLocks noGrp="1"/>
          </p:cNvSpPr>
          <p:nvPr/>
        </p:nvSpPr>
        <p:spPr>
          <a:xfrm>
            <a:off x="7086600" y="37623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Typical coverage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513990-0A9C-4240-85EC-A0C0155D7CAF}"/>
              </a:ext>
            </a:extLst>
          </p:cNvPr>
          <p:cNvSpPr>
            <a:spLocks noGrp="1"/>
          </p:cNvSpPr>
          <p:nvPr/>
        </p:nvSpPr>
        <p:spPr>
          <a:xfrm>
            <a:off x="7086600" y="40767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Run the normal evidence path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10EFF0-70D9-43E8-972D-13E55579CB4A}"/>
              </a:ext>
            </a:extLst>
          </p:cNvPr>
          <p:cNvSpPr>
            <a:spLocks noGrp="1"/>
          </p:cNvSpPr>
          <p:nvPr/>
        </p:nvSpPr>
        <p:spPr>
          <a:xfrm>
            <a:off x="7086600" y="45720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WHEN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98B9ED-F13B-4D49-A260-CD871EE1A578}"/>
              </a:ext>
            </a:extLst>
          </p:cNvPr>
          <p:cNvSpPr>
            <a:spLocks noGrp="1"/>
          </p:cNvSpPr>
          <p:nvPr/>
        </p:nvSpPr>
        <p:spPr>
          <a:xfrm>
            <a:off x="7086600" y="48577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Junior or weakly matched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0EDE02-DB33-45EA-810E-D0BC6CEF485B}"/>
              </a:ext>
            </a:extLst>
          </p:cNvPr>
          <p:cNvSpPr>
            <a:spLocks noGrp="1"/>
          </p:cNvSpPr>
          <p:nvPr/>
        </p:nvSpPr>
        <p:spPr>
          <a:xfrm>
            <a:off x="7086600" y="517207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Add extra retrieval for grounded validation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A988BC-CFC5-4D0F-A760-BD61DA4E8328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0" i="1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1650" b="0" i="1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Routing changes depth—not the human standard of proof.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A0ADEE-436A-4654-B01C-33D04AE2DEB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 /  v0.1.0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F5A4A2-BAF8-4167-859F-10F5352948AC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4349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DCA696B4-FA0E-47E3-BFF0-1E200B19089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AGENTIC 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1E2933-0900-439F-BF7E-64714939974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34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Specialists collaborate; no agent owns the final call.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3CE3B5-5BB2-4B57-929A-8569E53B8079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Each agent has one narrow responsibility, structured outputs, and Zod validation.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54782A-5395-468B-8E9C-458EF6952CFA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65002CF-A0B1-428E-992B-714C6ECE75ED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590550" cy="590550"/>
          </a:xfrm>
          <a:prstGeom prst="ellipse">
            <a:avLst/>
          </a:prstGeom>
          <a:solidFill>
            <a:srgbClr val="EADFC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9652F9-6679-47CA-822F-FBAB4B3A57AB}"/>
              </a:ext>
            </a:extLst>
          </p:cNvPr>
          <p:cNvSpPr>
            <a:spLocks noGrp="1"/>
          </p:cNvSpPr>
          <p:nvPr/>
        </p:nvSpPr>
        <p:spPr>
          <a:xfrm>
            <a:off x="609600" y="2562225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050" b="1" i="0" dirty="0">
                <a:solidFill>
                  <a:srgbClr val="4A173C"/>
                </a:solidFill>
                <a:latin typeface="Aptos"/>
                <a:ea typeface="Aptos"/>
                <a:cs typeface="Aptos"/>
              </a:rPr>
              <a:t>JD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C3245B-AD4D-404E-858C-34F1686FB31D}"/>
              </a:ext>
            </a:extLst>
          </p:cNvPr>
          <p:cNvSpPr>
            <a:spLocks noGrp="1"/>
          </p:cNvSpPr>
          <p:nvPr/>
        </p:nvSpPr>
        <p:spPr>
          <a:xfrm>
            <a:off x="1409700" y="24003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Requirement profile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700936-1EA9-4519-8102-7F92D1485CF7}"/>
              </a:ext>
            </a:extLst>
          </p:cNvPr>
          <p:cNvSpPr>
            <a:spLocks noGrp="1"/>
          </p:cNvSpPr>
          <p:nvPr/>
        </p:nvSpPr>
        <p:spPr>
          <a:xfrm>
            <a:off x="1409700" y="2705100"/>
            <a:ext cx="3524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split • score • categorise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CDB731-150B-403B-9707-3B5186A4FFD0}"/>
              </a:ext>
            </a:extLst>
          </p:cNvPr>
          <p:cNvSpPr>
            <a:spLocks noGrp="1"/>
          </p:cNvSpPr>
          <p:nvPr/>
        </p:nvSpPr>
        <p:spPr>
          <a:xfrm>
            <a:off x="1409700" y="3067050"/>
            <a:ext cx="4000500" cy="952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9996B9-7EE4-46C6-A2C4-B34F8B1062CC}"/>
              </a:ext>
            </a:extLst>
          </p:cNvPr>
          <p:cNvSpPr>
            <a:spLocks noGrp="1"/>
          </p:cNvSpPr>
          <p:nvPr/>
        </p:nvSpPr>
        <p:spPr>
          <a:xfrm>
            <a:off x="609600" y="3267075"/>
            <a:ext cx="590550" cy="590550"/>
          </a:xfrm>
          <a:prstGeom prst="ellipse">
            <a:avLst/>
          </a:prstGeom>
          <a:solidFill>
            <a:srgbClr val="F2D9D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5D417D-31E0-4F58-96EE-A162C831502E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CV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2B9BBA-E94E-46F1-AF1A-ECEA3C764090}"/>
              </a:ext>
            </a:extLst>
          </p:cNvPr>
          <p:cNvSpPr>
            <a:spLocks noGrp="1"/>
          </p:cNvSpPr>
          <p:nvPr/>
        </p:nvSpPr>
        <p:spPr>
          <a:xfrm>
            <a:off x="1409700" y="32861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Candidate profile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5B669B-1B0F-4443-ADF3-4F09CC4555F5}"/>
              </a:ext>
            </a:extLst>
          </p:cNvPr>
          <p:cNvSpPr>
            <a:spLocks noGrp="1"/>
          </p:cNvSpPr>
          <p:nvPr/>
        </p:nvSpPr>
        <p:spPr>
          <a:xfrm>
            <a:off x="1409700" y="3590925"/>
            <a:ext cx="3524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skills • history • evidence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2825E4-DB40-455D-B041-ABDAABCA916F}"/>
              </a:ext>
            </a:extLst>
          </p:cNvPr>
          <p:cNvSpPr>
            <a:spLocks noGrp="1"/>
          </p:cNvSpPr>
          <p:nvPr/>
        </p:nvSpPr>
        <p:spPr>
          <a:xfrm>
            <a:off x="1409700" y="3952875"/>
            <a:ext cx="4000500" cy="952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B55C8B2-D457-4481-AC03-BCF8F3F83D6D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590550" cy="590550"/>
          </a:xfrm>
          <a:prstGeom prst="ellipse">
            <a:avLst/>
          </a:prstGeom>
          <a:solidFill>
            <a:srgbClr val="E7DDE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DC828E-E724-4889-8ED1-D1FC50515796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RAG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26AEE1-CC69-4ADF-9625-5E43513385BD}"/>
              </a:ext>
            </a:extLst>
          </p:cNvPr>
          <p:cNvSpPr>
            <a:spLocks noGrp="1"/>
          </p:cNvSpPr>
          <p:nvPr/>
        </p:nvSpPr>
        <p:spPr>
          <a:xfrm>
            <a:off x="1409700" y="41719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Comparable cases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C24926-5949-4CEB-8A44-1351F58EC08D}"/>
              </a:ext>
            </a:extLst>
          </p:cNvPr>
          <p:cNvSpPr>
            <a:spLocks noGrp="1"/>
          </p:cNvSpPr>
          <p:nvPr/>
        </p:nvSpPr>
        <p:spPr>
          <a:xfrm>
            <a:off x="1409700" y="4476750"/>
            <a:ext cx="3524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two-pass vector retrieval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7E863D-8576-454E-ADFD-FF6CB0293C61}"/>
              </a:ext>
            </a:extLst>
          </p:cNvPr>
          <p:cNvSpPr>
            <a:spLocks noGrp="1"/>
          </p:cNvSpPr>
          <p:nvPr/>
        </p:nvSpPr>
        <p:spPr>
          <a:xfrm>
            <a:off x="1409700" y="4838700"/>
            <a:ext cx="4000500" cy="952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AFC8001-E30F-4C2E-B0FC-834CA74746F5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590550" cy="590550"/>
          </a:xfrm>
          <a:prstGeom prst="ellipse">
            <a:avLst/>
          </a:prstGeom>
          <a:solidFill>
            <a:srgbClr val="DCE8D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7F1883-43D8-4B33-9C21-3AB27E3C06C8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GAP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B4CF57-FDB9-4781-8CF4-FD37F398249E}"/>
              </a:ext>
            </a:extLst>
          </p:cNvPr>
          <p:cNvSpPr>
            <a:spLocks noGrp="1"/>
          </p:cNvSpPr>
          <p:nvPr/>
        </p:nvSpPr>
        <p:spPr>
          <a:xfrm>
            <a:off x="1409700" y="50577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Match + gaps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DF7064-69D4-4CDD-AC4B-FB6F84AAE7C8}"/>
              </a:ext>
            </a:extLst>
          </p:cNvPr>
          <p:cNvSpPr>
            <a:spLocks noGrp="1"/>
          </p:cNvSpPr>
          <p:nvPr/>
        </p:nvSpPr>
        <p:spPr>
          <a:xfrm>
            <a:off x="1409700" y="5362575"/>
            <a:ext cx="3524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peer-aware differentiation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A7CFEF-0096-44B0-9050-4BB272DD92AE}"/>
              </a:ext>
            </a:extLst>
          </p:cNvPr>
          <p:cNvSpPr>
            <a:spLocks noGrp="1"/>
          </p:cNvSpPr>
          <p:nvPr/>
        </p:nvSpPr>
        <p:spPr>
          <a:xfrm>
            <a:off x="1409700" y="5724525"/>
            <a:ext cx="4000500" cy="952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0F06037-B798-4C13-BFAD-3C0F94113D83}"/>
              </a:ext>
            </a:extLst>
          </p:cNvPr>
          <p:cNvSpPr>
            <a:spLocks noGrp="1"/>
          </p:cNvSpPr>
          <p:nvPr/>
        </p:nvSpPr>
        <p:spPr>
          <a:xfrm>
            <a:off x="6134100" y="2381250"/>
            <a:ext cx="590550" cy="590550"/>
          </a:xfrm>
          <a:prstGeom prst="ellipse">
            <a:avLst/>
          </a:prstGeom>
          <a:solidFill>
            <a:srgbClr val="EADFC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7A38FF-9CD6-4B1F-A5BE-201B61A3B76B}"/>
              </a:ext>
            </a:extLst>
          </p:cNvPr>
          <p:cNvSpPr>
            <a:spLocks noGrp="1"/>
          </p:cNvSpPr>
          <p:nvPr/>
        </p:nvSpPr>
        <p:spPr>
          <a:xfrm>
            <a:off x="6134100" y="2562225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050" b="1" i="0" dirty="0">
                <a:solidFill>
                  <a:srgbClr val="4A173C"/>
                </a:solidFill>
                <a:latin typeface="Aptos"/>
                <a:ea typeface="Aptos"/>
                <a:cs typeface="Aptos"/>
              </a:rPr>
              <a:t>Q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AEF897-D86D-4FE2-9B22-CBA6EA6A68A6}"/>
              </a:ext>
            </a:extLst>
          </p:cNvPr>
          <p:cNvSpPr>
            <a:spLocks noGrp="1"/>
          </p:cNvSpPr>
          <p:nvPr/>
        </p:nvSpPr>
        <p:spPr>
          <a:xfrm>
            <a:off x="6934200" y="24003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Interview plan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A51A2B-F37B-44C7-9F40-04666B950A5A}"/>
              </a:ext>
            </a:extLst>
          </p:cNvPr>
          <p:cNvSpPr>
            <a:spLocks noGrp="1"/>
          </p:cNvSpPr>
          <p:nvPr/>
        </p:nvSpPr>
        <p:spPr>
          <a:xfrm>
            <a:off x="6934200" y="2705100"/>
            <a:ext cx="3524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questions • signals • rationale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ED8A82-97F6-4D6F-B942-8F0AFD069774}"/>
              </a:ext>
            </a:extLst>
          </p:cNvPr>
          <p:cNvSpPr>
            <a:spLocks noGrp="1"/>
          </p:cNvSpPr>
          <p:nvPr/>
        </p:nvSpPr>
        <p:spPr>
          <a:xfrm>
            <a:off x="6934200" y="3067050"/>
            <a:ext cx="4000500" cy="952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1CB444A-F6E5-4C82-A8D1-ABAD0C5062E9}"/>
              </a:ext>
            </a:extLst>
          </p:cNvPr>
          <p:cNvSpPr>
            <a:spLocks noGrp="1"/>
          </p:cNvSpPr>
          <p:nvPr/>
        </p:nvSpPr>
        <p:spPr>
          <a:xfrm>
            <a:off x="6134100" y="3267075"/>
            <a:ext cx="590550" cy="590550"/>
          </a:xfrm>
          <a:prstGeom prst="ellipse">
            <a:avLst/>
          </a:prstGeom>
          <a:solidFill>
            <a:srgbClr val="F2D9D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A9ABBF-2D04-4F0A-A4D9-67F3BF0D303F}"/>
              </a:ext>
            </a:extLst>
          </p:cNvPr>
          <p:cNvSpPr>
            <a:spLocks noGrp="1"/>
          </p:cNvSpPr>
          <p:nvPr/>
        </p:nvSpPr>
        <p:spPr>
          <a:xfrm>
            <a:off x="6134100" y="344805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050" b="1" i="0" dirty="0">
                <a:solidFill>
                  <a:srgbClr val="4A173C"/>
                </a:solidFill>
                <a:latin typeface="Aptos"/>
                <a:ea typeface="Aptos"/>
                <a:cs typeface="Aptos"/>
              </a:rPr>
              <a:t>EV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0D77D3A-D423-4E6B-9FF8-F55F0689B2C3}"/>
              </a:ext>
            </a:extLst>
          </p:cNvPr>
          <p:cNvSpPr>
            <a:spLocks noGrp="1"/>
          </p:cNvSpPr>
          <p:nvPr/>
        </p:nvSpPr>
        <p:spPr>
          <a:xfrm>
            <a:off x="6934200" y="328612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Transcript evidence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0D5D352-1887-4440-9189-9DE3A345340A}"/>
              </a:ext>
            </a:extLst>
          </p:cNvPr>
          <p:cNvSpPr>
            <a:spLocks noGrp="1"/>
          </p:cNvSpPr>
          <p:nvPr/>
        </p:nvSpPr>
        <p:spPr>
          <a:xfrm>
            <a:off x="6934200" y="3590925"/>
            <a:ext cx="3524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technical + communication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2472F41-7DB7-4B31-9FA4-60B310A5021A}"/>
              </a:ext>
            </a:extLst>
          </p:cNvPr>
          <p:cNvSpPr>
            <a:spLocks noGrp="1"/>
          </p:cNvSpPr>
          <p:nvPr/>
        </p:nvSpPr>
        <p:spPr>
          <a:xfrm>
            <a:off x="6934200" y="3952875"/>
            <a:ext cx="4000500" cy="952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9EC6122-A6F1-40DD-9290-E8FF83E5EF99}"/>
              </a:ext>
            </a:extLst>
          </p:cNvPr>
          <p:cNvSpPr>
            <a:spLocks noGrp="1"/>
          </p:cNvSpPr>
          <p:nvPr/>
        </p:nvSpPr>
        <p:spPr>
          <a:xfrm>
            <a:off x="6134100" y="4152900"/>
            <a:ext cx="590550" cy="590550"/>
          </a:xfrm>
          <a:prstGeom prst="ellipse">
            <a:avLst/>
          </a:prstGeom>
          <a:solidFill>
            <a:srgbClr val="E7DDE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8F0082-83A3-464A-B07A-AA5CAC571E0B}"/>
              </a:ext>
            </a:extLst>
          </p:cNvPr>
          <p:cNvSpPr>
            <a:spLocks noGrp="1"/>
          </p:cNvSpPr>
          <p:nvPr/>
        </p:nvSpPr>
        <p:spPr>
          <a:xfrm>
            <a:off x="6134100" y="4333875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RF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3A1CE3F-12D5-4446-B396-D1D83256D41B}"/>
              </a:ext>
            </a:extLst>
          </p:cNvPr>
          <p:cNvSpPr>
            <a:spLocks noGrp="1"/>
          </p:cNvSpPr>
          <p:nvPr/>
        </p:nvSpPr>
        <p:spPr>
          <a:xfrm>
            <a:off x="6934200" y="41719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Inconsistencies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8394337-A90F-497F-9B00-E7AB23A56EF0}"/>
              </a:ext>
            </a:extLst>
          </p:cNvPr>
          <p:cNvSpPr>
            <a:spLocks noGrp="1"/>
          </p:cNvSpPr>
          <p:nvPr/>
        </p:nvSpPr>
        <p:spPr>
          <a:xfrm>
            <a:off x="6934200" y="4476750"/>
            <a:ext cx="3524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GREEN • YELLOW • RED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83248C3-5285-45A0-9E74-4C34002FE19F}"/>
              </a:ext>
            </a:extLst>
          </p:cNvPr>
          <p:cNvSpPr>
            <a:spLocks noGrp="1"/>
          </p:cNvSpPr>
          <p:nvPr/>
        </p:nvSpPr>
        <p:spPr>
          <a:xfrm>
            <a:off x="6934200" y="4838700"/>
            <a:ext cx="4000500" cy="952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C0495ED-33E6-4E1F-BE9A-51BB1DC96A6B}"/>
              </a:ext>
            </a:extLst>
          </p:cNvPr>
          <p:cNvSpPr>
            <a:spLocks noGrp="1"/>
          </p:cNvSpPr>
          <p:nvPr/>
        </p:nvSpPr>
        <p:spPr>
          <a:xfrm>
            <a:off x="6134100" y="5038725"/>
            <a:ext cx="590550" cy="590550"/>
          </a:xfrm>
          <a:prstGeom prst="ellipse">
            <a:avLst/>
          </a:prstGeom>
          <a:solidFill>
            <a:srgbClr val="4A17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D7C629-9A18-48B6-8F6F-38974881D966}"/>
              </a:ext>
            </a:extLst>
          </p:cNvPr>
          <p:cNvSpPr>
            <a:spLocks noGrp="1"/>
          </p:cNvSpPr>
          <p:nvPr/>
        </p:nvSpPr>
        <p:spPr>
          <a:xfrm>
            <a:off x="6134100" y="5219700"/>
            <a:ext cx="590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EC6D06-0E91-436A-8C7A-CA61541BB790}"/>
              </a:ext>
            </a:extLst>
          </p:cNvPr>
          <p:cNvSpPr>
            <a:spLocks noGrp="1"/>
          </p:cNvSpPr>
          <p:nvPr/>
        </p:nvSpPr>
        <p:spPr>
          <a:xfrm>
            <a:off x="6934200" y="505777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Decision packet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B1B43E-BE65-432B-8C6F-8F12D993ABF9}"/>
              </a:ext>
            </a:extLst>
          </p:cNvPr>
          <p:cNvSpPr>
            <a:spLocks noGrp="1"/>
          </p:cNvSpPr>
          <p:nvPr/>
        </p:nvSpPr>
        <p:spPr>
          <a:xfrm>
            <a:off x="6934200" y="5362575"/>
            <a:ext cx="3524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advance • hold • reject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DE00B3-AB4C-44D8-8653-EDE5A66D194F}"/>
              </a:ext>
            </a:extLst>
          </p:cNvPr>
          <p:cNvSpPr>
            <a:spLocks noGrp="1"/>
          </p:cNvSpPr>
          <p:nvPr/>
        </p:nvSpPr>
        <p:spPr>
          <a:xfrm>
            <a:off x="6934200" y="5724525"/>
            <a:ext cx="4000500" cy="952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4147E76-70FE-4979-87B9-6F1C8A6B462A}"/>
              </a:ext>
            </a:extLst>
          </p:cNvPr>
          <p:cNvSpPr>
            <a:spLocks noGrp="1"/>
          </p:cNvSpPr>
          <p:nvPr/>
        </p:nvSpPr>
        <p:spPr>
          <a:xfrm>
            <a:off x="6619875" y="59055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1">
                <a:solidFill>
                  <a:srgbClr val="E45C5C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E45C5C"/>
                </a:solidFill>
                <a:latin typeface="Georgia"/>
                <a:ea typeface="Georgia"/>
                <a:cs typeface="Georgia"/>
              </a:rPr>
              <a:t>Agents read their own calibration notes before each run.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6C9A01F-066B-4BE6-A3A0-C5EFCB48FDE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 /  v0.1.0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FB0E633-830D-4281-BD19-0B0851A5FCAF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26644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3A7C754-4E25-4A25-8CD8-28A28BC0885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GROUNDED MATCHING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F2F17E-2D80-4D15-8314-CCF70AAF763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34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Two-pass retrieval turns gaps into grounded validation.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B663C3-427F-4332-A0DD-50FA8229C950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Deterministic scoring establishes coverage; LLM reasoning explains the gaps and targets the next search.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FC6D0E-980A-423D-A23A-1AD675F9F829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1BD7C4-C932-4DB9-A4E7-2E258FD356BB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714500" cy="952500"/>
          </a:xfrm>
          <a:prstGeom prst="roundRect">
            <a:avLst>
              <a:gd name="adj" fmla="val 10000"/>
            </a:avLst>
          </a:prstGeom>
          <a:solidFill>
            <a:srgbClr val="EADFCF"/>
          </a:solidFill>
          <a:ln w="14288">
            <a:solidFill>
              <a:srgbClr val="C795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698153-32E3-4765-8153-678F4DAB7B41}"/>
              </a:ext>
            </a:extLst>
          </p:cNvPr>
          <p:cNvSpPr>
            <a:spLocks noGrp="1"/>
          </p:cNvSpPr>
          <p:nvPr/>
        </p:nvSpPr>
        <p:spPr>
          <a:xfrm>
            <a:off x="704850" y="3319701"/>
            <a:ext cx="1524000" cy="2347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1  WEIGHTED</a:t>
            </a:r>
          </a:p>
          <a:p>
            <a:pPr>
              <a:defRPr sz="127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3C90D8-F783-4385-BA36-A6C7988E0569}"/>
              </a:ext>
            </a:extLst>
          </p:cNvPr>
          <p:cNvSpPr>
            <a:spLocks noGrp="1"/>
          </p:cNvSpPr>
          <p:nvPr/>
        </p:nvSpPr>
        <p:spPr>
          <a:xfrm>
            <a:off x="2809875" y="2952750"/>
            <a:ext cx="1714500" cy="952500"/>
          </a:xfrm>
          <a:prstGeom prst="roundRect">
            <a:avLst>
              <a:gd name="adj" fmla="val 10000"/>
            </a:avLst>
          </a:prstGeom>
          <a:solidFill>
            <a:srgbClr val="DCE8DF"/>
          </a:solidFill>
          <a:ln w="14288">
            <a:solidFill>
              <a:srgbClr val="6E9B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89BE60-7970-4E19-992A-00DE5D12683F}"/>
              </a:ext>
            </a:extLst>
          </p:cNvPr>
          <p:cNvSpPr>
            <a:spLocks noGrp="1"/>
          </p:cNvSpPr>
          <p:nvPr/>
        </p:nvSpPr>
        <p:spPr>
          <a:xfrm>
            <a:off x="2905125" y="3319701"/>
            <a:ext cx="1524000" cy="2347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2  HISTORICAL</a:t>
            </a:r>
          </a:p>
          <a:p>
            <a:pPr>
              <a:defRPr sz="127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AD8DAE-3437-4019-96CD-8DBF33D627CD}"/>
              </a:ext>
            </a:extLst>
          </p:cNvPr>
          <p:cNvSpPr>
            <a:spLocks noGrp="1"/>
          </p:cNvSpPr>
          <p:nvPr/>
        </p:nvSpPr>
        <p:spPr>
          <a:xfrm>
            <a:off x="5010150" y="2952750"/>
            <a:ext cx="1714500" cy="952500"/>
          </a:xfrm>
          <a:prstGeom prst="roundRect">
            <a:avLst>
              <a:gd name="adj" fmla="val 10000"/>
            </a:avLst>
          </a:prstGeom>
          <a:solidFill>
            <a:srgbClr val="E7DDE6"/>
          </a:solidFill>
          <a:ln w="14288">
            <a:solidFill>
              <a:srgbClr val="4A1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817C9F-6EC9-4E56-9189-DF54B9E73772}"/>
              </a:ext>
            </a:extLst>
          </p:cNvPr>
          <p:cNvSpPr>
            <a:spLocks noGrp="1"/>
          </p:cNvSpPr>
          <p:nvPr/>
        </p:nvSpPr>
        <p:spPr>
          <a:xfrm>
            <a:off x="5105400" y="3319701"/>
            <a:ext cx="1524000" cy="2347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3  GAP</a:t>
            </a:r>
          </a:p>
          <a:p>
            <a:pPr>
              <a:defRPr sz="127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39E706C-650B-46A4-99EC-F803AA9844BB}"/>
              </a:ext>
            </a:extLst>
          </p:cNvPr>
          <p:cNvSpPr>
            <a:spLocks noGrp="1"/>
          </p:cNvSpPr>
          <p:nvPr/>
        </p:nvSpPr>
        <p:spPr>
          <a:xfrm>
            <a:off x="7210425" y="2952750"/>
            <a:ext cx="1809750" cy="952500"/>
          </a:xfrm>
          <a:prstGeom prst="roundRect">
            <a:avLst>
              <a:gd name="adj" fmla="val 10000"/>
            </a:avLst>
          </a:prstGeom>
          <a:solidFill>
            <a:srgbClr val="F2D9D3"/>
          </a:solidFill>
          <a:ln w="14288">
            <a:solidFill>
              <a:srgbClr val="E4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17ED37-0CF6-4604-BDDF-A658076828F0}"/>
              </a:ext>
            </a:extLst>
          </p:cNvPr>
          <p:cNvSpPr>
            <a:spLocks noGrp="1"/>
          </p:cNvSpPr>
          <p:nvPr/>
        </p:nvSpPr>
        <p:spPr>
          <a:xfrm>
            <a:off x="7305675" y="3326130"/>
            <a:ext cx="1619250" cy="2209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4  GAP-TARGETED</a:t>
            </a:r>
          </a:p>
          <a:p>
            <a:pPr>
              <a:defRPr sz="120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09715D-67AA-4C51-B672-5D38D7C65CD4}"/>
              </a:ext>
            </a:extLst>
          </p:cNvPr>
          <p:cNvSpPr>
            <a:spLocks noGrp="1"/>
          </p:cNvSpPr>
          <p:nvPr/>
        </p:nvSpPr>
        <p:spPr>
          <a:xfrm>
            <a:off x="9505950" y="2952750"/>
            <a:ext cx="1866900" cy="952500"/>
          </a:xfrm>
          <a:prstGeom prst="roundRect">
            <a:avLst>
              <a:gd name="adj" fmla="val 10000"/>
            </a:avLst>
          </a:prstGeom>
          <a:solidFill>
            <a:srgbClr val="4A173C"/>
          </a:solidFill>
          <a:ln w="14288">
            <a:solidFill>
              <a:srgbClr val="4A1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5A139C-250E-4B4B-8279-DD13D461A8DD}"/>
              </a:ext>
            </a:extLst>
          </p:cNvPr>
          <p:cNvSpPr>
            <a:spLocks noGrp="1"/>
          </p:cNvSpPr>
          <p:nvPr/>
        </p:nvSpPr>
        <p:spPr>
          <a:xfrm>
            <a:off x="9601200" y="3319701"/>
            <a:ext cx="1676400" cy="2347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  GROUNDED</a:t>
            </a:r>
          </a:p>
          <a:p>
            <a:pPr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cxnSp>
        <p:nvCxnSpPr>
          <p:cNvPr id="15" name="Straight Arrow Connector 14"/>
          <p:cNvCxnSpPr>
            <a:stCxn id="5" idx="3"/>
            <a:endCxn id="7" idx="1"/>
          </p:cNvCxnSpPr>
          <p:nvPr/>
        </p:nvCxnSpPr>
        <p:spPr>
          <a:xfrm>
            <a:off x="2324100" y="3429000"/>
            <a:ext cx="485775" cy="0"/>
          </a:xfrm>
          <a:prstGeom prst="straightConnector1">
            <a:avLst/>
          </a:prstGeom>
          <a:ln w="19050">
            <a:solidFill>
              <a:srgbClr val="4A173C"/>
            </a:solidFill>
            <a:prstDash val="solid"/>
            <a:tailEnd type="arrow" w="sm" len="sm"/>
          </a:ln>
        </p:spPr>
      </p:cxnSp>
      <p:cxnSp>
        <p:nvCxnSpPr>
          <p:cNvPr id="16" name="Straight Arrow Connector 15"/>
          <p:cNvCxnSpPr>
            <a:stCxn id="7" idx="3"/>
            <a:endCxn id="9" idx="1"/>
          </p:cNvCxnSpPr>
          <p:nvPr/>
        </p:nvCxnSpPr>
        <p:spPr>
          <a:xfrm>
            <a:off x="4524375" y="3429000"/>
            <a:ext cx="485775" cy="0"/>
          </a:xfrm>
          <a:prstGeom prst="straightConnector1">
            <a:avLst/>
          </a:prstGeom>
          <a:ln w="19050">
            <a:solidFill>
              <a:srgbClr val="4A173C"/>
            </a:solidFill>
            <a:prstDash val="solid"/>
            <a:tailEnd type="arrow" w="sm" len="sm"/>
          </a:ln>
        </p:spPr>
      </p:cxnSp>
      <p:cxnSp>
        <p:nvCxnSpPr>
          <p:cNvPr id="17" name="Straight Arrow Connector 16"/>
          <p:cNvCxnSpPr>
            <a:stCxn id="9" idx="3"/>
            <a:endCxn id="11" idx="1"/>
          </p:cNvCxnSpPr>
          <p:nvPr/>
        </p:nvCxnSpPr>
        <p:spPr>
          <a:xfrm>
            <a:off x="6724650" y="3429000"/>
            <a:ext cx="485775" cy="0"/>
          </a:xfrm>
          <a:prstGeom prst="straightConnector1">
            <a:avLst/>
          </a:prstGeom>
          <a:ln w="19050">
            <a:solidFill>
              <a:srgbClr val="4A173C"/>
            </a:solidFill>
            <a:prstDash val="solid"/>
            <a:tailEnd type="arrow" w="sm" len="sm"/>
          </a:ln>
        </p:spPr>
      </p:cxnSp>
      <p:cxnSp>
        <p:nvCxnSpPr>
          <p:cNvPr id="18" name="Straight Arrow Connector 17"/>
          <p:cNvCxnSpPr>
            <a:stCxn id="11" idx="3"/>
            <a:endCxn id="13" idx="1"/>
          </p:cNvCxnSpPr>
          <p:nvPr/>
        </p:nvCxnSpPr>
        <p:spPr>
          <a:xfrm>
            <a:off x="9020175" y="3429000"/>
            <a:ext cx="485775" cy="0"/>
          </a:xfrm>
          <a:prstGeom prst="straightConnector1">
            <a:avLst/>
          </a:prstGeom>
          <a:ln w="19050">
            <a:solidFill>
              <a:srgbClr val="4A173C"/>
            </a:solidFill>
            <a:prstDash val="solid"/>
            <a:tailEnd type="arrow" w="sm" len="sm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564E4E9-BED7-4E7E-92BE-B32D8DA1A046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Required / nice-to-have</a:t>
            </a:r>
          </a:p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importance × coverage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177979-9568-4E50-A90A-257A1BE06F16}"/>
              </a:ext>
            </a:extLst>
          </p:cNvPr>
          <p:cNvSpPr>
            <a:spLocks noGrp="1"/>
          </p:cNvSpPr>
          <p:nvPr/>
        </p:nvSpPr>
        <p:spPr>
          <a:xfrm>
            <a:off x="2809875" y="417195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Comparable knowledge</a:t>
            </a:r>
          </a:p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entries + evaluations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956BD6-AF2E-4379-BAC9-24579835C49D}"/>
              </a:ext>
            </a:extLst>
          </p:cNvPr>
          <p:cNvSpPr>
            <a:spLocks noGrp="1"/>
          </p:cNvSpPr>
          <p:nvPr/>
        </p:nvSpPr>
        <p:spPr>
          <a:xfrm>
            <a:off x="5010150" y="4171950"/>
            <a:ext cx="171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Strong • partial • missing</a:t>
            </a:r>
          </a:p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areas to validate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B07295-AC09-48DF-8C7C-D09DDDFCAE70}"/>
              </a:ext>
            </a:extLst>
          </p:cNvPr>
          <p:cNvSpPr>
            <a:spLocks noGrp="1"/>
          </p:cNvSpPr>
          <p:nvPr/>
        </p:nvSpPr>
        <p:spPr>
          <a:xfrm>
            <a:off x="7210425" y="41719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Search the exact gaps</a:t>
            </a:r>
          </a:p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identified moments earlier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BCD56F-C42C-4568-9348-160262F99649}"/>
              </a:ext>
            </a:extLst>
          </p:cNvPr>
          <p:cNvSpPr>
            <a:spLocks noGrp="1"/>
          </p:cNvSpPr>
          <p:nvPr/>
        </p:nvSpPr>
        <p:spPr>
          <a:xfrm>
            <a:off x="9505950" y="4171950"/>
            <a:ext cx="1866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Expected signals grounded</a:t>
            </a:r>
          </a:p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in prior validations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5637ED-1AA6-46EB-B511-79358E879BE8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CC6546-E812-4AD9-889B-FA3004D0CDAB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CROSS-CANDIDATE REASONING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E41047-6B6C-465F-A580-BCCCDF949D6E}"/>
              </a:ext>
            </a:extLst>
          </p:cNvPr>
          <p:cNvSpPr>
            <a:spLocks noGrp="1"/>
          </p:cNvSpPr>
          <p:nvPr/>
        </p:nvSpPr>
        <p:spPr>
          <a:xfrm>
            <a:off x="2857500" y="5467350"/>
            <a:ext cx="838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Peer summaries enter the Gap Analysis Agent so questions differentiate similarly matched candidates.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BF567F-67D6-4DFD-87A0-CADA8465B7D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 /  v0.1.0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6B8B63-E62A-4DD2-B1AF-74C08ABA35E8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8962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398C5CA9-C98F-4655-B587-75EF5CAC23A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INTERVIEW INTELLIGENCE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3A50E-0061-457C-A60D-4DDA90FA977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34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Every judgement stays traceable to direct evidence.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E63834-2599-47C9-A7F2-F579C2A97B68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Preparation and evaluation share one question plan, expected signals, and a strict quote-validation rule.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30270A-2F73-48D0-9401-A7716C9093CE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1E0356-776E-40DE-808D-03EFF754177E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C795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7953A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B37E23-EC59-40D3-9178-2CF6FD2C36E8}"/>
              </a:ext>
            </a:extLst>
          </p:cNvPr>
          <p:cNvSpPr>
            <a:spLocks noGrp="1"/>
          </p:cNvSpPr>
          <p:nvPr/>
        </p:nvSpPr>
        <p:spPr>
          <a:xfrm>
            <a:off x="4114800" y="24193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DURING + AFTER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77EDA4-EC5C-4E76-A61B-39CA11105ED5}"/>
              </a:ext>
            </a:extLst>
          </p:cNvPr>
          <p:cNvSpPr>
            <a:spLocks noGrp="1"/>
          </p:cNvSpPr>
          <p:nvPr/>
        </p:nvSpPr>
        <p:spPr>
          <a:xfrm>
            <a:off x="9467850" y="24193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SYNTHESIS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BDED7E-EE24-4DA7-B9A2-28D09EAB81E7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2571750" cy="723900"/>
          </a:xfrm>
          <a:prstGeom prst="roundRect">
            <a:avLst>
              <a:gd name="adj" fmla="val 13158"/>
            </a:avLst>
          </a:prstGeom>
          <a:solidFill>
            <a:srgbClr val="EADFCF"/>
          </a:solidFill>
          <a:ln w="14288">
            <a:solidFill>
              <a:srgbClr val="C795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C73BAE-5B8E-4107-BBBC-1FEDA0D5A34A}"/>
              </a:ext>
            </a:extLst>
          </p:cNvPr>
          <p:cNvSpPr>
            <a:spLocks noGrp="1"/>
          </p:cNvSpPr>
          <p:nvPr/>
        </p:nvSpPr>
        <p:spPr>
          <a:xfrm>
            <a:off x="704850" y="3084671"/>
            <a:ext cx="2381250" cy="2486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TAILORED QUESTION SET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2725F7-5989-45B1-84A4-AF19F989F309}"/>
              </a:ext>
            </a:extLst>
          </p:cNvPr>
          <p:cNvSpPr>
            <a:spLocks noGrp="1"/>
          </p:cNvSpPr>
          <p:nvPr/>
        </p:nvSpPr>
        <p:spPr>
          <a:xfrm>
            <a:off x="628650" y="3962400"/>
            <a:ext cx="76200" cy="76200"/>
          </a:xfrm>
          <a:prstGeom prst="ellipse">
            <a:avLst/>
          </a:prstGeom>
          <a:solidFill>
            <a:srgbClr val="C795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9A3A85-3312-4FB8-B3E3-D272C0A5FE6B}"/>
              </a:ext>
            </a:extLst>
          </p:cNvPr>
          <p:cNvSpPr>
            <a:spLocks noGrp="1"/>
          </p:cNvSpPr>
          <p:nvPr/>
        </p:nvSpPr>
        <p:spPr>
          <a:xfrm>
            <a:off x="800100" y="39052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Screening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8209A6-F866-4DA5-ADEC-CB4A631D832C}"/>
              </a:ext>
            </a:extLst>
          </p:cNvPr>
          <p:cNvSpPr>
            <a:spLocks noGrp="1"/>
          </p:cNvSpPr>
          <p:nvPr/>
        </p:nvSpPr>
        <p:spPr>
          <a:xfrm>
            <a:off x="628650" y="4362450"/>
            <a:ext cx="76200" cy="76200"/>
          </a:xfrm>
          <a:prstGeom prst="ellipse">
            <a:avLst/>
          </a:prstGeom>
          <a:solidFill>
            <a:srgbClr val="C795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3351A3-B6E0-46EA-8286-496AE0557037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Deep technical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1AB9AC9-3CA9-45FF-A842-20833A590189}"/>
              </a:ext>
            </a:extLst>
          </p:cNvPr>
          <p:cNvSpPr>
            <a:spLocks noGrp="1"/>
          </p:cNvSpPr>
          <p:nvPr/>
        </p:nvSpPr>
        <p:spPr>
          <a:xfrm>
            <a:off x="628650" y="4762500"/>
            <a:ext cx="76200" cy="76200"/>
          </a:xfrm>
          <a:prstGeom prst="ellipse">
            <a:avLst/>
          </a:prstGeom>
          <a:solidFill>
            <a:srgbClr val="C795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FA1BCC-D5A1-4B39-8A42-A876B6A9FF35}"/>
              </a:ext>
            </a:extLst>
          </p:cNvPr>
          <p:cNvSpPr>
            <a:spLocks noGrp="1"/>
          </p:cNvSpPr>
          <p:nvPr/>
        </p:nvSpPr>
        <p:spPr>
          <a:xfrm>
            <a:off x="800100" y="47053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Gap validation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67946A1-56DC-4DC4-B103-1BD7F9066A29}"/>
              </a:ext>
            </a:extLst>
          </p:cNvPr>
          <p:cNvSpPr>
            <a:spLocks noGrp="1"/>
          </p:cNvSpPr>
          <p:nvPr/>
        </p:nvSpPr>
        <p:spPr>
          <a:xfrm>
            <a:off x="628650" y="5162550"/>
            <a:ext cx="76200" cy="76200"/>
          </a:xfrm>
          <a:prstGeom prst="ellipse">
            <a:avLst/>
          </a:prstGeom>
          <a:solidFill>
            <a:srgbClr val="C795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22A340-27F8-49B8-9217-E6DF6D662C0B}"/>
              </a:ext>
            </a:extLst>
          </p:cNvPr>
          <p:cNvSpPr>
            <a:spLocks noGrp="1"/>
          </p:cNvSpPr>
          <p:nvPr/>
        </p:nvSpPr>
        <p:spPr>
          <a:xfrm>
            <a:off x="800100" y="5105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Experience validation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E70620A-425E-461D-B894-335AAB18BAD0}"/>
              </a:ext>
            </a:extLst>
          </p:cNvPr>
          <p:cNvSpPr>
            <a:spLocks noGrp="1"/>
          </p:cNvSpPr>
          <p:nvPr/>
        </p:nvSpPr>
        <p:spPr>
          <a:xfrm>
            <a:off x="4114800" y="2838450"/>
            <a:ext cx="1714500" cy="723900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4288">
            <a:solidFill>
              <a:srgbClr val="4A1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08D8AA-9184-40CB-A699-82EE04FF5459}"/>
              </a:ext>
            </a:extLst>
          </p:cNvPr>
          <p:cNvSpPr>
            <a:spLocks noGrp="1"/>
          </p:cNvSpPr>
          <p:nvPr/>
        </p:nvSpPr>
        <p:spPr>
          <a:xfrm>
            <a:off x="4210050" y="3084671"/>
            <a:ext cx="1524000" cy="2486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TRANSCRIPT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2A42F94-237F-4097-868A-BDBA2CF3532D}"/>
              </a:ext>
            </a:extLst>
          </p:cNvPr>
          <p:cNvSpPr>
            <a:spLocks noGrp="1"/>
          </p:cNvSpPr>
          <p:nvPr/>
        </p:nvSpPr>
        <p:spPr>
          <a:xfrm>
            <a:off x="6667500" y="2457450"/>
            <a:ext cx="1714500" cy="723900"/>
          </a:xfrm>
          <a:prstGeom prst="roundRect">
            <a:avLst>
              <a:gd name="adj" fmla="val 13158"/>
            </a:avLst>
          </a:prstGeom>
          <a:solidFill>
            <a:srgbClr val="DCE8DF"/>
          </a:solidFill>
          <a:ln w="14288">
            <a:solidFill>
              <a:srgbClr val="6E9B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2FFFB1-C88D-42B5-BDC5-D2F08AB3B8F1}"/>
              </a:ext>
            </a:extLst>
          </p:cNvPr>
          <p:cNvSpPr>
            <a:spLocks noGrp="1"/>
          </p:cNvSpPr>
          <p:nvPr/>
        </p:nvSpPr>
        <p:spPr>
          <a:xfrm>
            <a:off x="6762750" y="2703671"/>
            <a:ext cx="1524000" cy="2486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C903850-3B55-4195-BD7C-EC78FB537507}"/>
              </a:ext>
            </a:extLst>
          </p:cNvPr>
          <p:cNvSpPr>
            <a:spLocks noGrp="1"/>
          </p:cNvSpPr>
          <p:nvPr/>
        </p:nvSpPr>
        <p:spPr>
          <a:xfrm>
            <a:off x="6667500" y="3771900"/>
            <a:ext cx="1714500" cy="723900"/>
          </a:xfrm>
          <a:prstGeom prst="roundRect">
            <a:avLst>
              <a:gd name="adj" fmla="val 13158"/>
            </a:avLst>
          </a:prstGeom>
          <a:solidFill>
            <a:srgbClr val="F2D9D3"/>
          </a:solidFill>
          <a:ln w="14288">
            <a:solidFill>
              <a:srgbClr val="E4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6F95E0-B2BD-48FC-88E8-198D4DD4AF0C}"/>
              </a:ext>
            </a:extLst>
          </p:cNvPr>
          <p:cNvSpPr>
            <a:spLocks noGrp="1"/>
          </p:cNvSpPr>
          <p:nvPr/>
        </p:nvSpPr>
        <p:spPr>
          <a:xfrm>
            <a:off x="6762750" y="4018121"/>
            <a:ext cx="1524000" cy="2486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RED FLAGS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C73F5C2-AFE8-4AA4-B6EC-CEC7910E474F}"/>
              </a:ext>
            </a:extLst>
          </p:cNvPr>
          <p:cNvSpPr>
            <a:spLocks noGrp="1"/>
          </p:cNvSpPr>
          <p:nvPr/>
        </p:nvSpPr>
        <p:spPr>
          <a:xfrm>
            <a:off x="9525000" y="3124200"/>
            <a:ext cx="1866900" cy="914400"/>
          </a:xfrm>
          <a:prstGeom prst="roundRect">
            <a:avLst>
              <a:gd name="adj" fmla="val 10417"/>
            </a:avLst>
          </a:prstGeom>
          <a:solidFill>
            <a:srgbClr val="4A173C"/>
          </a:solidFill>
          <a:ln w="14288">
            <a:solidFill>
              <a:srgbClr val="4A1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4DC92E-2361-46C5-A9FC-D7F17573C3E2}"/>
              </a:ext>
            </a:extLst>
          </p:cNvPr>
          <p:cNvSpPr>
            <a:spLocks noGrp="1"/>
          </p:cNvSpPr>
          <p:nvPr/>
        </p:nvSpPr>
        <p:spPr>
          <a:xfrm>
            <a:off x="9620250" y="3459242"/>
            <a:ext cx="1676400" cy="2624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REVIEW</a:t>
            </a:r>
          </a:p>
          <a:p>
            <a:pPr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PACKET</a:t>
            </a:r>
          </a:p>
        </p:txBody>
      </p:sp>
      <p:cxnSp>
        <p:nvCxnSpPr>
          <p:cNvPr id="26" name="Straight Arrow Connector 25"/>
          <p:cNvCxnSpPr>
            <a:stCxn id="8" idx="3"/>
            <a:endCxn id="18" idx="1"/>
          </p:cNvCxnSpPr>
          <p:nvPr/>
        </p:nvCxnSpPr>
        <p:spPr>
          <a:xfrm>
            <a:off x="3181350" y="3200400"/>
            <a:ext cx="933450" cy="0"/>
          </a:xfrm>
          <a:prstGeom prst="straightConnector1">
            <a:avLst/>
          </a:prstGeom>
          <a:ln w="19050">
            <a:solidFill>
              <a:srgbClr val="4A173C"/>
            </a:solidFill>
            <a:prstDash val="solid"/>
            <a:tailEnd type="arrow" w="sm" len="sm"/>
          </a:ln>
        </p:spPr>
      </p:cxnSp>
      <p:cxnSp>
        <p:nvCxnSpPr>
          <p:cNvPr id="27" name="Straight Arrow Connector 26"/>
          <p:cNvCxnSpPr>
            <a:stCxn id="18" idx="3"/>
            <a:endCxn id="20" idx="1"/>
          </p:cNvCxnSpPr>
          <p:nvPr/>
        </p:nvCxnSpPr>
        <p:spPr>
          <a:xfrm flipV="1">
            <a:off x="5829300" y="2819400"/>
            <a:ext cx="838200" cy="381000"/>
          </a:xfrm>
          <a:prstGeom prst="straightConnector1">
            <a:avLst/>
          </a:prstGeom>
          <a:ln w="19050">
            <a:solidFill>
              <a:srgbClr val="6E9B83"/>
            </a:solidFill>
            <a:prstDash val="solid"/>
            <a:tailEnd type="arrow" w="sm" len="sm"/>
          </a:ln>
        </p:spPr>
      </p:cxnSp>
      <p:cxnSp>
        <p:nvCxnSpPr>
          <p:cNvPr id="28" name="Straight Arrow Connector 27"/>
          <p:cNvCxnSpPr>
            <a:stCxn id="18" idx="3"/>
            <a:endCxn id="22" idx="1"/>
          </p:cNvCxnSpPr>
          <p:nvPr/>
        </p:nvCxnSpPr>
        <p:spPr>
          <a:xfrm>
            <a:off x="5829300" y="3200400"/>
            <a:ext cx="838200" cy="933450"/>
          </a:xfrm>
          <a:prstGeom prst="straightConnector1">
            <a:avLst/>
          </a:prstGeom>
          <a:ln w="19050">
            <a:solidFill>
              <a:srgbClr val="E45C5C"/>
            </a:solidFill>
            <a:prstDash val="solid"/>
            <a:tailEnd type="arrow" w="sm" len="sm"/>
          </a:ln>
        </p:spPr>
      </p:cxnSp>
      <p:cxnSp>
        <p:nvCxnSpPr>
          <p:cNvPr id="29" name="Straight Arrow Connector 28"/>
          <p:cNvCxnSpPr>
            <a:stCxn id="20" idx="3"/>
            <a:endCxn id="24" idx="1"/>
          </p:cNvCxnSpPr>
          <p:nvPr/>
        </p:nvCxnSpPr>
        <p:spPr>
          <a:xfrm>
            <a:off x="8382000" y="2819400"/>
            <a:ext cx="1143000" cy="762000"/>
          </a:xfrm>
          <a:prstGeom prst="straightConnector1">
            <a:avLst/>
          </a:prstGeom>
          <a:ln w="19050">
            <a:solidFill>
              <a:srgbClr val="6E9B83"/>
            </a:solidFill>
            <a:prstDash val="solid"/>
            <a:tailEnd type="arrow" w="sm" len="sm"/>
          </a:ln>
        </p:spPr>
      </p:cxnSp>
      <p:cxnSp>
        <p:nvCxnSpPr>
          <p:cNvPr id="30" name="Straight Arrow Connector 29"/>
          <p:cNvCxnSpPr>
            <a:stCxn id="22" idx="3"/>
            <a:endCxn id="24" idx="1"/>
          </p:cNvCxnSpPr>
          <p:nvPr/>
        </p:nvCxnSpPr>
        <p:spPr>
          <a:xfrm flipV="1">
            <a:off x="8382000" y="3581400"/>
            <a:ext cx="1143000" cy="552450"/>
          </a:xfrm>
          <a:prstGeom prst="straightConnector1">
            <a:avLst/>
          </a:prstGeom>
          <a:ln w="19050">
            <a:solidFill>
              <a:srgbClr val="E45C5C"/>
            </a:solidFill>
            <a:prstDash val="solid"/>
            <a:tailEnd type="arrow" w="sm" len="sm"/>
          </a:ln>
        </p:spPr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DC2C775C-4523-416D-97F7-9CF752E5E2E1}"/>
              </a:ext>
            </a:extLst>
          </p:cNvPr>
          <p:cNvSpPr>
            <a:spLocks noGrp="1"/>
          </p:cNvSpPr>
          <p:nvPr/>
        </p:nvSpPr>
        <p:spPr>
          <a:xfrm>
            <a:off x="6667500" y="4781550"/>
            <a:ext cx="1714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Technical depth</a:t>
            </a:r>
          </a:p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Communication</a:t>
            </a:r>
          </a:p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Signals hit / missed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8A296E-C145-4EE0-8620-53B8BE739986}"/>
              </a:ext>
            </a:extLst>
          </p:cNvPr>
          <p:cNvSpPr>
            <a:spLocks noGrp="1"/>
          </p:cNvSpPr>
          <p:nvPr/>
        </p:nvSpPr>
        <p:spPr>
          <a:xfrm>
            <a:off x="8515350" y="4629150"/>
            <a:ext cx="1428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Resume ↔ interview</a:t>
            </a:r>
          </a:p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contradictions</a:t>
            </a:r>
          </a:p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Evidence required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BC965B-D89D-4465-804A-9542C777B3D7}"/>
              </a:ext>
            </a:extLst>
          </p:cNvPr>
          <p:cNvSpPr>
            <a:spLocks noGrp="1"/>
          </p:cNvSpPr>
          <p:nvPr/>
        </p:nvSpPr>
        <p:spPr>
          <a:xfrm>
            <a:off x="3905250" y="5524500"/>
            <a:ext cx="7524750" cy="495300"/>
          </a:xfrm>
          <a:prstGeom prst="rect">
            <a:avLst/>
          </a:prstGeom>
          <a:solidFill>
            <a:srgbClr val="4A17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F7AC03-E4D7-4728-A0D4-28EFAC1055A3}"/>
              </a:ext>
            </a:extLst>
          </p:cNvPr>
          <p:cNvSpPr>
            <a:spLocks noGrp="1"/>
          </p:cNvSpPr>
          <p:nvPr/>
        </p:nvSpPr>
        <p:spPr>
          <a:xfrm>
            <a:off x="4095750" y="5667375"/>
            <a:ext cx="714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Validation: every transcript judgement cites a direct quote found in the source.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122E950-63E6-4C5F-A959-B05CC4BCF5A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 /  v0.1.0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91CD887-FE0F-4EFE-A0DC-BEBBC6C0CAC2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0512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7301651-575E-4143-8BCB-5AF2D075809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LEARNING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416FCA-C3B7-4BA9-9518-8C01B46A04D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34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Reflexion repairs outputs; shared memory repairs behavior.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689B0A-7E9C-408D-9632-0AF68BFE35AB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Local retries correct the current run. Persistent calibration changes how future runs behave.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9AB93B-CC99-44D1-AAC0-F25FE51D35CD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987719-090B-44F8-BE58-43B611B4F5B5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WITHIN A RUN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E97C955-58B8-4EC6-A8E7-0FDEDE88C53D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1809750" cy="704850"/>
          </a:xfrm>
          <a:prstGeom prst="roundRect">
            <a:avLst>
              <a:gd name="adj" fmla="val 13514"/>
            </a:avLst>
          </a:prstGeom>
          <a:solidFill>
            <a:srgbClr val="E7DDE6"/>
          </a:solidFill>
          <a:ln w="14288">
            <a:solidFill>
              <a:srgbClr val="4A1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E06C77-ED17-4145-8C90-DF304A74EBFD}"/>
              </a:ext>
            </a:extLst>
          </p:cNvPr>
          <p:cNvSpPr>
            <a:spLocks noGrp="1"/>
          </p:cNvSpPr>
          <p:nvPr/>
        </p:nvSpPr>
        <p:spPr>
          <a:xfrm>
            <a:off x="704850" y="3170396"/>
            <a:ext cx="1619250" cy="2486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AGENT OUTPUT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712E14-C1BD-4BEB-9163-4E5C46693B5E}"/>
              </a:ext>
            </a:extLst>
          </p:cNvPr>
          <p:cNvSpPr>
            <a:spLocks noGrp="1"/>
          </p:cNvSpPr>
          <p:nvPr/>
        </p:nvSpPr>
        <p:spPr>
          <a:xfrm>
            <a:off x="3257550" y="2933700"/>
            <a:ext cx="1619250" cy="704850"/>
          </a:xfrm>
          <a:prstGeom prst="roundRect">
            <a:avLst>
              <a:gd name="adj" fmla="val 13514"/>
            </a:avLst>
          </a:prstGeom>
          <a:solidFill>
            <a:srgbClr val="FFFDF8"/>
          </a:solidFill>
          <a:ln w="14288">
            <a:solidFill>
              <a:srgbClr val="E4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79A79A-A5A0-45DF-9712-02FBCD541C33}"/>
              </a:ext>
            </a:extLst>
          </p:cNvPr>
          <p:cNvSpPr>
            <a:spLocks noGrp="1"/>
          </p:cNvSpPr>
          <p:nvPr/>
        </p:nvSpPr>
        <p:spPr>
          <a:xfrm>
            <a:off x="3352800" y="3170396"/>
            <a:ext cx="1428750" cy="2486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7EA3B6-328D-4DF6-882F-5A572E95C7DB}"/>
              </a:ext>
            </a:extLst>
          </p:cNvPr>
          <p:cNvSpPr>
            <a:spLocks noGrp="1"/>
          </p:cNvSpPr>
          <p:nvPr/>
        </p:nvSpPr>
        <p:spPr>
          <a:xfrm>
            <a:off x="1943100" y="4324350"/>
            <a:ext cx="1809750" cy="781050"/>
          </a:xfrm>
          <a:prstGeom prst="roundRect">
            <a:avLst>
              <a:gd name="adj" fmla="val 12195"/>
            </a:avLst>
          </a:prstGeom>
          <a:solidFill>
            <a:srgbClr val="F2D9D3"/>
          </a:solidFill>
          <a:ln w="14288">
            <a:solidFill>
              <a:srgbClr val="E4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411BDD-8D23-4D8B-835D-DC00D5EE9BF1}"/>
              </a:ext>
            </a:extLst>
          </p:cNvPr>
          <p:cNvSpPr>
            <a:spLocks noGrp="1"/>
          </p:cNvSpPr>
          <p:nvPr/>
        </p:nvSpPr>
        <p:spPr>
          <a:xfrm>
            <a:off x="2038350" y="4605576"/>
            <a:ext cx="1619250" cy="2347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RETRY WITH</a:t>
            </a:r>
          </a:p>
          <a:p>
            <a:pPr>
              <a:defRPr sz="127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cxnSp>
        <p:nvCxnSpPr>
          <p:cNvPr id="12" name="Straight Arrow Connector 11"/>
          <p:cNvCxnSpPr>
            <a:stCxn id="6" idx="3"/>
            <a:endCxn id="8" idx="1"/>
          </p:cNvCxnSpPr>
          <p:nvPr/>
        </p:nvCxnSpPr>
        <p:spPr>
          <a:xfrm>
            <a:off x="2419350" y="3286125"/>
            <a:ext cx="838200" cy="0"/>
          </a:xfrm>
          <a:prstGeom prst="straightConnector1">
            <a:avLst/>
          </a:prstGeom>
          <a:ln w="19050">
            <a:solidFill>
              <a:srgbClr val="4A173C"/>
            </a:solidFill>
            <a:prstDash val="solid"/>
            <a:tailEnd type="arrow" w="sm" len="sm"/>
          </a:ln>
        </p:spPr>
      </p:cxnSp>
      <p:cxnSp>
        <p:nvCxnSpPr>
          <p:cNvPr id="13" name="Straight Arrow Connector 12"/>
          <p:cNvCxnSpPr>
            <a:stCxn id="8" idx="2"/>
            <a:endCxn id="10" idx="3"/>
          </p:cNvCxnSpPr>
          <p:nvPr/>
        </p:nvCxnSpPr>
        <p:spPr>
          <a:xfrm flipH="1">
            <a:off x="3752850" y="3638550"/>
            <a:ext cx="314325" cy="1076325"/>
          </a:xfrm>
          <a:prstGeom prst="straightConnector1">
            <a:avLst/>
          </a:prstGeom>
          <a:ln w="19050">
            <a:solidFill>
              <a:srgbClr val="E45C5C"/>
            </a:solidFill>
            <a:prstDash val="solid"/>
            <a:tailEnd type="arrow" w="sm" len="sm"/>
          </a:ln>
        </p:spPr>
      </p:cxnSp>
      <p:cxnSp>
        <p:nvCxnSpPr>
          <p:cNvPr id="14" name="Straight Arrow Connector 13"/>
          <p:cNvCxnSpPr>
            <a:stCxn id="10" idx="1"/>
            <a:endCxn id="6" idx="2"/>
          </p:cNvCxnSpPr>
          <p:nvPr/>
        </p:nvCxnSpPr>
        <p:spPr>
          <a:xfrm flipH="1" flipV="1">
            <a:off x="1514475" y="3638550"/>
            <a:ext cx="428625" cy="1076325"/>
          </a:xfrm>
          <a:prstGeom prst="straightConnector1">
            <a:avLst/>
          </a:prstGeom>
          <a:ln w="19050">
            <a:solidFill>
              <a:srgbClr val="E45C5C"/>
            </a:solidFill>
            <a:prstDash val="solid"/>
            <a:tailEnd type="arrow" w="sm" len="sm"/>
          </a:ln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B4E0B8E-A0F1-4261-948D-6599BA5243F4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438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Examples: missing quote, unsupported flag, inconsistent severity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0546B3-8B26-41E4-8B77-D68D3021DB57}"/>
              </a:ext>
            </a:extLst>
          </p:cNvPr>
          <p:cNvSpPr>
            <a:spLocks noGrp="1"/>
          </p:cNvSpPr>
          <p:nvPr/>
        </p:nvSpPr>
        <p:spPr>
          <a:xfrm>
            <a:off x="5772150" y="2362200"/>
            <a:ext cx="19050" cy="361950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762C86-B4FB-417F-BD3E-D34ADFF319AA}"/>
              </a:ext>
            </a:extLst>
          </p:cNvPr>
          <p:cNvSpPr>
            <a:spLocks noGrp="1"/>
          </p:cNvSpPr>
          <p:nvPr/>
        </p:nvSpPr>
        <p:spPr>
          <a:xfrm>
            <a:off x="6286500" y="2400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6E9B8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E9B83"/>
                </a:solidFill>
                <a:latin typeface="Aptos"/>
                <a:ea typeface="Aptos"/>
                <a:cs typeface="Aptos"/>
              </a:rPr>
              <a:t>ACROSS RUNS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5FAF2E-4876-4A92-B870-E2CB7C95EC55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2000250" cy="704850"/>
          </a:xfrm>
          <a:prstGeom prst="roundRect">
            <a:avLst>
              <a:gd name="adj" fmla="val 13514"/>
            </a:avLst>
          </a:prstGeom>
          <a:solidFill>
            <a:srgbClr val="EADFCF"/>
          </a:solidFill>
          <a:ln w="14288">
            <a:solidFill>
              <a:srgbClr val="C795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31D55D-3762-4F23-8308-01A4DE2B3558}"/>
              </a:ext>
            </a:extLst>
          </p:cNvPr>
          <p:cNvSpPr>
            <a:spLocks noGrp="1"/>
          </p:cNvSpPr>
          <p:nvPr/>
        </p:nvSpPr>
        <p:spPr>
          <a:xfrm>
            <a:off x="6381750" y="3176826"/>
            <a:ext cx="1809750" cy="2347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HUMAN OVERRIDE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C988EAA-5630-4B39-A4FE-A9C6BEBD90C7}"/>
              </a:ext>
            </a:extLst>
          </p:cNvPr>
          <p:cNvSpPr>
            <a:spLocks noGrp="1"/>
          </p:cNvSpPr>
          <p:nvPr/>
        </p:nvSpPr>
        <p:spPr>
          <a:xfrm>
            <a:off x="9010650" y="2933700"/>
            <a:ext cx="2095500" cy="704850"/>
          </a:xfrm>
          <a:prstGeom prst="roundRect">
            <a:avLst>
              <a:gd name="adj" fmla="val 13514"/>
            </a:avLst>
          </a:prstGeom>
          <a:solidFill>
            <a:srgbClr val="DCE8DF"/>
          </a:solidFill>
          <a:ln w="14288">
            <a:solidFill>
              <a:srgbClr val="6E9B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E2A2E6-56E9-4C31-BF5C-837270593FE0}"/>
              </a:ext>
            </a:extLst>
          </p:cNvPr>
          <p:cNvSpPr>
            <a:spLocks noGrp="1"/>
          </p:cNvSpPr>
          <p:nvPr/>
        </p:nvSpPr>
        <p:spPr>
          <a:xfrm>
            <a:off x="9105900" y="3176826"/>
            <a:ext cx="1905000" cy="2347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CALIBRATION NOTE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8830CDB-9F32-4E3F-BA3D-65BB787F919D}"/>
              </a:ext>
            </a:extLst>
          </p:cNvPr>
          <p:cNvSpPr>
            <a:spLocks noGrp="1"/>
          </p:cNvSpPr>
          <p:nvPr/>
        </p:nvSpPr>
        <p:spPr>
          <a:xfrm>
            <a:off x="7620000" y="4476750"/>
            <a:ext cx="2190750" cy="800100"/>
          </a:xfrm>
          <a:prstGeom prst="roundRect">
            <a:avLst>
              <a:gd name="adj" fmla="val 11905"/>
            </a:avLst>
          </a:prstGeom>
          <a:solidFill>
            <a:srgbClr val="4A173C"/>
          </a:solidFill>
          <a:ln w="14288">
            <a:solidFill>
              <a:srgbClr val="4A1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895759-84BE-4F35-93C8-4835430E5F17}"/>
              </a:ext>
            </a:extLst>
          </p:cNvPr>
          <p:cNvSpPr>
            <a:spLocks noGrp="1"/>
          </p:cNvSpPr>
          <p:nvPr/>
        </p:nvSpPr>
        <p:spPr>
          <a:xfrm>
            <a:off x="7715250" y="4767501"/>
            <a:ext cx="2000250" cy="23479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AGENTS READ NOTES</a:t>
            </a:r>
          </a:p>
          <a:p>
            <a:pPr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BEFORE NEXT RUN</a:t>
            </a:r>
          </a:p>
        </p:txBody>
      </p:sp>
      <p:cxnSp>
        <p:nvCxnSpPr>
          <p:cNvPr id="24" name="Straight Arrow Connector 23"/>
          <p:cNvCxnSpPr>
            <a:stCxn id="18" idx="3"/>
            <a:endCxn id="20" idx="1"/>
          </p:cNvCxnSpPr>
          <p:nvPr/>
        </p:nvCxnSpPr>
        <p:spPr>
          <a:xfrm>
            <a:off x="8286750" y="3286125"/>
            <a:ext cx="723900" cy="0"/>
          </a:xfrm>
          <a:prstGeom prst="straightConnector1">
            <a:avLst/>
          </a:prstGeom>
          <a:ln w="19050">
            <a:solidFill>
              <a:srgbClr val="4A173C"/>
            </a:solidFill>
            <a:prstDash val="solid"/>
            <a:tailEnd type="arrow" w="sm" len="sm"/>
          </a:ln>
        </p:spPr>
      </p:cxnSp>
      <p:cxnSp>
        <p:nvCxnSpPr>
          <p:cNvPr id="25" name="Straight Arrow Connector 24"/>
          <p:cNvCxnSpPr>
            <a:stCxn id="20" idx="2"/>
            <a:endCxn id="22" idx="3"/>
          </p:cNvCxnSpPr>
          <p:nvPr/>
        </p:nvCxnSpPr>
        <p:spPr>
          <a:xfrm flipH="1">
            <a:off x="9810750" y="3638550"/>
            <a:ext cx="247650" cy="1238250"/>
          </a:xfrm>
          <a:prstGeom prst="straightConnector1">
            <a:avLst/>
          </a:prstGeom>
          <a:ln w="19050">
            <a:solidFill>
              <a:srgbClr val="6E9B83"/>
            </a:solidFill>
            <a:prstDash val="solid"/>
            <a:tailEnd type="arrow" w="sm" len="sm"/>
          </a:ln>
        </p:spPr>
      </p:cxnSp>
      <p:cxnSp>
        <p:nvCxnSpPr>
          <p:cNvPr id="26" name="Straight Arrow Connector 25"/>
          <p:cNvCxnSpPr>
            <a:stCxn id="22" idx="1"/>
            <a:endCxn id="18" idx="2"/>
          </p:cNvCxnSpPr>
          <p:nvPr/>
        </p:nvCxnSpPr>
        <p:spPr>
          <a:xfrm flipH="1" flipV="1">
            <a:off x="7286625" y="3638550"/>
            <a:ext cx="333375" cy="1238250"/>
          </a:xfrm>
          <a:prstGeom prst="straightConnector1">
            <a:avLst/>
          </a:prstGeom>
          <a:ln w="19050">
            <a:solidFill>
              <a:srgbClr val="6E9B83"/>
            </a:solidFill>
            <a:prstDash val="solid"/>
            <a:tailEnd type="arrow" w="sm" len="sm"/>
          </a:ln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124E990-C8FF-4325-B668-B7BEF2605694}"/>
              </a:ext>
            </a:extLst>
          </p:cNvPr>
          <p:cNvSpPr>
            <a:spLocks noGrp="1"/>
          </p:cNvSpPr>
          <p:nvPr/>
        </p:nvSpPr>
        <p:spPr>
          <a:xfrm>
            <a:off x="6286500" y="5429250"/>
            <a:ext cx="4819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Systematic validation failures also become bias warnings in shared memory.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1FBBBC-1084-42D3-ABC0-209D3989180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 /  v0.1.0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CEEE86-CACD-40B8-BC91-53D526EDFEDC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18230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5937DEC-44D9-4401-BAC2-DBD310048E0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HUMAN GOVERNANCE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2C547F-A084-486A-BEEC-F9CA96450A0E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34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Every recommendation lands with a human reviewer.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FF3B7-0B0E-45AB-8206-E29BD4282A11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provides evidence, confidence, warnings, and open questions—never an automatic rejection.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D0F44F-4ADE-4509-967A-ED6C581324B4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C4E49C-CE54-4C93-BFB0-D80B7BF09437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AI assembles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8B4351-09C1-477E-8868-9DDB78D2E1BB}"/>
              </a:ext>
            </a:extLst>
          </p:cNvPr>
          <p:cNvSpPr>
            <a:spLocks noGrp="1"/>
          </p:cNvSpPr>
          <p:nvPr/>
        </p:nvSpPr>
        <p:spPr>
          <a:xfrm>
            <a:off x="628650" y="3067050"/>
            <a:ext cx="76200" cy="7620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3D7997-B591-4517-A7FB-CCF70A7C5B3A}"/>
              </a:ext>
            </a:extLst>
          </p:cNvPr>
          <p:cNvSpPr>
            <a:spLocks noGrp="1"/>
          </p:cNvSpPr>
          <p:nvPr/>
        </p:nvSpPr>
        <p:spPr>
          <a:xfrm>
            <a:off x="800100" y="30099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Match analysis + verdict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333C5D-30DD-4E89-A7E1-E188F57F6AC8}"/>
              </a:ext>
            </a:extLst>
          </p:cNvPr>
          <p:cNvSpPr>
            <a:spLocks noGrp="1"/>
          </p:cNvSpPr>
          <p:nvPr/>
        </p:nvSpPr>
        <p:spPr>
          <a:xfrm>
            <a:off x="628650" y="3524250"/>
            <a:ext cx="76200" cy="7620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D2FC8E-9535-4C03-9EB1-DBB97EBF421A}"/>
              </a:ext>
            </a:extLst>
          </p:cNvPr>
          <p:cNvSpPr>
            <a:spLocks noGrp="1"/>
          </p:cNvSpPr>
          <p:nvPr/>
        </p:nvSpPr>
        <p:spPr>
          <a:xfrm>
            <a:off x="800100" y="34671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Transcript evaluation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E580E5-C6D5-47BF-B9D9-503E5FF3D60D}"/>
              </a:ext>
            </a:extLst>
          </p:cNvPr>
          <p:cNvSpPr>
            <a:spLocks noGrp="1"/>
          </p:cNvSpPr>
          <p:nvPr/>
        </p:nvSpPr>
        <p:spPr>
          <a:xfrm>
            <a:off x="628650" y="3981450"/>
            <a:ext cx="76200" cy="7620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C2BD79-763A-465C-A4B2-8790F18E85F5}"/>
              </a:ext>
            </a:extLst>
          </p:cNvPr>
          <p:cNvSpPr>
            <a:spLocks noGrp="1"/>
          </p:cNvSpPr>
          <p:nvPr/>
        </p:nvSpPr>
        <p:spPr>
          <a:xfrm>
            <a:off x="800100" y="39243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GREEN / YELLOW / RED flags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3C2C6E7-1B2E-46C1-86E7-E6C2FBAC8778}"/>
              </a:ext>
            </a:extLst>
          </p:cNvPr>
          <p:cNvSpPr>
            <a:spLocks noGrp="1"/>
          </p:cNvSpPr>
          <p:nvPr/>
        </p:nvSpPr>
        <p:spPr>
          <a:xfrm>
            <a:off x="628650" y="4438650"/>
            <a:ext cx="76200" cy="7620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0A8EDC-9A6B-4AE1-9D24-416D553D10D9}"/>
              </a:ext>
            </a:extLst>
          </p:cNvPr>
          <p:cNvSpPr>
            <a:spLocks noGrp="1"/>
          </p:cNvSpPr>
          <p:nvPr/>
        </p:nvSpPr>
        <p:spPr>
          <a:xfrm>
            <a:off x="800100" y="43815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Comparable historical cases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F18047D-2156-4EE0-AE1B-299E2ABACBB5}"/>
              </a:ext>
            </a:extLst>
          </p:cNvPr>
          <p:cNvSpPr>
            <a:spLocks noGrp="1"/>
          </p:cNvSpPr>
          <p:nvPr/>
        </p:nvSpPr>
        <p:spPr>
          <a:xfrm>
            <a:off x="628650" y="4895850"/>
            <a:ext cx="76200" cy="7620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FDCDA5-2FE0-4F92-A225-0F7ECA9E42C9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Open questions + confidence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865681-948C-4053-ADA8-155A9A320EC9}"/>
              </a:ext>
            </a:extLst>
          </p:cNvPr>
          <p:cNvSpPr>
            <a:spLocks noGrp="1"/>
          </p:cNvSpPr>
          <p:nvPr/>
        </p:nvSpPr>
        <p:spPr>
          <a:xfrm>
            <a:off x="5219700" y="2381250"/>
            <a:ext cx="19050" cy="361950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35F444-9C39-4920-A7D3-596BAA398677}"/>
              </a:ext>
            </a:extLst>
          </p:cNvPr>
          <p:cNvSpPr>
            <a:spLocks noGrp="1"/>
          </p:cNvSpPr>
          <p:nvPr/>
        </p:nvSpPr>
        <p:spPr>
          <a:xfrm>
            <a:off x="5848350" y="24955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Human decides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54E2BCE-F7AF-4E0F-9885-F0352815D384}"/>
              </a:ext>
            </a:extLst>
          </p:cNvPr>
          <p:cNvSpPr>
            <a:spLocks noGrp="1"/>
          </p:cNvSpPr>
          <p:nvPr/>
        </p:nvSpPr>
        <p:spPr>
          <a:xfrm>
            <a:off x="5848350" y="3067050"/>
            <a:ext cx="1619250" cy="666750"/>
          </a:xfrm>
          <a:prstGeom prst="roundRect">
            <a:avLst>
              <a:gd name="adj" fmla="val 14286"/>
            </a:avLst>
          </a:prstGeom>
          <a:solidFill>
            <a:srgbClr val="DCE8DF"/>
          </a:solidFill>
          <a:ln w="14288">
            <a:solidFill>
              <a:srgbClr val="6E9B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6A5BD0-0A00-4313-AD7F-BF6F6157270A}"/>
              </a:ext>
            </a:extLst>
          </p:cNvPr>
          <p:cNvSpPr>
            <a:spLocks noGrp="1"/>
          </p:cNvSpPr>
          <p:nvPr/>
        </p:nvSpPr>
        <p:spPr>
          <a:xfrm>
            <a:off x="5943600" y="3278267"/>
            <a:ext cx="1428750" cy="2624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40775B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0775B"/>
                </a:solidFill>
                <a:latin typeface="Aptos"/>
                <a:ea typeface="Aptos"/>
                <a:cs typeface="Aptos"/>
              </a:rPr>
              <a:t>ADVANCE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90C4138-4E65-44EB-835E-568A732C8C17}"/>
              </a:ext>
            </a:extLst>
          </p:cNvPr>
          <p:cNvSpPr>
            <a:spLocks noGrp="1"/>
          </p:cNvSpPr>
          <p:nvPr/>
        </p:nvSpPr>
        <p:spPr>
          <a:xfrm>
            <a:off x="7829550" y="3067050"/>
            <a:ext cx="1619250" cy="666750"/>
          </a:xfrm>
          <a:prstGeom prst="roundRect">
            <a:avLst>
              <a:gd name="adj" fmla="val 14286"/>
            </a:avLst>
          </a:prstGeom>
          <a:solidFill>
            <a:srgbClr val="EADFCF"/>
          </a:solidFill>
          <a:ln w="14288">
            <a:solidFill>
              <a:srgbClr val="C795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8D6FDD-D4C4-4778-9ED8-69A19160843F}"/>
              </a:ext>
            </a:extLst>
          </p:cNvPr>
          <p:cNvSpPr>
            <a:spLocks noGrp="1"/>
          </p:cNvSpPr>
          <p:nvPr/>
        </p:nvSpPr>
        <p:spPr>
          <a:xfrm>
            <a:off x="7924800" y="3278267"/>
            <a:ext cx="1428750" cy="2624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HOLD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407B37B-6255-4C27-8A08-3AFD219043F8}"/>
              </a:ext>
            </a:extLst>
          </p:cNvPr>
          <p:cNvSpPr>
            <a:spLocks noGrp="1"/>
          </p:cNvSpPr>
          <p:nvPr/>
        </p:nvSpPr>
        <p:spPr>
          <a:xfrm>
            <a:off x="9810750" y="3067050"/>
            <a:ext cx="1619250" cy="666750"/>
          </a:xfrm>
          <a:prstGeom prst="roundRect">
            <a:avLst>
              <a:gd name="adj" fmla="val 14286"/>
            </a:avLst>
          </a:prstGeom>
          <a:solidFill>
            <a:srgbClr val="F2D9D3"/>
          </a:solidFill>
          <a:ln w="14288">
            <a:solidFill>
              <a:srgbClr val="E4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F4594B-05A6-4445-9EF7-86AF23558022}"/>
              </a:ext>
            </a:extLst>
          </p:cNvPr>
          <p:cNvSpPr>
            <a:spLocks noGrp="1"/>
          </p:cNvSpPr>
          <p:nvPr/>
        </p:nvSpPr>
        <p:spPr>
          <a:xfrm>
            <a:off x="9906000" y="3278267"/>
            <a:ext cx="1428750" cy="2624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 i="0">
                <a:solidFill>
                  <a:srgbClr val="B8414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B84148"/>
                </a:solidFill>
                <a:latin typeface="Aptos"/>
                <a:ea typeface="Aptos"/>
                <a:cs typeface="Aptos"/>
              </a:rPr>
              <a:t>REJECT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E0A3F2-4BD4-44BD-8447-713256BD8332}"/>
              </a:ext>
            </a:extLst>
          </p:cNvPr>
          <p:cNvSpPr>
            <a:spLocks noGrp="1"/>
          </p:cNvSpPr>
          <p:nvPr/>
        </p:nvSpPr>
        <p:spPr>
          <a:xfrm>
            <a:off x="5848350" y="4191000"/>
            <a:ext cx="5581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Reviewer can override the recommendation with context.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9EF34B-E058-4939-B2C3-7112DAA38283}"/>
              </a:ext>
            </a:extLst>
          </p:cNvPr>
          <p:cNvSpPr>
            <a:spLocks noGrp="1"/>
          </p:cNvSpPr>
          <p:nvPr/>
        </p:nvSpPr>
        <p:spPr>
          <a:xfrm>
            <a:off x="5848350" y="4762500"/>
            <a:ext cx="5581650" cy="876300"/>
          </a:xfrm>
          <a:prstGeom prst="rect">
            <a:avLst/>
          </a:prstGeom>
          <a:solidFill>
            <a:srgbClr val="4A173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9222AE-F8D9-4E30-B1ED-8A97DF093652}"/>
              </a:ext>
            </a:extLst>
          </p:cNvPr>
          <p:cNvSpPr>
            <a:spLocks noGrp="1"/>
          </p:cNvSpPr>
          <p:nvPr/>
        </p:nvSpPr>
        <p:spPr>
          <a:xfrm>
            <a:off x="6096000" y="4953000"/>
            <a:ext cx="508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Override → calibration note → smarter future behavior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F9A246-4687-455A-8088-37C10D3832AD}"/>
              </a:ext>
            </a:extLst>
          </p:cNvPr>
          <p:cNvSpPr>
            <a:spLocks noGrp="1"/>
          </p:cNvSpPr>
          <p:nvPr/>
        </p:nvSpPr>
        <p:spPr>
          <a:xfrm>
            <a:off x="6096000" y="5314950"/>
            <a:ext cx="5086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F2D9D3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2D9D3"/>
                </a:solidFill>
                <a:latin typeface="Aptos"/>
                <a:ea typeface="Aptos"/>
                <a:cs typeface="Aptos"/>
              </a:rPr>
              <a:t>The human remains accountable for the final call.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7C2CF8-688E-4867-9175-5AF1CFD15CB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 /  v0.1.0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24D698-6130-4770-B4CE-20BAF137D12C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0850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88DE784-3A30-432C-A1B8-402F3AF6B66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RECRUITER EXPERIENCE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301DE4-2EDA-4EC9-9AAD-A4741797A0B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34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Analysis moves cleanly into preparation, reporting, and portfolio decisions.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957FD4-2FB9-47DE-8167-6B968789CD22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Operational features keep the workflow useful before, during, and after the interview.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A4F622-9F41-4259-9E08-A69091EC6FD2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33DF7-4AF9-4465-BA2C-B103330C76A8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C7953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C7953A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55BAFF-A783-43E7-B1A2-78DA47C44017}"/>
              </a:ext>
            </a:extLst>
          </p:cNvPr>
          <p:cNvSpPr>
            <a:spLocks noGrp="1"/>
          </p:cNvSpPr>
          <p:nvPr/>
        </p:nvSpPr>
        <p:spPr>
          <a:xfrm>
            <a:off x="2209800" y="23812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Printable candidate PDF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B2EE23-4C6C-42CA-90C6-47C53B1893D8}"/>
              </a:ext>
            </a:extLst>
          </p:cNvPr>
          <p:cNvSpPr>
            <a:spLocks noGrp="1"/>
          </p:cNvSpPr>
          <p:nvPr/>
        </p:nvSpPr>
        <p:spPr>
          <a:xfrm>
            <a:off x="5810250" y="2400300"/>
            <a:ext cx="542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match • strengths • gaps • questions • look-for signals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3A7D74-2468-4849-82F2-F6B1752FD603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10839450" cy="952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E13190-7A29-4FB0-BBDF-8825645845FD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1FC3AD-7D26-4389-A707-D3C0EB814F50}"/>
              </a:ext>
            </a:extLst>
          </p:cNvPr>
          <p:cNvSpPr>
            <a:spLocks noGrp="1"/>
          </p:cNvSpPr>
          <p:nvPr/>
        </p:nvSpPr>
        <p:spPr>
          <a:xfrm>
            <a:off x="2209800" y="33147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Formatted multi-candidate email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B7BEBA-3D84-4B4D-8133-69F6BDEE07D2}"/>
              </a:ext>
            </a:extLst>
          </p:cNvPr>
          <p:cNvSpPr>
            <a:spLocks noGrp="1"/>
          </p:cNvSpPr>
          <p:nvPr/>
        </p:nvSpPr>
        <p:spPr>
          <a:xfrm>
            <a:off x="5810250" y="3333750"/>
            <a:ext cx="542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decisions • reasoning • ratings • flags • colour coding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D903FE-2C9B-422C-998E-9463518572B0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10839450" cy="952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34953E-0237-4C00-A68D-5C37027C3CAD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6E9B8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E9B83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A08C21-DE2E-4083-ACE1-96824C53797F}"/>
              </a:ext>
            </a:extLst>
          </p:cNvPr>
          <p:cNvSpPr>
            <a:spLocks noGrp="1"/>
          </p:cNvSpPr>
          <p:nvPr/>
        </p:nvSpPr>
        <p:spPr>
          <a:xfrm>
            <a:off x="2209800" y="42481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Rank the candidate pool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C02AE-B12D-4B70-8A10-E3A06BB74C85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542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interview rating • match • technical • communication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54E87A-E107-4D2C-868F-706FA52AD4FF}"/>
              </a:ext>
            </a:extLst>
          </p:cNvPr>
          <p:cNvSpPr>
            <a:spLocks noGrp="1"/>
          </p:cNvSpPr>
          <p:nvPr/>
        </p:nvSpPr>
        <p:spPr>
          <a:xfrm>
            <a:off x="609600" y="4876800"/>
            <a:ext cx="10839450" cy="952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E26B07-1CC9-4AF3-A213-3ED54AC29851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2DF83F-D1FE-4B21-9CF0-5404A3788F0C}"/>
              </a:ext>
            </a:extLst>
          </p:cNvPr>
          <p:cNvSpPr>
            <a:spLocks noGrp="1"/>
          </p:cNvSpPr>
          <p:nvPr/>
        </p:nvSpPr>
        <p:spPr>
          <a:xfrm>
            <a:off x="2209800" y="51816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Shared workspace + deletion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2779D2-1F91-4A68-A950-F663588B8458}"/>
              </a:ext>
            </a:extLst>
          </p:cNvPr>
          <p:cNvSpPr>
            <a:spLocks noGrp="1"/>
          </p:cNvSpPr>
          <p:nvPr/>
        </p:nvSpPr>
        <p:spPr>
          <a:xfrm>
            <a:off x="5810250" y="5200650"/>
            <a:ext cx="542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audit ownership • remove wrong-job profiles and all data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57B4A2-76B1-4BD1-944D-FD148DA70A22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839450" cy="9525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2AF00E-F77D-4EFE-9656-067FAE609B3F}"/>
              </a:ext>
            </a:extLst>
          </p:cNvPr>
          <p:cNvSpPr>
            <a:spLocks noGrp="1"/>
          </p:cNvSpPr>
          <p:nvPr/>
        </p:nvSpPr>
        <p:spPr>
          <a:xfrm>
            <a:off x="2190750" y="60198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40775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40775B"/>
                </a:solidFill>
                <a:latin typeface="Aptos"/>
                <a:ea typeface="Aptos"/>
                <a:cs typeface="Aptos"/>
              </a:rPr>
              <a:t>Green / Selected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9B990F-7691-4C05-A541-B61E6F6069E2}"/>
              </a:ext>
            </a:extLst>
          </p:cNvPr>
          <p:cNvSpPr>
            <a:spLocks noGrp="1"/>
          </p:cNvSpPr>
          <p:nvPr/>
        </p:nvSpPr>
        <p:spPr>
          <a:xfrm>
            <a:off x="3943350" y="60198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C56A32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56A32"/>
                </a:solidFill>
                <a:latin typeface="Aptos"/>
                <a:ea typeface="Aptos"/>
                <a:cs typeface="Aptos"/>
              </a:rPr>
              <a:t>Orange / On Hold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31E412-5197-42D8-AA89-76A5E7D44619}"/>
              </a:ext>
            </a:extLst>
          </p:cNvPr>
          <p:cNvSpPr>
            <a:spLocks noGrp="1"/>
          </p:cNvSpPr>
          <p:nvPr/>
        </p:nvSpPr>
        <p:spPr>
          <a:xfrm>
            <a:off x="5810250" y="60198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B8414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B84148"/>
                </a:solidFill>
                <a:latin typeface="Aptos"/>
                <a:ea typeface="Aptos"/>
                <a:cs typeface="Aptos"/>
              </a:rPr>
              <a:t>Red / Rejected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AA12FC-F260-415F-A399-B6D412D52E9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 /  v0.1.0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BD76D3-1DFB-4325-B538-825FC9B38C02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9064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99F7751-2358-4CCC-8F74-F58F158D507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DURABLE ORCHESTRATION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0C2BA8-0E21-4210-9934-6661CC111EFB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34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Every agent run is inspectable, replayable, and safe to retry.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55ECA9-413E-416F-B3E4-04D57BB1CA63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Typed tasks separate orchestration state from domain rows while preserving evidence and schema history.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B2AB01-2F68-4CD6-A4BF-BB59DE51E602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E9B069-A9EC-4168-9B9D-40C3483DF195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1657350" cy="590550"/>
          </a:xfrm>
          <a:prstGeom prst="roundRect">
            <a:avLst>
              <a:gd name="adj" fmla="val 16129"/>
            </a:avLst>
          </a:prstGeom>
          <a:solidFill>
            <a:srgbClr val="EADFCF"/>
          </a:solidFill>
          <a:ln w="14288">
            <a:solidFill>
              <a:srgbClr val="C795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4D43BD-678A-4952-8719-4A68A51E9C16}"/>
              </a:ext>
            </a:extLst>
          </p:cNvPr>
          <p:cNvSpPr>
            <a:spLocks noGrp="1"/>
          </p:cNvSpPr>
          <p:nvPr/>
        </p:nvSpPr>
        <p:spPr>
          <a:xfrm>
            <a:off x="704850" y="2713434"/>
            <a:ext cx="1466850" cy="207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PENDING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A04DB0-A0BF-41CC-929D-354E48FFB027}"/>
              </a:ext>
            </a:extLst>
          </p:cNvPr>
          <p:cNvSpPr>
            <a:spLocks noGrp="1"/>
          </p:cNvSpPr>
          <p:nvPr/>
        </p:nvSpPr>
        <p:spPr>
          <a:xfrm>
            <a:off x="2724150" y="2514600"/>
            <a:ext cx="1657350" cy="590550"/>
          </a:xfrm>
          <a:prstGeom prst="roundRect">
            <a:avLst>
              <a:gd name="adj" fmla="val 16129"/>
            </a:avLst>
          </a:prstGeom>
          <a:solidFill>
            <a:srgbClr val="E7DDE6"/>
          </a:solidFill>
          <a:ln w="14288">
            <a:solidFill>
              <a:srgbClr val="4A17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8BA53A-50CC-481B-BE24-823487DF8B23}"/>
              </a:ext>
            </a:extLst>
          </p:cNvPr>
          <p:cNvSpPr>
            <a:spLocks noGrp="1"/>
          </p:cNvSpPr>
          <p:nvPr/>
        </p:nvSpPr>
        <p:spPr>
          <a:xfrm>
            <a:off x="2819400" y="2713434"/>
            <a:ext cx="1466850" cy="207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RUNNING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0DB61E-F2F5-4B61-96C0-5BE6FB465546}"/>
              </a:ext>
            </a:extLst>
          </p:cNvPr>
          <p:cNvSpPr>
            <a:spLocks noGrp="1"/>
          </p:cNvSpPr>
          <p:nvPr/>
        </p:nvSpPr>
        <p:spPr>
          <a:xfrm>
            <a:off x="4838700" y="2514600"/>
            <a:ext cx="1657350" cy="590550"/>
          </a:xfrm>
          <a:prstGeom prst="roundRect">
            <a:avLst>
              <a:gd name="adj" fmla="val 16129"/>
            </a:avLst>
          </a:prstGeom>
          <a:solidFill>
            <a:srgbClr val="DCE8DF"/>
          </a:solidFill>
          <a:ln w="14288">
            <a:solidFill>
              <a:srgbClr val="6E9B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D611E-A11F-470E-AA2E-43B2B965A022}"/>
              </a:ext>
            </a:extLst>
          </p:cNvPr>
          <p:cNvSpPr>
            <a:spLocks noGrp="1"/>
          </p:cNvSpPr>
          <p:nvPr/>
        </p:nvSpPr>
        <p:spPr>
          <a:xfrm>
            <a:off x="4933950" y="2713434"/>
            <a:ext cx="1466850" cy="207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COMPLETE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F74C76B-0A75-49A6-8000-AA3EABDA7598}"/>
              </a:ext>
            </a:extLst>
          </p:cNvPr>
          <p:cNvSpPr>
            <a:spLocks noGrp="1"/>
          </p:cNvSpPr>
          <p:nvPr/>
        </p:nvSpPr>
        <p:spPr>
          <a:xfrm>
            <a:off x="6953250" y="2514600"/>
            <a:ext cx="1657350" cy="590550"/>
          </a:xfrm>
          <a:prstGeom prst="roundRect">
            <a:avLst>
              <a:gd name="adj" fmla="val 16129"/>
            </a:avLst>
          </a:prstGeom>
          <a:solidFill>
            <a:srgbClr val="F2D9D3"/>
          </a:solidFill>
          <a:ln w="14288">
            <a:solidFill>
              <a:srgbClr val="E45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02B4CC-2A19-434A-A514-9E2D7ED6DAC0}"/>
              </a:ext>
            </a:extLst>
          </p:cNvPr>
          <p:cNvSpPr>
            <a:spLocks noGrp="1"/>
          </p:cNvSpPr>
          <p:nvPr/>
        </p:nvSpPr>
        <p:spPr>
          <a:xfrm>
            <a:off x="7048500" y="2713434"/>
            <a:ext cx="1466850" cy="207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FAILED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1B687D-750D-445A-A63E-B613A1E0A9C8}"/>
              </a:ext>
            </a:extLst>
          </p:cNvPr>
          <p:cNvSpPr>
            <a:spLocks noGrp="1"/>
          </p:cNvSpPr>
          <p:nvPr/>
        </p:nvSpPr>
        <p:spPr>
          <a:xfrm>
            <a:off x="9067800" y="2514600"/>
            <a:ext cx="1657350" cy="590550"/>
          </a:xfrm>
          <a:prstGeom prst="roundRect">
            <a:avLst>
              <a:gd name="adj" fmla="val 16129"/>
            </a:avLst>
          </a:prstGeom>
          <a:solidFill>
            <a:srgbClr val="EADFCF"/>
          </a:solidFill>
          <a:ln w="14288">
            <a:solidFill>
              <a:srgbClr val="C795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FE37E8-98CB-40EC-B19D-55C7E6B71FDA}"/>
              </a:ext>
            </a:extLst>
          </p:cNvPr>
          <p:cNvSpPr>
            <a:spLocks noGrp="1"/>
          </p:cNvSpPr>
          <p:nvPr/>
        </p:nvSpPr>
        <p:spPr>
          <a:xfrm>
            <a:off x="9163050" y="2713434"/>
            <a:ext cx="1466850" cy="207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1" i="0">
                <a:solidFill>
                  <a:srgbClr val="261B2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61B24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cxnSp>
        <p:nvCxnSpPr>
          <p:cNvPr id="15" name="Straight Arrow Connector 14"/>
          <p:cNvCxnSpPr>
            <a:stCxn id="5" idx="3"/>
            <a:endCxn id="7" idx="1"/>
          </p:cNvCxnSpPr>
          <p:nvPr/>
        </p:nvCxnSpPr>
        <p:spPr>
          <a:xfrm>
            <a:off x="2266950" y="2809875"/>
            <a:ext cx="457200" cy="0"/>
          </a:xfrm>
          <a:prstGeom prst="straightConnector1">
            <a:avLst/>
          </a:prstGeom>
          <a:ln w="19050">
            <a:solidFill>
              <a:srgbClr val="D9CDBE"/>
            </a:solidFill>
            <a:prstDash val="solid"/>
            <a:tailEnd type="arrow" w="sm" len="sm"/>
          </a:ln>
        </p:spPr>
      </p:cxnSp>
      <p:cxnSp>
        <p:nvCxnSpPr>
          <p:cNvPr id="16" name="Straight Arrow Connector 15"/>
          <p:cNvCxnSpPr>
            <a:stCxn id="7" idx="3"/>
            <a:endCxn id="9" idx="1"/>
          </p:cNvCxnSpPr>
          <p:nvPr/>
        </p:nvCxnSpPr>
        <p:spPr>
          <a:xfrm>
            <a:off x="4381500" y="2809875"/>
            <a:ext cx="457200" cy="0"/>
          </a:xfrm>
          <a:prstGeom prst="straightConnector1">
            <a:avLst/>
          </a:prstGeom>
          <a:ln w="19050">
            <a:solidFill>
              <a:srgbClr val="D9CDBE"/>
            </a:solidFill>
            <a:prstDash val="solid"/>
            <a:tailEnd type="arrow" w="sm" len="sm"/>
          </a:ln>
        </p:spPr>
      </p:cxnSp>
      <p:cxnSp>
        <p:nvCxnSpPr>
          <p:cNvPr id="17" name="Straight Arrow Connector 16"/>
          <p:cNvCxnSpPr>
            <a:stCxn id="9" idx="3"/>
            <a:endCxn id="11" idx="1"/>
          </p:cNvCxnSpPr>
          <p:nvPr/>
        </p:nvCxnSpPr>
        <p:spPr>
          <a:xfrm>
            <a:off x="6496050" y="2809875"/>
            <a:ext cx="457200" cy="0"/>
          </a:xfrm>
          <a:prstGeom prst="straightConnector1">
            <a:avLst/>
          </a:prstGeom>
          <a:ln w="19050">
            <a:solidFill>
              <a:srgbClr val="D9CDBE"/>
            </a:solidFill>
            <a:prstDash val="solid"/>
            <a:tailEnd type="arrow" w="sm" len="sm"/>
          </a:ln>
        </p:spPr>
      </p:cxnSp>
      <p:cxnSp>
        <p:nvCxnSpPr>
          <p:cNvPr id="18" name="Straight Arrow Connector 17"/>
          <p:cNvCxnSpPr>
            <a:stCxn id="11" idx="3"/>
            <a:endCxn id="13" idx="1"/>
          </p:cNvCxnSpPr>
          <p:nvPr/>
        </p:nvCxnSpPr>
        <p:spPr>
          <a:xfrm>
            <a:off x="8610600" y="2809875"/>
            <a:ext cx="457200" cy="0"/>
          </a:xfrm>
          <a:prstGeom prst="straightConnector1">
            <a:avLst/>
          </a:prstGeom>
          <a:ln w="19050">
            <a:solidFill>
              <a:srgbClr val="D9CDBE"/>
            </a:solidFill>
            <a:prstDash val="solid"/>
            <a:tailEnd type="arrow" w="sm" len="sm"/>
          </a:ln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79989E5-5632-4381-8665-FB509D229276}"/>
              </a:ext>
            </a:extLst>
          </p:cNvPr>
          <p:cNvSpPr>
            <a:spLocks noGrp="1"/>
          </p:cNvSpPr>
          <p:nvPr/>
        </p:nvSpPr>
        <p:spPr>
          <a:xfrm>
            <a:off x="619125" y="3743325"/>
            <a:ext cx="114300" cy="11430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9D63BF-AD07-4738-914D-78FBF6DBC3C3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Idempotency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4FD38E-A50A-48EA-867F-CB3D69A5B64B}"/>
              </a:ext>
            </a:extLst>
          </p:cNvPr>
          <p:cNvSpPr>
            <a:spLocks noGrp="1"/>
          </p:cNvSpPr>
          <p:nvPr/>
        </p:nvSpPr>
        <p:spPr>
          <a:xfrm>
            <a:off x="857250" y="398145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Unique keys make retries safe.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B22C523-9240-4462-88CA-064B05D62469}"/>
              </a:ext>
            </a:extLst>
          </p:cNvPr>
          <p:cNvSpPr>
            <a:spLocks noGrp="1"/>
          </p:cNvSpPr>
          <p:nvPr/>
        </p:nvSpPr>
        <p:spPr>
          <a:xfrm>
            <a:off x="4276725" y="3743325"/>
            <a:ext cx="114300" cy="114300"/>
          </a:xfrm>
          <a:prstGeom prst="ellipse">
            <a:avLst/>
          </a:prstGeom>
          <a:solidFill>
            <a:srgbClr val="6E9B8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DA4852-8FF1-4C2D-B115-22151329472F}"/>
              </a:ext>
            </a:extLst>
          </p:cNvPr>
          <p:cNvSpPr>
            <a:spLocks noGrp="1"/>
          </p:cNvSpPr>
          <p:nvPr/>
        </p:nvSpPr>
        <p:spPr>
          <a:xfrm>
            <a:off x="4514850" y="36766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Typed artifacts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A58BA0-D00A-48AD-AD94-20D4CF508AD3}"/>
              </a:ext>
            </a:extLst>
          </p:cNvPr>
          <p:cNvSpPr>
            <a:spLocks noGrp="1"/>
          </p:cNvSpPr>
          <p:nvPr/>
        </p:nvSpPr>
        <p:spPr>
          <a:xfrm>
            <a:off x="4514850" y="398145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Evidence claims, warnings, confidence, schema version.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30F45F-B418-49F2-9391-9ABDE45AF79F}"/>
              </a:ext>
            </a:extLst>
          </p:cNvPr>
          <p:cNvSpPr>
            <a:spLocks noGrp="1"/>
          </p:cNvSpPr>
          <p:nvPr/>
        </p:nvSpPr>
        <p:spPr>
          <a:xfrm>
            <a:off x="7934325" y="3743325"/>
            <a:ext cx="114300" cy="114300"/>
          </a:xfrm>
          <a:prstGeom prst="ellipse">
            <a:avLst/>
          </a:prstGeom>
          <a:solidFill>
            <a:srgbClr val="C795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ED42D9-2DE8-4A6A-8A23-0CEA4B6C1E61}"/>
              </a:ext>
            </a:extLst>
          </p:cNvPr>
          <p:cNvSpPr>
            <a:spLocks noGrp="1"/>
          </p:cNvSpPr>
          <p:nvPr/>
        </p:nvSpPr>
        <p:spPr>
          <a:xfrm>
            <a:off x="8172450" y="36766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32556A-0C0E-49C7-81A1-608A0B278AC7}"/>
              </a:ext>
            </a:extLst>
          </p:cNvPr>
          <p:cNvSpPr>
            <a:spLocks noGrp="1"/>
          </p:cNvSpPr>
          <p:nvPr/>
        </p:nvSpPr>
        <p:spPr>
          <a:xfrm>
            <a:off x="8172450" y="398145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Quotes verified; flags require evidence and consistent severity.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5A03D33-DFCB-4529-8527-49694D4963B2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114300" cy="11430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BCB61-128A-40FE-B02C-FEA833E1AFAE}"/>
              </a:ext>
            </a:extLst>
          </p:cNvPr>
          <p:cNvSpPr>
            <a:spLocks noGrp="1"/>
          </p:cNvSpPr>
          <p:nvPr/>
        </p:nvSpPr>
        <p:spPr>
          <a:xfrm>
            <a:off x="857250" y="47434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Event log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BF7511C-79C4-4117-818D-6744194BFE40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Every start and completion is recorded for observability and replay.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A34B93C-6209-4D5C-A32B-FACA49508812}"/>
              </a:ext>
            </a:extLst>
          </p:cNvPr>
          <p:cNvSpPr>
            <a:spLocks noGrp="1"/>
          </p:cNvSpPr>
          <p:nvPr/>
        </p:nvSpPr>
        <p:spPr>
          <a:xfrm>
            <a:off x="4276725" y="4810125"/>
            <a:ext cx="114300" cy="114300"/>
          </a:xfrm>
          <a:prstGeom prst="ellipse">
            <a:avLst/>
          </a:prstGeom>
          <a:solidFill>
            <a:srgbClr val="6E9B8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A7DC12-1917-4985-843A-81C29CF9D31D}"/>
              </a:ext>
            </a:extLst>
          </p:cNvPr>
          <p:cNvSpPr>
            <a:spLocks noGrp="1"/>
          </p:cNvSpPr>
          <p:nvPr/>
        </p:nvSpPr>
        <p:spPr>
          <a:xfrm>
            <a:off x="4514850" y="47434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Attempts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D71D54-747A-4E31-97A9-F4179F007864}"/>
              </a:ext>
            </a:extLst>
          </p:cNvPr>
          <p:cNvSpPr>
            <a:spLocks noGrp="1"/>
          </p:cNvSpPr>
          <p:nvPr/>
        </p:nvSpPr>
        <p:spPr>
          <a:xfrm>
            <a:off x="4514850" y="504825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Count and max-attempt policy govern reflexion and failure.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F4EC3AD-1D32-4FDB-BDEE-27547E8C4E16}"/>
              </a:ext>
            </a:extLst>
          </p:cNvPr>
          <p:cNvSpPr>
            <a:spLocks noGrp="1"/>
          </p:cNvSpPr>
          <p:nvPr/>
        </p:nvSpPr>
        <p:spPr>
          <a:xfrm>
            <a:off x="7934325" y="4810125"/>
            <a:ext cx="114300" cy="114300"/>
          </a:xfrm>
          <a:prstGeom prst="ellipse">
            <a:avLst/>
          </a:prstGeom>
          <a:solidFill>
            <a:srgbClr val="C7953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3DED63-474F-424D-B1FF-71F96CC84E76}"/>
              </a:ext>
            </a:extLst>
          </p:cNvPr>
          <p:cNvSpPr>
            <a:spLocks noGrp="1"/>
          </p:cNvSpPr>
          <p:nvPr/>
        </p:nvSpPr>
        <p:spPr>
          <a:xfrm>
            <a:off x="8172450" y="47434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Dependencies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846746B-14DD-46B1-913B-6D9FFDFBE9E9}"/>
              </a:ext>
            </a:extLst>
          </p:cNvPr>
          <p:cNvSpPr>
            <a:spLocks noGrp="1"/>
          </p:cNvSpPr>
          <p:nvPr/>
        </p:nvSpPr>
        <p:spPr>
          <a:xfrm>
            <a:off x="8172450" y="5048250"/>
            <a:ext cx="314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Graphs expose blocked work and persist intermediate outputs.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E6AB60-A15C-4BC7-8662-5A7A9A2439D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 /  v0.1.0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DC25BF7-CF37-4E4D-9EEF-47628A0C010A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23902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4C5140D-EE35-4B6C-9103-DF4657482E6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UNDER THE HOOD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4FB854-95EF-4F60-B142-4523E3CD5DC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34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4A173C"/>
                </a:solidFill>
                <a:latin typeface="Georgia"/>
                <a:ea typeface="Georgia"/>
                <a:cs typeface="Georgia"/>
              </a:rPr>
              <a:t>Every run is visible—status, cost, history, and prompts.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4FD5CC-4A1E-420B-807F-C52B8FBE621F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Demo mode exposes the live agentic pipeline on every page without changing graph function signatures.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659E4E-B898-4407-AD53-D31E3C6FEAC0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3CDF48-6D67-4D20-9DB8-EB0EAA59D6AE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LIVE WORKFLOW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4A47316-E18B-4C44-B4C2-A2BDA2AFF722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323850" cy="323850"/>
          </a:xfrm>
          <a:prstGeom prst="ellipse">
            <a:avLst/>
          </a:prstGeom>
          <a:solidFill>
            <a:srgbClr val="6E9B8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FA8DE1-A8A8-464E-B4FB-05A3309E6EA3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0EC33C-8B2E-4649-B3FA-8F190A2301E6}"/>
              </a:ext>
            </a:extLst>
          </p:cNvPr>
          <p:cNvSpPr>
            <a:spLocks noGrp="1"/>
          </p:cNvSpPr>
          <p:nvPr/>
        </p:nvSpPr>
        <p:spPr>
          <a:xfrm>
            <a:off x="180975" y="3352800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Resume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9E0A79-1079-468A-AEE8-4E9E2531DFFB}"/>
              </a:ext>
            </a:extLst>
          </p:cNvPr>
          <p:cNvSpPr>
            <a:spLocks noGrp="1"/>
          </p:cNvSpPr>
          <p:nvPr/>
        </p:nvSpPr>
        <p:spPr>
          <a:xfrm>
            <a:off x="933450" y="3067050"/>
            <a:ext cx="1152525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7454DE0-F377-4EC7-A101-9DD19FBA1416}"/>
              </a:ext>
            </a:extLst>
          </p:cNvPr>
          <p:cNvSpPr>
            <a:spLocks noGrp="1"/>
          </p:cNvSpPr>
          <p:nvPr/>
        </p:nvSpPr>
        <p:spPr>
          <a:xfrm>
            <a:off x="2085975" y="2914650"/>
            <a:ext cx="323850" cy="323850"/>
          </a:xfrm>
          <a:prstGeom prst="ellipse">
            <a:avLst/>
          </a:prstGeom>
          <a:solidFill>
            <a:srgbClr val="6E9B8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E9254A-8CB9-4E2C-BC10-62FB0045C4C8}"/>
              </a:ext>
            </a:extLst>
          </p:cNvPr>
          <p:cNvSpPr>
            <a:spLocks noGrp="1"/>
          </p:cNvSpPr>
          <p:nvPr/>
        </p:nvSpPr>
        <p:spPr>
          <a:xfrm>
            <a:off x="2085975" y="2962275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3F4F32-7FC1-4D77-9BFF-2E6398ED99B9}"/>
              </a:ext>
            </a:extLst>
          </p:cNvPr>
          <p:cNvSpPr>
            <a:spLocks noGrp="1"/>
          </p:cNvSpPr>
          <p:nvPr/>
        </p:nvSpPr>
        <p:spPr>
          <a:xfrm>
            <a:off x="1657350" y="3352800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7CA4C-2925-4EBA-A2CA-EDAC8FB1B42D}"/>
              </a:ext>
            </a:extLst>
          </p:cNvPr>
          <p:cNvSpPr>
            <a:spLocks noGrp="1"/>
          </p:cNvSpPr>
          <p:nvPr/>
        </p:nvSpPr>
        <p:spPr>
          <a:xfrm>
            <a:off x="2409825" y="3067050"/>
            <a:ext cx="1152525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57253BF-397B-4691-ADF2-E77DFAE44FA1}"/>
              </a:ext>
            </a:extLst>
          </p:cNvPr>
          <p:cNvSpPr>
            <a:spLocks noGrp="1"/>
          </p:cNvSpPr>
          <p:nvPr/>
        </p:nvSpPr>
        <p:spPr>
          <a:xfrm>
            <a:off x="3562350" y="2914650"/>
            <a:ext cx="323850" cy="323850"/>
          </a:xfrm>
          <a:prstGeom prst="ellipse">
            <a:avLst/>
          </a:prstGeom>
          <a:solidFill>
            <a:srgbClr val="6E9B8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1BA66C-B5C7-4B95-B61E-3B7BA0A3FB97}"/>
              </a:ext>
            </a:extLst>
          </p:cNvPr>
          <p:cNvSpPr>
            <a:spLocks noGrp="1"/>
          </p:cNvSpPr>
          <p:nvPr/>
        </p:nvSpPr>
        <p:spPr>
          <a:xfrm>
            <a:off x="3562350" y="2962275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D5BD05-8419-4F73-9972-A98E015888C9}"/>
              </a:ext>
            </a:extLst>
          </p:cNvPr>
          <p:cNvSpPr>
            <a:spLocks noGrp="1"/>
          </p:cNvSpPr>
          <p:nvPr/>
        </p:nvSpPr>
        <p:spPr>
          <a:xfrm>
            <a:off x="3133725" y="3352800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Gap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E824F5-D29C-42D7-882B-652E1FA6005D}"/>
              </a:ext>
            </a:extLst>
          </p:cNvPr>
          <p:cNvSpPr>
            <a:spLocks noGrp="1"/>
          </p:cNvSpPr>
          <p:nvPr/>
        </p:nvSpPr>
        <p:spPr>
          <a:xfrm>
            <a:off x="3886200" y="3067050"/>
            <a:ext cx="1152525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63A486-2DB0-4242-AD16-8EE6EDE9985E}"/>
              </a:ext>
            </a:extLst>
          </p:cNvPr>
          <p:cNvSpPr>
            <a:spLocks noGrp="1"/>
          </p:cNvSpPr>
          <p:nvPr/>
        </p:nvSpPr>
        <p:spPr>
          <a:xfrm>
            <a:off x="5038725" y="2914650"/>
            <a:ext cx="323850" cy="323850"/>
          </a:xfrm>
          <a:prstGeom prst="ellipse">
            <a:avLst/>
          </a:prstGeom>
          <a:solidFill>
            <a:srgbClr val="6E9B8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63DE0A-5A70-40B8-884C-68D717D9CF55}"/>
              </a:ext>
            </a:extLst>
          </p:cNvPr>
          <p:cNvSpPr>
            <a:spLocks noGrp="1"/>
          </p:cNvSpPr>
          <p:nvPr/>
        </p:nvSpPr>
        <p:spPr>
          <a:xfrm>
            <a:off x="5038725" y="2962275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3762C5-6DA2-4B54-ACC8-DB2EEA1AEB6F}"/>
              </a:ext>
            </a:extLst>
          </p:cNvPr>
          <p:cNvSpPr>
            <a:spLocks noGrp="1"/>
          </p:cNvSpPr>
          <p:nvPr/>
        </p:nvSpPr>
        <p:spPr>
          <a:xfrm>
            <a:off x="4610100" y="3352800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1BFF31-7D24-4093-B81A-FDEBECFC1E93}"/>
              </a:ext>
            </a:extLst>
          </p:cNvPr>
          <p:cNvSpPr>
            <a:spLocks noGrp="1"/>
          </p:cNvSpPr>
          <p:nvPr/>
        </p:nvSpPr>
        <p:spPr>
          <a:xfrm>
            <a:off x="5362575" y="3067050"/>
            <a:ext cx="1152525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263539-616D-49BB-BC55-7A0AA23D6859}"/>
              </a:ext>
            </a:extLst>
          </p:cNvPr>
          <p:cNvSpPr>
            <a:spLocks noGrp="1"/>
          </p:cNvSpPr>
          <p:nvPr/>
        </p:nvSpPr>
        <p:spPr>
          <a:xfrm>
            <a:off x="6515100" y="2914650"/>
            <a:ext cx="323850" cy="323850"/>
          </a:xfrm>
          <a:prstGeom prst="ellipse">
            <a:avLst/>
          </a:prstGeom>
          <a:solidFill>
            <a:srgbClr val="E45C5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D2FBC4-1F40-4A94-A7A6-5C85D267313E}"/>
              </a:ext>
            </a:extLst>
          </p:cNvPr>
          <p:cNvSpPr>
            <a:spLocks noGrp="1"/>
          </p:cNvSpPr>
          <p:nvPr/>
        </p:nvSpPr>
        <p:spPr>
          <a:xfrm>
            <a:off x="6515100" y="2962275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1E7388-5C46-4582-A9D5-9692008C73E0}"/>
              </a:ext>
            </a:extLst>
          </p:cNvPr>
          <p:cNvSpPr>
            <a:spLocks noGrp="1"/>
          </p:cNvSpPr>
          <p:nvPr/>
        </p:nvSpPr>
        <p:spPr>
          <a:xfrm>
            <a:off x="6086475" y="3352800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A1CB0B-6E17-4E23-ACCA-D966771184F2}"/>
              </a:ext>
            </a:extLst>
          </p:cNvPr>
          <p:cNvSpPr>
            <a:spLocks noGrp="1"/>
          </p:cNvSpPr>
          <p:nvPr/>
        </p:nvSpPr>
        <p:spPr>
          <a:xfrm>
            <a:off x="6838950" y="3067050"/>
            <a:ext cx="1152525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DAC219F-34FF-462B-9D76-5B6106A381A7}"/>
              </a:ext>
            </a:extLst>
          </p:cNvPr>
          <p:cNvSpPr>
            <a:spLocks noGrp="1"/>
          </p:cNvSpPr>
          <p:nvPr/>
        </p:nvSpPr>
        <p:spPr>
          <a:xfrm>
            <a:off x="7991475" y="2914650"/>
            <a:ext cx="323850" cy="323850"/>
          </a:xfrm>
          <a:prstGeom prst="ellipse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ED20CB-3906-48F1-B657-B9ABD8733FC4}"/>
              </a:ext>
            </a:extLst>
          </p:cNvPr>
          <p:cNvSpPr>
            <a:spLocks noGrp="1"/>
          </p:cNvSpPr>
          <p:nvPr/>
        </p:nvSpPr>
        <p:spPr>
          <a:xfrm>
            <a:off x="7991475" y="2962275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A4FF8F-67EF-460A-96E1-3A55699CF780}"/>
              </a:ext>
            </a:extLst>
          </p:cNvPr>
          <p:cNvSpPr>
            <a:spLocks noGrp="1"/>
          </p:cNvSpPr>
          <p:nvPr/>
        </p:nvSpPr>
        <p:spPr>
          <a:xfrm>
            <a:off x="7562850" y="3352800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Flags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9710F0-5430-4CAC-BA84-F31AD28168D6}"/>
              </a:ext>
            </a:extLst>
          </p:cNvPr>
          <p:cNvSpPr>
            <a:spLocks noGrp="1"/>
          </p:cNvSpPr>
          <p:nvPr/>
        </p:nvSpPr>
        <p:spPr>
          <a:xfrm>
            <a:off x="8315325" y="3067050"/>
            <a:ext cx="1152525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DBE7CA5-5CD4-4203-95DA-F1B0F5568612}"/>
              </a:ext>
            </a:extLst>
          </p:cNvPr>
          <p:cNvSpPr>
            <a:spLocks noGrp="1"/>
          </p:cNvSpPr>
          <p:nvPr/>
        </p:nvSpPr>
        <p:spPr>
          <a:xfrm>
            <a:off x="9467850" y="2914650"/>
            <a:ext cx="323850" cy="323850"/>
          </a:xfrm>
          <a:prstGeom prst="ellipse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160C66F-93EF-4B08-BA7B-327F58B23031}"/>
              </a:ext>
            </a:extLst>
          </p:cNvPr>
          <p:cNvSpPr>
            <a:spLocks noGrp="1"/>
          </p:cNvSpPr>
          <p:nvPr/>
        </p:nvSpPr>
        <p:spPr>
          <a:xfrm>
            <a:off x="9467850" y="2962275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30C322-85E7-41DE-9261-C9BD5A879A96}"/>
              </a:ext>
            </a:extLst>
          </p:cNvPr>
          <p:cNvSpPr>
            <a:spLocks noGrp="1"/>
          </p:cNvSpPr>
          <p:nvPr/>
        </p:nvSpPr>
        <p:spPr>
          <a:xfrm>
            <a:off x="9039225" y="3352800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D1B85D-3FDE-4463-BC3D-7F0C64C6DCF5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10972800" cy="19050"/>
          </a:xfrm>
          <a:prstGeom prst="rect">
            <a:avLst/>
          </a:prstGeom>
          <a:solidFill>
            <a:srgbClr val="D9CDB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3060A92-CFF5-499F-B10D-FDF1C79B40E9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 i="0">
                <a:solidFill>
                  <a:srgbClr val="E45C5C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E45C5C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4B8E7C-B4BD-4D44-ADDC-890E4647B370}"/>
              </a:ext>
            </a:extLst>
          </p:cNvPr>
          <p:cNvSpPr>
            <a:spLocks noGrp="1"/>
          </p:cNvSpPr>
          <p:nvPr/>
        </p:nvSpPr>
        <p:spPr>
          <a:xfrm>
            <a:off x="1276350" y="43243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Agent runs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A97929-3C71-4DB5-B64D-17BD77DB0B69}"/>
              </a:ext>
            </a:extLst>
          </p:cNvPr>
          <p:cNvSpPr>
            <a:spLocks noGrp="1"/>
          </p:cNvSpPr>
          <p:nvPr/>
        </p:nvSpPr>
        <p:spPr>
          <a:xfrm>
            <a:off x="1276350" y="462915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Per candidate, ordered by lifecycle with timestamp + status.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9CEAA9-6AE3-4FDC-932F-517BB9364DEA}"/>
              </a:ext>
            </a:extLst>
          </p:cNvPr>
          <p:cNvSpPr>
            <a:spLocks noGrp="1"/>
          </p:cNvSpPr>
          <p:nvPr/>
        </p:nvSpPr>
        <p:spPr>
          <a:xfrm>
            <a:off x="6096000" y="43434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 i="0">
                <a:solidFill>
                  <a:srgbClr val="E45C5C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E45C5C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EFA128-9713-4535-87CA-B64B9BE75611}"/>
              </a:ext>
            </a:extLst>
          </p:cNvPr>
          <p:cNvSpPr>
            <a:spLocks noGrp="1"/>
          </p:cNvSpPr>
          <p:nvPr/>
        </p:nvSpPr>
        <p:spPr>
          <a:xfrm>
            <a:off x="6762750" y="43243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Token usage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3B72DF-6661-4D6A-92D2-900207FF071A}"/>
              </a:ext>
            </a:extLst>
          </p:cNvPr>
          <p:cNvSpPr>
            <a:spLocks noGrp="1"/>
          </p:cNvSpPr>
          <p:nvPr/>
        </p:nvSpPr>
        <p:spPr>
          <a:xfrm>
            <a:off x="6762750" y="462915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Prompt, completion, and total—per row and aggregated per candidate.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9E0141-C72C-4265-8BD1-5F4BAA6B9FF1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 i="0">
                <a:solidFill>
                  <a:srgbClr val="E45C5C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E45C5C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FAE8A8F-35FF-412F-AD79-B9628F049CF5}"/>
              </a:ext>
            </a:extLst>
          </p:cNvPr>
          <p:cNvSpPr>
            <a:spLocks noGrp="1"/>
          </p:cNvSpPr>
          <p:nvPr/>
        </p:nvSpPr>
        <p:spPr>
          <a:xfrm>
            <a:off x="1276350" y="52768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Prompt editor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794B2DE-4303-4BB5-84EF-94BC0B7BB097}"/>
              </a:ext>
            </a:extLst>
          </p:cNvPr>
          <p:cNvSpPr>
            <a:spLocks noGrp="1"/>
          </p:cNvSpPr>
          <p:nvPr/>
        </p:nvSpPr>
        <p:spPr>
          <a:xfrm>
            <a:off x="1276350" y="558165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Inspect and override system and user prompts at runtime.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0A9E0E-660E-49C9-A8D7-F8EF493A5456}"/>
              </a:ext>
            </a:extLst>
          </p:cNvPr>
          <p:cNvSpPr>
            <a:spLocks noGrp="1"/>
          </p:cNvSpPr>
          <p:nvPr/>
        </p:nvSpPr>
        <p:spPr>
          <a:xfrm>
            <a:off x="6096000" y="529590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 i="0">
                <a:solidFill>
                  <a:srgbClr val="E45C5C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E45C5C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B31C58F-90E6-48C5-B91B-25C5FF6F9A36}"/>
              </a:ext>
            </a:extLst>
          </p:cNvPr>
          <p:cNvSpPr>
            <a:spLocks noGrp="1"/>
          </p:cNvSpPr>
          <p:nvPr/>
        </p:nvSpPr>
        <p:spPr>
          <a:xfrm>
            <a:off x="6762750" y="52768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 i="0">
                <a:solidFill>
                  <a:srgbClr val="4A173C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4A173C"/>
                </a:solidFill>
                <a:latin typeface="Aptos"/>
                <a:ea typeface="Aptos"/>
                <a:cs typeface="Aptos"/>
              </a:rPr>
              <a:t>Tracing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CA4C10-E6B1-4CCC-9612-F1E049F792E9}"/>
              </a:ext>
            </a:extLst>
          </p:cNvPr>
          <p:cNvSpPr>
            <a:spLocks noGrp="1"/>
          </p:cNvSpPr>
          <p:nvPr/>
        </p:nvSpPr>
        <p:spPr>
          <a:xfrm>
            <a:off x="6762750" y="558165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LangSmith plus typed task events support diagnosis and replay.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D57F253-ACC0-461F-B704-649F6FD789A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HIRELENS  /  v0.1.0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53E1CCB-429C-4CC4-862B-E970AC68B7BB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6F626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F626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22252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36D0C34-CA5E-4D50-8592-68CD8045DDE1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TECHNOLOGY + OPERATING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6C59B4-A67F-4202-8DD8-BB5083975B6C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7620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1" i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Built for evidence, learning,</a:t>
            </a:r>
          </a:p>
          <a:p>
            <a:pPr>
              <a:defRPr sz="34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1" i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and human judgment.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A3905D-7AEC-4AB7-9FC3-4CBCC7D3804E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8082ED-E0CB-474B-8AD0-4EF7CD5F0758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4762500" cy="9525"/>
          </a:xfrm>
          <a:prstGeom prst="rect">
            <a:avLst/>
          </a:prstGeom>
          <a:solidFill>
            <a:srgbClr val="8050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8719EE-4F2B-4904-B6D4-B867E550F3C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Next.js 15 • React 19 • TypeScript 5 • Tailwind CSS 4</a:t>
            </a:r>
          </a:p>
          <a:p>
            <a:pPr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shadcn/ui • Base UI • Lucide • Recharts • Sonner • date-fns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CF36F4-F7AD-4C92-9EC4-19619F61D1C9}"/>
              </a:ext>
            </a:extLst>
          </p:cNvPr>
          <p:cNvSpPr>
            <a:spLocks noGrp="1"/>
          </p:cNvSpPr>
          <p:nvPr/>
        </p:nvSpPr>
        <p:spPr>
          <a:xfrm>
            <a:off x="6172200" y="25146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6E9B8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E9B83"/>
                </a:solidFill>
                <a:latin typeface="Aptos"/>
                <a:ea typeface="Aptos"/>
                <a:cs typeface="Aptos"/>
              </a:rPr>
              <a:t>BACKEND + DATA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B93AD7-9617-47F7-BEA0-47BD92974C8E}"/>
              </a:ext>
            </a:extLst>
          </p:cNvPr>
          <p:cNvSpPr>
            <a:spLocks noGrp="1"/>
          </p:cNvSpPr>
          <p:nvPr/>
        </p:nvSpPr>
        <p:spPr>
          <a:xfrm>
            <a:off x="6172200" y="2781300"/>
            <a:ext cx="4762500" cy="9525"/>
          </a:xfrm>
          <a:prstGeom prst="rect">
            <a:avLst/>
          </a:prstGeom>
          <a:solidFill>
            <a:srgbClr val="8050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58C61A-B698-40DE-94C2-28F47D112ED4}"/>
              </a:ext>
            </a:extLst>
          </p:cNvPr>
          <p:cNvSpPr>
            <a:spLocks noGrp="1"/>
          </p:cNvSpPr>
          <p:nvPr/>
        </p:nvSpPr>
        <p:spPr>
          <a:xfrm>
            <a:off x="6172200" y="2933700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Supabase Postgres + pgvector • Auth SSR • Row Level Security</a:t>
            </a:r>
          </a:p>
          <a:p>
            <a:pPr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Zod • OpenAI chat + embeddings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83EFBB-0E02-4FC2-A9ED-527149F74758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E45C5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45C5C"/>
                </a:solidFill>
                <a:latin typeface="Aptos"/>
                <a:ea typeface="Aptos"/>
                <a:cs typeface="Aptos"/>
              </a:rPr>
              <a:t>AI + ORCHESTRATION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71559F-BFEF-4E9B-894C-060AC5686578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4762500" cy="9525"/>
          </a:xfrm>
          <a:prstGeom prst="rect">
            <a:avLst/>
          </a:prstGeom>
          <a:solidFill>
            <a:srgbClr val="8050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9B10A2-DD6E-4F96-896A-EF4E15D1551A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LangChain • LangGraph • structured outputs / Responses API</a:t>
            </a:r>
          </a:p>
          <a:p>
            <a:pPr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LangSmith • durable tasks • reflexion • shared agent memory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FB6C49-789C-420D-9F38-9B0D6F5025D4}"/>
              </a:ext>
            </a:extLst>
          </p:cNvPr>
          <p:cNvSpPr>
            <a:spLocks noGrp="1"/>
          </p:cNvSpPr>
          <p:nvPr/>
        </p:nvSpPr>
        <p:spPr>
          <a:xfrm>
            <a:off x="6172200" y="37909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 i="0">
                <a:solidFill>
                  <a:srgbClr val="6E9B8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E9B83"/>
                </a:solidFill>
                <a:latin typeface="Aptos"/>
                <a:ea typeface="Aptos"/>
                <a:cs typeface="Aptos"/>
              </a:rPr>
              <a:t>PARSING + QUALITY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9A97BE-9B7E-4C7F-A483-62090F91AA55}"/>
              </a:ext>
            </a:extLst>
          </p:cNvPr>
          <p:cNvSpPr>
            <a:spLocks noGrp="1"/>
          </p:cNvSpPr>
          <p:nvPr/>
        </p:nvSpPr>
        <p:spPr>
          <a:xfrm>
            <a:off x="6172200" y="4057650"/>
            <a:ext cx="4762500" cy="9525"/>
          </a:xfrm>
          <a:prstGeom prst="rect">
            <a:avLst/>
          </a:prstGeom>
          <a:solidFill>
            <a:srgbClr val="8050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7EB343-365E-4E3C-94EA-03C52CB39DF6}"/>
              </a:ext>
            </a:extLst>
          </p:cNvPr>
          <p:cNvSpPr>
            <a:spLocks noGrp="1"/>
          </p:cNvSpPr>
          <p:nvPr/>
        </p:nvSpPr>
        <p:spPr>
          <a:xfrm>
            <a:off x="6172200" y="4210050"/>
            <a:ext cx="4762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unpdf • mammoth • pgvector RAG</a:t>
            </a:r>
          </a:p>
          <a:p>
            <a:pPr>
              <a:defRPr sz="112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Vitest • ESLint • tsx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21798A-8FC5-4244-A5A1-5199D2818AAE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972800" cy="19050"/>
          </a:xfrm>
          <a:prstGeom prst="rect">
            <a:avLst/>
          </a:prstGeom>
          <a:solidFill>
            <a:srgbClr val="80506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E2B12C-B38D-480D-80B2-4277DEF9D1BE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 i="0">
                <a:solidFill>
                  <a:srgbClr val="E45C5C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E45C5C"/>
                </a:solidFill>
                <a:latin typeface="Georgia"/>
                <a:ea typeface="Georgia"/>
                <a:cs typeface="Georgia"/>
              </a:rPr>
              <a:t>Evidence first.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4020C4-FBFF-4900-992F-77A131DDD8C6}"/>
              </a:ext>
            </a:extLst>
          </p:cNvPr>
          <p:cNvSpPr>
            <a:spLocks noGrp="1"/>
          </p:cNvSpPr>
          <p:nvPr/>
        </p:nvSpPr>
        <p:spPr>
          <a:xfrm>
            <a:off x="3714750" y="5581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Humans decide.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077914-E558-40BC-B6D0-042BF6F249A2}"/>
              </a:ext>
            </a:extLst>
          </p:cNvPr>
          <p:cNvSpPr>
            <a:spLocks noGrp="1"/>
          </p:cNvSpPr>
          <p:nvPr/>
        </p:nvSpPr>
        <p:spPr>
          <a:xfrm>
            <a:off x="6819900" y="55816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 i="0">
                <a:solidFill>
                  <a:srgbClr val="6E9B83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6E9B83"/>
                </a:solidFill>
                <a:latin typeface="Georgia"/>
                <a:ea typeface="Georgia"/>
                <a:cs typeface="Georgia"/>
              </a:rPr>
              <a:t>Every override makes the system smarter.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DD593D-4CCC-47E0-9901-D18EE05BF84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F2D9D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2D9D3"/>
                </a:solidFill>
                <a:latin typeface="Aptos"/>
                <a:ea typeface="Aptos"/>
                <a:cs typeface="Aptos"/>
              </a:rPr>
              <a:t>HIRELENS  /  v0.1.0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74F057-4201-499F-B179-96C8EF153EC3}"/>
              </a:ext>
            </a:extLst>
          </p:cNvPr>
          <p:cNvSpPr>
            <a:spLocks noGrp="1"/>
          </p:cNvSpPr>
          <p:nvPr/>
        </p:nvSpPr>
        <p:spPr>
          <a:xfrm>
            <a:off x="1120140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 i="0">
                <a:solidFill>
                  <a:srgbClr val="F2D9D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2D9D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7342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1209</Words>
  <Application>Microsoft Office PowerPoint</Application>
  <PresentationFormat>Widescreen</PresentationFormat>
  <Paragraphs>321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Rajat Srivastava</dc:creator>
  <cp:lastModifiedBy>Rajat Srivastava</cp:lastModifiedBy>
  <cp:revision>2</cp:revision>
  <dcterms:created xsi:type="dcterms:W3CDTF">2026-09-10T16:57:03Z</dcterms:created>
  <dcterms:modified xsi:type="dcterms:W3CDTF">2026-09-10T17:01:59Z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caace6-0147-4eb4-9424-999efb4dea48_Enabled">
    <vt:lpwstr>true</vt:lpwstr>
  </property>
  <property fmtid="{D5CDD505-2E9C-101B-9397-08002B2CF9AE}" pid="3" name="MSIP_Label_c9caace6-0147-4eb4-9424-999efb4dea48_SetDate">
    <vt:lpwstr>2026-09-10T17:00:18Z</vt:lpwstr>
  </property>
  <property fmtid="{D5CDD505-2E9C-101B-9397-08002B2CF9AE}" pid="4" name="MSIP_Label_c9caace6-0147-4eb4-9424-999efb4dea48_Method">
    <vt:lpwstr>Standard</vt:lpwstr>
  </property>
  <property fmtid="{D5CDD505-2E9C-101B-9397-08002B2CF9AE}" pid="5" name="MSIP_Label_c9caace6-0147-4eb4-9424-999efb4dea48_Name">
    <vt:lpwstr>defa4170-0d19-0005-0004-bc88714345d2</vt:lpwstr>
  </property>
  <property fmtid="{D5CDD505-2E9C-101B-9397-08002B2CF9AE}" pid="6" name="MSIP_Label_c9caace6-0147-4eb4-9424-999efb4dea48_SiteId">
    <vt:lpwstr>c1edc258-9f36-468d-a860-685701f0c76b</vt:lpwstr>
  </property>
  <property fmtid="{D5CDD505-2E9C-101B-9397-08002B2CF9AE}" pid="7" name="MSIP_Label_c9caace6-0147-4eb4-9424-999efb4dea48_ActionId">
    <vt:lpwstr>81afc96a-9e81-46f7-bfd2-706a95706c30</vt:lpwstr>
  </property>
  <property fmtid="{D5CDD505-2E9C-101B-9397-08002B2CF9AE}" pid="8" name="MSIP_Label_c9caace6-0147-4eb4-9424-999efb4dea48_ContentBits">
    <vt:lpwstr>0</vt:lpwstr>
  </property>
  <property fmtid="{D5CDD505-2E9C-101B-9397-08002B2CF9AE}" pid="9" name="MSIP_Label_c9caace6-0147-4eb4-9424-999efb4dea48_Tag">
    <vt:lpwstr>10, 3, 0, 1</vt:lpwstr>
  </property>
</Properties>
</file>