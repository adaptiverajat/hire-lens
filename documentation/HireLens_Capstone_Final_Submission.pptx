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1356" r:id="rId2"/>
    <p:sldId id="2147481709" r:id="rId3"/>
    <p:sldId id="1353" r:id="rId4"/>
    <p:sldId id="1357" r:id="rId5"/>
    <p:sldId id="2147481710" r:id="rId6"/>
    <p:sldId id="1360" r:id="rId7"/>
    <p:sldId id="1366" r:id="rId8"/>
    <p:sldId id="1361" r:id="rId9"/>
    <p:sldId id="1362" r:id="rId10"/>
    <p:sldId id="2147481711" r:id="rId11"/>
    <p:sldId id="1351" r:id="rId12"/>
    <p:sldId id="1364" r:id="rId13"/>
    <p:sldId id="1354" r:id="rId14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Roboto Slab" panose="020F0502020204030204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2F2F2"/>
    <a:srgbClr val="F7F7F7"/>
    <a:srgbClr val="001E3F"/>
    <a:srgbClr val="E1F3FD"/>
    <a:srgbClr val="09131D"/>
    <a:srgbClr val="587B87"/>
    <a:srgbClr val="001F3F"/>
    <a:srgbClr val="1C3381"/>
    <a:srgbClr val="03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4DF3A-0132-4104-943D-4F8CBB4A4F3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4C9CC-6D65-4AB1-BDA1-8BD6DEF20C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98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2543-1419-FAE6-553A-B7CCFCE6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44E55-EF3B-CB2B-FE27-6C790AE52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7E1F7-DCDC-C15D-1658-90A128FEA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3612D-353E-9665-DDA4-D6DB0DAFD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118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A6D0-4763-860E-2522-01CED637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9EFD3-DE9E-0C63-EA9D-B835C457B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AE492-BFDD-FAD1-F3AF-8D25B37D3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5A8B3-77AD-BF5E-CACB-AB06E7CFD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55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1897-8BC6-4790-9AEE-8382E829BD46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F12-AD74-495A-AFB9-86B59AC835B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2307FC0-F10C-86FA-9D72-038E1DB17224}"/>
              </a:ext>
            </a:extLst>
          </p:cNvPr>
          <p:cNvSpPr txBox="1">
            <a:spLocks/>
          </p:cNvSpPr>
          <p:nvPr userDrawn="1"/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F1C0F12-AD74-495A-AFB9-86B59AC835BD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C3E8C-8597-E652-4D30-900E859D8D25}"/>
              </a:ext>
            </a:extLst>
          </p:cNvPr>
          <p:cNvSpPr txBox="1"/>
          <p:nvPr userDrawn="1"/>
        </p:nvSpPr>
        <p:spPr>
          <a:xfrm>
            <a:off x="279400" y="6282262"/>
            <a:ext cx="2996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Certification Program in</a:t>
            </a:r>
          </a:p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Advanced Functional Leadership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1653B-F6C0-A8CD-24C2-EC14A4E2BB28}"/>
              </a:ext>
            </a:extLst>
          </p:cNvPr>
          <p:cNvSpPr txBox="1"/>
          <p:nvPr userDrawn="1"/>
        </p:nvSpPr>
        <p:spPr>
          <a:xfrm>
            <a:off x="8040501" y="6376827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200" dirty="0">
                <a:latin typeface="Roboto Slab" pitchFamily="2" charset="0"/>
                <a:ea typeface="Roboto Slab" pitchFamily="2" charset="0"/>
              </a:rPr>
              <a:t>REVA Academy for Corporate Excellence – RACE</a:t>
            </a:r>
          </a:p>
          <a:p>
            <a:pPr algn="r"/>
            <a:r>
              <a:rPr lang="en-IN" sz="1200" b="0" dirty="0">
                <a:latin typeface="Roboto Slab" pitchFamily="2" charset="0"/>
                <a:ea typeface="Roboto Slab" pitchFamily="2" charset="0"/>
              </a:rPr>
              <a:t>race.reva.edu.in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BB8DF0-BB8D-5C58-6B94-CFFC5A98E4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669523" y="119888"/>
            <a:ext cx="2173227" cy="616713"/>
          </a:xfrm>
          <a:prstGeom prst="rect">
            <a:avLst/>
          </a:prstGeom>
        </p:spPr>
      </p:pic>
      <p:pic>
        <p:nvPicPr>
          <p:cNvPr id="13" name="Picture 12" descr="A picture containing font, graphics, text, graphic design&#10;&#10;Description automatically generated">
            <a:extLst>
              <a:ext uri="{FF2B5EF4-FFF2-40B4-BE49-F238E27FC236}">
                <a16:creationId xmlns:a16="http://schemas.microsoft.com/office/drawing/2014/main" id="{2EC7FBA7-0748-E833-DF29-71DB0E6BF0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41" y="223828"/>
            <a:ext cx="1759386" cy="56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9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51" y="144993"/>
            <a:ext cx="6832600" cy="591608"/>
          </a:xfrm>
        </p:spPr>
        <p:txBody>
          <a:bodyPr>
            <a:normAutofit/>
          </a:bodyPr>
          <a:lstStyle>
            <a:lvl1pPr algn="l">
              <a:defRPr sz="28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2F1C0F12-AD74-495A-AFB9-86B59AC835BD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2683" y="8466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757990" y="144993"/>
            <a:ext cx="2084760" cy="591608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302683" y="62822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279400" y="6282262"/>
            <a:ext cx="271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Certified Agentic AI Engineer 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8040501" y="6376827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200" dirty="0">
                <a:latin typeface="Roboto Slab" pitchFamily="2" charset="0"/>
                <a:ea typeface="Roboto Slab" pitchFamily="2" charset="0"/>
              </a:rPr>
              <a:t>REVA Academy for Corporate Excellence – RACE</a:t>
            </a:r>
          </a:p>
          <a:p>
            <a:pPr algn="r"/>
            <a:r>
              <a:rPr lang="en-IN" sz="1200" b="0" dirty="0">
                <a:latin typeface="Roboto Slab" pitchFamily="2" charset="0"/>
                <a:ea typeface="Roboto Slab" pitchFamily="2" charset="0"/>
              </a:rPr>
              <a:t>race.reva.edu.in</a:t>
            </a:r>
          </a:p>
        </p:txBody>
      </p:sp>
    </p:spTree>
    <p:extLst>
      <p:ext uri="{BB962C8B-B14F-4D97-AF65-F5344CB8AC3E}">
        <p14:creationId xmlns:p14="http://schemas.microsoft.com/office/powerpoint/2010/main" val="116382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51" y="144993"/>
            <a:ext cx="6832600" cy="591608"/>
          </a:xfrm>
        </p:spPr>
        <p:txBody>
          <a:bodyPr>
            <a:normAutofit/>
          </a:bodyPr>
          <a:lstStyle>
            <a:lvl1pPr algn="l">
              <a:defRPr sz="2800"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2683" y="8466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669523" y="119888"/>
            <a:ext cx="2173227" cy="61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1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1502EE3-F572-5C2F-B6C0-6F76261D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2F1C0F12-AD74-495A-AFB9-86B59AC835BD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1F1AB0-A609-54D4-51FF-4630A649AB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45"/>
          <a:stretch/>
        </p:blipFill>
        <p:spPr>
          <a:xfrm>
            <a:off x="9669523" y="119888"/>
            <a:ext cx="2173227" cy="61671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DB3CE-27D1-840A-A889-BF695BF5E866}"/>
              </a:ext>
            </a:extLst>
          </p:cNvPr>
          <p:cNvCxnSpPr/>
          <p:nvPr userDrawn="1"/>
        </p:nvCxnSpPr>
        <p:spPr>
          <a:xfrm>
            <a:off x="302683" y="6282262"/>
            <a:ext cx="11540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86B7E8-E055-0A24-5BA4-C2EDCDC4EF18}"/>
              </a:ext>
            </a:extLst>
          </p:cNvPr>
          <p:cNvSpPr txBox="1"/>
          <p:nvPr userDrawn="1"/>
        </p:nvSpPr>
        <p:spPr>
          <a:xfrm>
            <a:off x="279400" y="6282262"/>
            <a:ext cx="22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aseline="0" dirty="0">
                <a:latin typeface="Roboto Slab" pitchFamily="2" charset="0"/>
                <a:ea typeface="Roboto Slab" pitchFamily="2" charset="0"/>
              </a:rPr>
              <a:t>Certification Program in</a:t>
            </a:r>
          </a:p>
          <a:p>
            <a:r>
              <a:rPr lang="en-IN" sz="1400" b="1" baseline="0" dirty="0">
                <a:latin typeface="Roboto Slab" pitchFamily="2" charset="0"/>
                <a:ea typeface="Roboto Slab" pitchFamily="2" charset="0"/>
              </a:rPr>
              <a:t>Automotive Security</a:t>
            </a:r>
            <a:endParaRPr lang="en-IN" sz="1400" b="1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3ED3A-3383-8FEA-96AB-BF912B2CAECD}"/>
              </a:ext>
            </a:extLst>
          </p:cNvPr>
          <p:cNvSpPr txBox="1"/>
          <p:nvPr userDrawn="1"/>
        </p:nvSpPr>
        <p:spPr>
          <a:xfrm>
            <a:off x="8040501" y="6376827"/>
            <a:ext cx="3740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1200" dirty="0">
                <a:latin typeface="Roboto Slab" pitchFamily="2" charset="0"/>
                <a:ea typeface="Roboto Slab" pitchFamily="2" charset="0"/>
              </a:rPr>
              <a:t>REVA Academy for Corporate Excellence – RACE</a:t>
            </a:r>
          </a:p>
          <a:p>
            <a:pPr algn="r"/>
            <a:r>
              <a:rPr lang="en-IN" sz="1200" b="0" dirty="0">
                <a:latin typeface="Roboto Slab" pitchFamily="2" charset="0"/>
                <a:ea typeface="Roboto Slab" pitchFamily="2" charset="0"/>
              </a:rPr>
              <a:t>race.reva.edu.in</a:t>
            </a:r>
          </a:p>
        </p:txBody>
      </p:sp>
    </p:spTree>
    <p:extLst>
      <p:ext uri="{BB962C8B-B14F-4D97-AF65-F5344CB8AC3E}">
        <p14:creationId xmlns:p14="http://schemas.microsoft.com/office/powerpoint/2010/main" val="185523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1897-8BC6-4790-9AEE-8382E829BD46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F12-AD74-495A-AFB9-86B59AC835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9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3B89-574A-4E89-8D95-CCB59FD8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D1C1-2B7A-4448-B8C8-2161D08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7063-5C70-4D1C-A689-CC131E8E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5C567-AFCF-4E1C-AA0E-C8D9AC99B565}" type="datetime1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B255-3921-4D98-91CB-1A22DD6C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528E2-88B2-4194-BA4E-A737B205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62B7-ECC3-4438-AA2E-388FD51692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47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2619375" y="6324600"/>
            <a:ext cx="855035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Certification Program in</a:t>
            </a:r>
          </a:p>
          <a:p>
            <a:r>
              <a:rPr lang="en-IN" sz="1400" dirty="0"/>
              <a:t>Advanced Functional Leadership</a:t>
            </a:r>
          </a:p>
        </p:txBody>
      </p:sp>
    </p:spTree>
    <p:extLst>
      <p:ext uri="{BB962C8B-B14F-4D97-AF65-F5344CB8AC3E}">
        <p14:creationId xmlns:p14="http://schemas.microsoft.com/office/powerpoint/2010/main" val="226546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91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964650B-7C7F-A784-5C0A-0A3515F4D695}"/>
              </a:ext>
            </a:extLst>
          </p:cNvPr>
          <p:cNvSpPr/>
          <p:nvPr userDrawn="1"/>
        </p:nvSpPr>
        <p:spPr>
          <a:xfrm>
            <a:off x="0" y="3243"/>
            <a:ext cx="12192000" cy="685475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16" name="Graphic 5">
            <a:extLst>
              <a:ext uri="{FF2B5EF4-FFF2-40B4-BE49-F238E27FC236}">
                <a16:creationId xmlns:a16="http://schemas.microsoft.com/office/drawing/2014/main" id="{4F80ECA3-8A2B-866A-2C72-4653F1744D9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84C3FA07-AB54-073F-958B-870DD1CF1EDE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86E09DB7-DF82-C097-F1DE-B07406AE6BE9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E50E4B6-7C29-899E-628D-17FBB1EE6BE5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1380CE73-17AD-FBFA-C9CA-1870C6B50067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6715489-2749-D233-0A4A-656E7616272E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B04A2BEC-9B95-FA98-1E6C-14E2E5EC0CD0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47CA1A66-FF0E-5A11-39A3-C4BE3A94901C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C386C23F-6C7E-DE5A-8A49-C2636517DD0D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1EDDF98-6CE2-B7EE-1AE4-8D87B61E2FBE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A3238E5-56F4-228B-1CBE-9FD4E73C277F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55CE8A00-355A-67C4-1493-4AADCFC6047A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BDFD0494-E075-D533-98D1-97CE2D15339C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127CBD6-64D6-F353-709F-AD420CB9D5C0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1958A404-9CA4-90A4-0280-7EAF09D1DDA2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9FA96F0B-A778-8637-AB1D-572E17B4F27A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4ECA819B-014B-F174-29D5-A1465CF12B4B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7774E789-5C48-F28B-74E8-E5D793D4E8B5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771FA805-120C-E059-8D3E-32903152E5FE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BE9A1ED8-FCDF-B6A5-D7CB-12BD7FD34844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C71E3563-7FBD-DC49-AE56-C5980DA5243B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020D826A-4422-0F5B-CBF8-323FA8B8C8B1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3AE011BC-8B32-D375-9B1C-9741B1F43596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D9B776E-F1AB-C19E-A609-430745D42F13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F342F1D-1E10-4BD8-C9E3-FBB97666B705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E6ADFBA2-9947-042E-43B5-70083369E56F}"/>
              </a:ext>
            </a:extLst>
          </p:cNvPr>
          <p:cNvCxnSpPr>
            <a:cxnSpLocks/>
          </p:cNvCxnSpPr>
          <p:nvPr userDrawn="1"/>
        </p:nvCxnSpPr>
        <p:spPr>
          <a:xfrm>
            <a:off x="685674" y="6096000"/>
            <a:ext cx="10820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7838A179-DC0B-7065-7116-90EF13C87A7D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race.reva.edu.in					              REVA Academy for Corporate Excellence - RACE</a:t>
            </a:r>
          </a:p>
        </p:txBody>
      </p:sp>
      <p:pic>
        <p:nvPicPr>
          <p:cNvPr id="316" name="Picture 315">
            <a:extLst>
              <a:ext uri="{FF2B5EF4-FFF2-40B4-BE49-F238E27FC236}">
                <a16:creationId xmlns:a16="http://schemas.microsoft.com/office/drawing/2014/main" id="{C1966E90-C818-111B-3414-0FE8640A4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59" y="1612100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9824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11897-8BC6-4790-9AEE-8382E829BD46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C0F12-AD74-495A-AFB9-86B59AC835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79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2" r:id="rId3"/>
    <p:sldLayoutId id="2147483660" r:id="rId4"/>
    <p:sldLayoutId id="2147483655" r:id="rId5"/>
    <p:sldLayoutId id="2147483664" r:id="rId6"/>
    <p:sldLayoutId id="2147483667" r:id="rId7"/>
    <p:sldLayoutId id="2147483679" r:id="rId8"/>
    <p:sldLayoutId id="214748368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person wearing a robot garment&#10;&#10;AI-generated content may be incorrect.">
            <a:extLst>
              <a:ext uri="{FF2B5EF4-FFF2-40B4-BE49-F238E27FC236}">
                <a16:creationId xmlns:a16="http://schemas.microsoft.com/office/drawing/2014/main" id="{605B2AC3-2CD2-7CF4-16D3-306F717EC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1C2EC02F-A87D-09AD-5102-2CBEBFC1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900" y="180814"/>
            <a:ext cx="2272818" cy="6328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0681C3-3CCB-737E-E9DF-A7A443AB04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57700"/>
          <a:stretch/>
        </p:blipFill>
        <p:spPr>
          <a:xfrm>
            <a:off x="278845" y="180814"/>
            <a:ext cx="3974177" cy="6328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F23C65-5676-5EFE-D556-9B824C87BFE5}"/>
              </a:ext>
            </a:extLst>
          </p:cNvPr>
          <p:cNvSpPr txBox="1"/>
          <p:nvPr/>
        </p:nvSpPr>
        <p:spPr>
          <a:xfrm>
            <a:off x="278845" y="1215517"/>
            <a:ext cx="7974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CERTIFIED </a:t>
            </a:r>
            <a:br>
              <a:rPr lang="en-IN" sz="14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en-IN" sz="3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AGENTIC AI </a:t>
            </a:r>
          </a:p>
          <a:p>
            <a:r>
              <a:rPr lang="en-IN" sz="3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ENGINEER </a:t>
            </a:r>
            <a:endParaRPr lang="en-IN" sz="3200" b="1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4DF191-A11A-DF18-CA76-A22F3A172F57}"/>
              </a:ext>
            </a:extLst>
          </p:cNvPr>
          <p:cNvCxnSpPr>
            <a:cxnSpLocks/>
          </p:cNvCxnSpPr>
          <p:nvPr/>
        </p:nvCxnSpPr>
        <p:spPr>
          <a:xfrm>
            <a:off x="303031" y="6172200"/>
            <a:ext cx="11585939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>
            <a:extLst>
              <a:ext uri="{FF2B5EF4-FFF2-40B4-BE49-F238E27FC236}">
                <a16:creationId xmlns:a16="http://schemas.microsoft.com/office/drawing/2014/main" id="{6CBE465E-C765-69CA-C6C4-D279EDE3A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6459" y="6322627"/>
            <a:ext cx="2207869" cy="404776"/>
          </a:xfrm>
          <a:prstGeom prst="rect">
            <a:avLst/>
          </a:prstGeom>
        </p:spPr>
      </p:pic>
      <p:sp>
        <p:nvSpPr>
          <p:cNvPr id="2" name="Text 28">
            <a:extLst>
              <a:ext uri="{FF2B5EF4-FFF2-40B4-BE49-F238E27FC236}">
                <a16:creationId xmlns:a16="http://schemas.microsoft.com/office/drawing/2014/main" id="{5B983309-FBA5-DC02-C07A-A5200410E412}"/>
              </a:ext>
            </a:extLst>
          </p:cNvPr>
          <p:cNvSpPr/>
          <p:nvPr/>
        </p:nvSpPr>
        <p:spPr>
          <a:xfrm>
            <a:off x="303031" y="37058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Project Title:  HireLens — Agentic Recruitment Intelligence</a:t>
            </a:r>
          </a:p>
        </p:txBody>
      </p:sp>
      <p:sp>
        <p:nvSpPr>
          <p:cNvPr id="3" name="Text 29">
            <a:extLst>
              <a:ext uri="{FF2B5EF4-FFF2-40B4-BE49-F238E27FC236}">
                <a16:creationId xmlns:a16="http://schemas.microsoft.com/office/drawing/2014/main" id="{5BCFD9F4-21FD-C568-A81E-0ADC75D98FB5}"/>
              </a:ext>
            </a:extLst>
          </p:cNvPr>
          <p:cNvSpPr/>
          <p:nvPr/>
        </p:nvSpPr>
        <p:spPr>
          <a:xfrm>
            <a:off x="303031" y="4257345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Participant(s): Rajat Srivastava, Sireesha Dandamudi</a:t>
            </a:r>
          </a:p>
        </p:txBody>
      </p:sp>
      <p:sp>
        <p:nvSpPr>
          <p:cNvPr id="4" name="Text 30">
            <a:extLst>
              <a:ext uri="{FF2B5EF4-FFF2-40B4-BE49-F238E27FC236}">
                <a16:creationId xmlns:a16="http://schemas.microsoft.com/office/drawing/2014/main" id="{8202E58D-AA8E-5601-F15F-EA55F2F62D2D}"/>
              </a:ext>
            </a:extLst>
          </p:cNvPr>
          <p:cNvSpPr/>
          <p:nvPr/>
        </p:nvSpPr>
        <p:spPr>
          <a:xfrm>
            <a:off x="303031" y="471165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Organisation: Zillion Technologies Pvt. Ltd.</a:t>
            </a: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2EB4E5FD-432E-F130-D397-B60E3AD2B152}"/>
              </a:ext>
            </a:extLst>
          </p:cNvPr>
          <p:cNvSpPr/>
          <p:nvPr/>
        </p:nvSpPr>
        <p:spPr>
          <a:xfrm>
            <a:off x="303031" y="57178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Submission Date:  26</a:t>
            </a:r>
            <a:r>
              <a:rPr lang="en-US" sz="1200" b="1" baseline="30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th</a:t>
            </a:r>
            <a:r>
              <a:rPr lang="en-US" sz="1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September 2026</a:t>
            </a:r>
            <a:endParaRPr lang="en-US" sz="1200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9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14D6-096F-54F2-7EC7-A30E4C67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460BA2-7FE1-7715-B9F3-965B02E01A9F}"/>
              </a:ext>
            </a:extLst>
          </p:cNvPr>
          <p:cNvSpPr/>
          <p:nvPr/>
        </p:nvSpPr>
        <p:spPr>
          <a:xfrm>
            <a:off x="0" y="0"/>
            <a:ext cx="12192000" cy="685475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4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grpSp>
        <p:nvGrpSpPr>
          <p:cNvPr id="3" name="Graphic 5">
            <a:extLst>
              <a:ext uri="{FF2B5EF4-FFF2-40B4-BE49-F238E27FC236}">
                <a16:creationId xmlns:a16="http://schemas.microsoft.com/office/drawing/2014/main" id="{1ED99AA7-5F23-6533-79A4-951D3786123D}"/>
              </a:ext>
            </a:extLst>
          </p:cNvPr>
          <p:cNvGrpSpPr>
            <a:grpSpLocks noChangeAspect="1"/>
          </p:cNvGrpSpPr>
          <p:nvPr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4" name="Freeform: Shape 264">
              <a:extLst>
                <a:ext uri="{FF2B5EF4-FFF2-40B4-BE49-F238E27FC236}">
                  <a16:creationId xmlns:a16="http://schemas.microsoft.com/office/drawing/2014/main" id="{97460602-8789-09DF-A0FF-27B51333D611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5" name="Freeform: Shape 265">
              <a:extLst>
                <a:ext uri="{FF2B5EF4-FFF2-40B4-BE49-F238E27FC236}">
                  <a16:creationId xmlns:a16="http://schemas.microsoft.com/office/drawing/2014/main" id="{AD1C74AB-6F7D-F453-7EE7-1A3843809192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6" name="Freeform: Shape 266">
              <a:extLst>
                <a:ext uri="{FF2B5EF4-FFF2-40B4-BE49-F238E27FC236}">
                  <a16:creationId xmlns:a16="http://schemas.microsoft.com/office/drawing/2014/main" id="{5D70B9BA-674B-1F02-DFE3-4C1B81DB4219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7" name="Freeform: Shape 267">
              <a:extLst>
                <a:ext uri="{FF2B5EF4-FFF2-40B4-BE49-F238E27FC236}">
                  <a16:creationId xmlns:a16="http://schemas.microsoft.com/office/drawing/2014/main" id="{5842F193-3BF8-334E-108A-75ED960F9B2E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8" name="Freeform: Shape 268">
              <a:extLst>
                <a:ext uri="{FF2B5EF4-FFF2-40B4-BE49-F238E27FC236}">
                  <a16:creationId xmlns:a16="http://schemas.microsoft.com/office/drawing/2014/main" id="{532E13EE-3BB4-711A-AE06-0EAE12ACC947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9" name="Freeform: Shape 269">
              <a:extLst>
                <a:ext uri="{FF2B5EF4-FFF2-40B4-BE49-F238E27FC236}">
                  <a16:creationId xmlns:a16="http://schemas.microsoft.com/office/drawing/2014/main" id="{03D5B9DC-53F4-FEBE-6654-0DDF8EA235F2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0" name="Freeform: Shape 270">
              <a:extLst>
                <a:ext uri="{FF2B5EF4-FFF2-40B4-BE49-F238E27FC236}">
                  <a16:creationId xmlns:a16="http://schemas.microsoft.com/office/drawing/2014/main" id="{094FFB9C-F759-1F77-581F-8869BC641EF0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1" name="Freeform: Shape 271">
              <a:extLst>
                <a:ext uri="{FF2B5EF4-FFF2-40B4-BE49-F238E27FC236}">
                  <a16:creationId xmlns:a16="http://schemas.microsoft.com/office/drawing/2014/main" id="{567676CD-AFBB-8813-D582-BA93C6E5130F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2" name="Freeform: Shape 272">
              <a:extLst>
                <a:ext uri="{FF2B5EF4-FFF2-40B4-BE49-F238E27FC236}">
                  <a16:creationId xmlns:a16="http://schemas.microsoft.com/office/drawing/2014/main" id="{4C7F3F9A-630F-5DEC-5A58-E0EB8DEFC5A6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3" name="Freeform: Shape 273">
              <a:extLst>
                <a:ext uri="{FF2B5EF4-FFF2-40B4-BE49-F238E27FC236}">
                  <a16:creationId xmlns:a16="http://schemas.microsoft.com/office/drawing/2014/main" id="{B5013C26-A1B7-58AA-B5A8-FCF8AD90A928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4" name="Freeform: Shape 274">
              <a:extLst>
                <a:ext uri="{FF2B5EF4-FFF2-40B4-BE49-F238E27FC236}">
                  <a16:creationId xmlns:a16="http://schemas.microsoft.com/office/drawing/2014/main" id="{30669243-1685-6B7D-D2AE-EED44A8B42E3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5" name="Freeform: Shape 275">
              <a:extLst>
                <a:ext uri="{FF2B5EF4-FFF2-40B4-BE49-F238E27FC236}">
                  <a16:creationId xmlns:a16="http://schemas.microsoft.com/office/drawing/2014/main" id="{6A1F4136-785A-9CF0-D7A5-E2605F5B48EB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6" name="Freeform: Shape 276">
              <a:extLst>
                <a:ext uri="{FF2B5EF4-FFF2-40B4-BE49-F238E27FC236}">
                  <a16:creationId xmlns:a16="http://schemas.microsoft.com/office/drawing/2014/main" id="{DC4B42D5-D7EB-5AFE-0F9E-DA9ED35FF907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7" name="Freeform: Shape 277">
              <a:extLst>
                <a:ext uri="{FF2B5EF4-FFF2-40B4-BE49-F238E27FC236}">
                  <a16:creationId xmlns:a16="http://schemas.microsoft.com/office/drawing/2014/main" id="{6FDCE278-1A6D-604D-FF9D-65246DE8E3D8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8" name="Freeform: Shape 278">
              <a:extLst>
                <a:ext uri="{FF2B5EF4-FFF2-40B4-BE49-F238E27FC236}">
                  <a16:creationId xmlns:a16="http://schemas.microsoft.com/office/drawing/2014/main" id="{6695CF50-D386-74F9-77E1-2B4307C712C9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19" name="Freeform: Shape 279">
              <a:extLst>
                <a:ext uri="{FF2B5EF4-FFF2-40B4-BE49-F238E27FC236}">
                  <a16:creationId xmlns:a16="http://schemas.microsoft.com/office/drawing/2014/main" id="{6E2766EB-BCF1-8A16-CD1F-83FF0B366B11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0" name="Freeform: Shape 280">
              <a:extLst>
                <a:ext uri="{FF2B5EF4-FFF2-40B4-BE49-F238E27FC236}">
                  <a16:creationId xmlns:a16="http://schemas.microsoft.com/office/drawing/2014/main" id="{B334E831-01E4-B058-ABCD-7AAC652B177E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1" name="Freeform: Shape 281">
              <a:extLst>
                <a:ext uri="{FF2B5EF4-FFF2-40B4-BE49-F238E27FC236}">
                  <a16:creationId xmlns:a16="http://schemas.microsoft.com/office/drawing/2014/main" id="{B4D2AA47-3AD3-0F6E-E6FB-B2C1F1C99066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2" name="Freeform: Shape 282">
              <a:extLst>
                <a:ext uri="{FF2B5EF4-FFF2-40B4-BE49-F238E27FC236}">
                  <a16:creationId xmlns:a16="http://schemas.microsoft.com/office/drawing/2014/main" id="{774561B3-BC4B-C342-1A5D-2482F5A8B5A9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3" name="Freeform: Shape 283">
              <a:extLst>
                <a:ext uri="{FF2B5EF4-FFF2-40B4-BE49-F238E27FC236}">
                  <a16:creationId xmlns:a16="http://schemas.microsoft.com/office/drawing/2014/main" id="{F42D681B-B051-5301-54FC-D6A53035AA2E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4" name="Freeform: Shape 284">
              <a:extLst>
                <a:ext uri="{FF2B5EF4-FFF2-40B4-BE49-F238E27FC236}">
                  <a16:creationId xmlns:a16="http://schemas.microsoft.com/office/drawing/2014/main" id="{68CA0DCD-A2A2-51D6-6849-A0EBF50D087C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5" name="Freeform: Shape 285">
              <a:extLst>
                <a:ext uri="{FF2B5EF4-FFF2-40B4-BE49-F238E27FC236}">
                  <a16:creationId xmlns:a16="http://schemas.microsoft.com/office/drawing/2014/main" id="{18E8FD08-0EE4-D7B3-CE4C-F2F59A1F7AEF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6" name="Freeform: Shape 286">
              <a:extLst>
                <a:ext uri="{FF2B5EF4-FFF2-40B4-BE49-F238E27FC236}">
                  <a16:creationId xmlns:a16="http://schemas.microsoft.com/office/drawing/2014/main" id="{BD928640-09C8-43FA-3F53-5A903E0FCFC9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  <p:sp>
          <p:nvSpPr>
            <p:cNvPr id="27" name="Freeform: Shape 114">
              <a:extLst>
                <a:ext uri="{FF2B5EF4-FFF2-40B4-BE49-F238E27FC236}">
                  <a16:creationId xmlns:a16="http://schemas.microsoft.com/office/drawing/2014/main" id="{E86B0189-7EE1-9482-3BDD-261667780474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00">
                <a:latin typeface="Roboto Slab" pitchFamily="2" charset="0"/>
                <a:ea typeface="Roboto Slab" pitchFamily="2" charset="0"/>
                <a:cs typeface="Roboto Slab" pitchFamily="2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04A5968-6390-ED1C-60EE-9DACB166EFC4}"/>
              </a:ext>
            </a:extLst>
          </p:cNvPr>
          <p:cNvSpPr txBox="1"/>
          <p:nvPr/>
        </p:nvSpPr>
        <p:spPr>
          <a:xfrm>
            <a:off x="-76200" y="3377595"/>
            <a:ext cx="3138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Agenda</a:t>
            </a:r>
            <a:endParaRPr lang="id-ID" sz="3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4A1FAE-6B7C-C733-A9A5-E0B63DBEB262}"/>
              </a:ext>
            </a:extLst>
          </p:cNvPr>
          <p:cNvSpPr txBox="1"/>
          <p:nvPr/>
        </p:nvSpPr>
        <p:spPr>
          <a:xfrm>
            <a:off x="2967198" y="1663933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01. Problem, Context &amp; Personas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C2AF4-DBF8-3A7E-74C2-C7CF8A721C10}"/>
              </a:ext>
            </a:extLst>
          </p:cNvPr>
          <p:cNvSpPr txBox="1"/>
          <p:nvPr/>
        </p:nvSpPr>
        <p:spPr>
          <a:xfrm>
            <a:off x="2936649" y="2457503"/>
            <a:ext cx="4522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02. Current Process and Pain Points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772E6A-AAB1-6CB7-A9CF-2A7732F9A2A7}"/>
              </a:ext>
            </a:extLst>
          </p:cNvPr>
          <p:cNvSpPr txBox="1"/>
          <p:nvPr/>
        </p:nvSpPr>
        <p:spPr>
          <a:xfrm>
            <a:off x="2959089" y="3273354"/>
            <a:ext cx="4294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03. Project Objectives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310175-5D5F-6B63-AA7C-99D2B3181972}"/>
              </a:ext>
            </a:extLst>
          </p:cNvPr>
          <p:cNvSpPr txBox="1"/>
          <p:nvPr/>
        </p:nvSpPr>
        <p:spPr>
          <a:xfrm>
            <a:off x="7949089" y="1835928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07. Testing and Validation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D939F6-CF75-8A93-D582-AF6209F6C051}"/>
              </a:ext>
            </a:extLst>
          </p:cNvPr>
          <p:cNvSpPr txBox="1"/>
          <p:nvPr/>
        </p:nvSpPr>
        <p:spPr>
          <a:xfrm>
            <a:off x="2982741" y="4020869"/>
            <a:ext cx="4376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61950" algn="l"/>
              </a:tabLst>
              <a:defRPr sz="2000">
                <a:latin typeface="Roboto Slab" pitchFamily="2" charset="0"/>
                <a:ea typeface="Roboto Slab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600" dirty="0">
                <a:cs typeface="Roboto Slab" pitchFamily="2" charset="0"/>
              </a:rPr>
              <a:t>04. Agentic Workflow &amp; System Architecture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61AF1A6-5993-2743-DDC5-C1908944517E}"/>
              </a:ext>
            </a:extLst>
          </p:cNvPr>
          <p:cNvCxnSpPr>
            <a:cxnSpLocks/>
          </p:cNvCxnSpPr>
          <p:nvPr/>
        </p:nvCxnSpPr>
        <p:spPr>
          <a:xfrm flipV="1">
            <a:off x="2826078" y="1218465"/>
            <a:ext cx="0" cy="50877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EE25F3-9D8A-B268-9999-4DD2E0F18A9E}"/>
              </a:ext>
            </a:extLst>
          </p:cNvPr>
          <p:cNvSpPr txBox="1"/>
          <p:nvPr/>
        </p:nvSpPr>
        <p:spPr>
          <a:xfrm>
            <a:off x="2967198" y="4836720"/>
            <a:ext cx="469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tabLst>
                <a:tab pos="361950" algn="l"/>
              </a:tabLst>
              <a:defRPr sz="2000">
                <a:latin typeface="Roboto Slab" pitchFamily="2" charset="0"/>
                <a:ea typeface="Roboto Slab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600" dirty="0">
                <a:cs typeface="Roboto Slab" pitchFamily="2" charset="0"/>
              </a:rPr>
              <a:t>05. Data, Tools &amp; Technology Stack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D72553-6555-EFA1-8C21-E2CE6047F767}"/>
              </a:ext>
            </a:extLst>
          </p:cNvPr>
          <p:cNvSpPr txBox="1"/>
          <p:nvPr/>
        </p:nvSpPr>
        <p:spPr>
          <a:xfrm>
            <a:off x="8028151" y="2524869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08. Analysis and Results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B6EFD5-C053-E949-4208-62A522FA5152}"/>
              </a:ext>
            </a:extLst>
          </p:cNvPr>
          <p:cNvSpPr txBox="1"/>
          <p:nvPr/>
        </p:nvSpPr>
        <p:spPr>
          <a:xfrm>
            <a:off x="8017641" y="3298641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09. Business Impact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6ADC3A-2528-5B24-FED1-5B379F21FCD9}"/>
              </a:ext>
            </a:extLst>
          </p:cNvPr>
          <p:cNvSpPr txBox="1"/>
          <p:nvPr/>
        </p:nvSpPr>
        <p:spPr>
          <a:xfrm>
            <a:off x="8052993" y="4104495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10. Conclusion and Future Scope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3CFF82-4827-AAE4-499F-B6B3A9B26D4E}"/>
              </a:ext>
            </a:extLst>
          </p:cNvPr>
          <p:cNvSpPr txBox="1"/>
          <p:nvPr/>
        </p:nvSpPr>
        <p:spPr>
          <a:xfrm>
            <a:off x="8122431" y="4804678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11. References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FB15AB-E8F8-B420-1167-F1BC4D013648}"/>
              </a:ext>
            </a:extLst>
          </p:cNvPr>
          <p:cNvSpPr txBox="1"/>
          <p:nvPr/>
        </p:nvSpPr>
        <p:spPr>
          <a:xfrm>
            <a:off x="2997745" y="5545022"/>
            <a:ext cx="4240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06. Implementation and Demo</a:t>
            </a:r>
          </a:p>
        </p:txBody>
      </p:sp>
    </p:spTree>
    <p:extLst>
      <p:ext uri="{BB962C8B-B14F-4D97-AF65-F5344CB8AC3E}">
        <p14:creationId xmlns:p14="http://schemas.microsoft.com/office/powerpoint/2010/main" val="309842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95" y="288212"/>
            <a:ext cx="6379901" cy="59160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  <a:latin typeface="+mj-lt"/>
                <a:ea typeface="+mn-ea"/>
                <a:cs typeface="+mn-cs"/>
              </a:rPr>
              <a:t>Problem Statement and Context</a:t>
            </a:r>
            <a:r>
              <a:rPr lang="en-IN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718307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4A4C55"/>
                </a:solidFill>
                <a:effectLst/>
                <a:latin typeface="+mj-lt"/>
              </a:rPr>
              <a:t>Who is affected | What is broken today | Why agentic AI, why now</a:t>
            </a:r>
            <a:endParaRPr lang="en-IN" sz="1600" dirty="0">
              <a:solidFill>
                <a:srgbClr val="4A4C55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 dirty="0">
                <a:solidFill>
                  <a:srgbClr val="4A4C55"/>
                </a:solidFill>
                <a:latin typeface="Roboto Slab"/>
              </a:rPr>
              <a:t>Personas &amp; stakeholders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333333"/>
                </a:solidFill>
              </a:rPr>
              <a:t>•  Recruiters / talent partners — screen every resume manually against loosely structured JDs.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333333"/>
                </a:solidFill>
              </a:rPr>
              <a:t>•  Hiring managers — receive inconsistent, unverifiable interview feedback.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333333"/>
                </a:solidFill>
              </a:rPr>
              <a:t>•  Reviewers — make final calls with no audit trail of how AI reached them.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333333"/>
                </a:solidFill>
              </a:rPr>
              <a:t>•  Candidates — personal data is often pasted wholesale into external AI tools.</a:t>
            </a:r>
          </a:p>
          <a:p>
            <a:pPr>
              <a:spcBef>
                <a:spcPts val="1000"/>
              </a:spcBef>
            </a:pPr>
            <a:r>
              <a:rPr sz="1500" b="1" dirty="0">
                <a:solidFill>
                  <a:srgbClr val="4A4C55"/>
                </a:solidFill>
                <a:latin typeface="Roboto Slab"/>
              </a:rPr>
              <a:t>Why this topic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333333"/>
                </a:solidFill>
              </a:rPr>
              <a:t>Hiring quality and compliance pressure demand evidence, consistency, and privacy — agentic AI can deliver all three while humans keep the final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Problem statement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Resume screening and interview evaluation are slow, subjective, and hard to audit. Keyword filters miss qualified candidates; generic AI tools produce ungrounded claims and leak candidate PII to model providers.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Pain points today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Manual JD and resume reading does not scale and varies by reviewer.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Keyword matching cannot weigh requirement importance or cite evidence.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Interview feedback is unstructured — quotes, signals, and flags are lost.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Existing AI features are black boxes: no provenance, no reviewability.</a:t>
            </a:r>
          </a:p>
        </p:txBody>
      </p:sp>
    </p:spTree>
    <p:extLst>
      <p:ext uri="{BB962C8B-B14F-4D97-AF65-F5344CB8AC3E}">
        <p14:creationId xmlns:p14="http://schemas.microsoft.com/office/powerpoint/2010/main" val="245399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524C-6C4B-DF82-13AE-7FF8BC3E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2AE03C4-A74B-68F6-DD50-D945BD90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Project Objectives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E5BF9-3EDE-6B6D-D095-18C6F6EE3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C67C7-4ACD-02A9-CCC4-BD32F1A6595C}"/>
              </a:ext>
            </a:extLst>
          </p:cNvPr>
          <p:cNvSpPr txBox="1"/>
          <p:nvPr/>
        </p:nvSpPr>
        <p:spPr>
          <a:xfrm>
            <a:off x="402336" y="1062452"/>
            <a:ext cx="8149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sz="1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3-4 execution objectives with action verbs on end outcomes.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41D41-9E11-EC8C-AE2A-C5FDD63DF150}"/>
              </a:ext>
            </a:extLst>
          </p:cNvPr>
          <p:cNvSpPr txBox="1"/>
          <p:nvPr/>
        </p:nvSpPr>
        <p:spPr>
          <a:xfrm>
            <a:off x="883227" y="1894259"/>
            <a:ext cx="10092634" cy="199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</a:rPr>
              <a:t>1.  Automate structured extraction of weighted job requirements and anonymised candidate profiles, filtering PII before any content reaches a model provider.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</a:rPr>
              <a:t>2.  Generate evidence-grounded match analyses and tailored interview plans using intent-driven Agentic RAG over a privacy-filtered case knowledge base.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</a:rPr>
              <a:t>3.  Evaluate interview transcripts with quote-grounded scoring and case-grounded red-flag detection, keeping a human reviewer in control of every outcome.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000000"/>
                </a:solidFill>
              </a:rPr>
              <a:t>4.  Reduce screening and evaluation effort per candidate while improving consistency, auditability, and reviewer trust in AI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05662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494C-8EF0-638B-8B11-712AE1CD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20AE0DE-5930-DDBB-F870-D11E6E7C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Current Vs Proposed Approach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EB9A1-53D3-78D3-774F-33E6B7128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3735E-37F0-FEA5-CA4B-DD5FAA48C6F1}"/>
              </a:ext>
            </a:extLst>
          </p:cNvPr>
          <p:cNvSpPr txBox="1"/>
          <p:nvPr/>
        </p:nvSpPr>
        <p:spPr>
          <a:xfrm>
            <a:off x="402336" y="1135189"/>
            <a:ext cx="794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The manual pipeline vs. the HireLens agentic workflow.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Current approach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Recruiter reads each JD and resume by hand.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Keyword search and gut feel decide shortlists.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Interviews produce free-text notes; no scoring rubric.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Flags and inconsistencies surface only if a human spots them.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No memory — every requisition starts from zero.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PII pasted into generic AI chat tools for summaries.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Proposed: HireLens agentic workflow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JD and Resume Agents extract weighted, structured profiles.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Evidence match score: deterministic coverage anchored, LLM-reasoned.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Transcript evaluation scores technical + communication with direct quotes.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Red Flag Agent only flags when a quote AND a retrieved case support it.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Reviewer decisions and verified gaps feed memory and RAG precedent.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Central PII filter strips identity before any model call or embedding.</a:t>
            </a:r>
          </a:p>
        </p:txBody>
      </p:sp>
    </p:spTree>
    <p:extLst>
      <p:ext uri="{BB962C8B-B14F-4D97-AF65-F5344CB8AC3E}">
        <p14:creationId xmlns:p14="http://schemas.microsoft.com/office/powerpoint/2010/main" val="21471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E3C2-945A-9F97-AA39-DC59BCDC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24FFAA-3E15-DFFC-9B95-17A46C0E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38474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System Architecture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3CA05-5D9A-78F0-75D4-BD15A4365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28857-945B-EAB1-D75E-75F95EFF6854}"/>
              </a:ext>
            </a:extLst>
          </p:cNvPr>
          <p:cNvSpPr txBox="1"/>
          <p:nvPr/>
        </p:nvSpPr>
        <p:spPr>
          <a:xfrm>
            <a:off x="402336" y="979325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End-to-end HireLens pipeline — one candidate evaluation lifecycle.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FDB77056-2B30-F39D-A290-9E46EF337E56}"/>
              </a:ext>
            </a:extLst>
          </p:cNvPr>
          <p:cNvSpPr/>
          <p:nvPr/>
        </p:nvSpPr>
        <p:spPr>
          <a:xfrm>
            <a:off x="1523308" y="1563487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HireLens — Candidate Analysis &amp; Transcript Review</a:t>
            </a:r>
            <a:endParaRPr lang="en-US" sz="13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7AF4E43E-E8C2-0308-518D-90D68DE7D570}"/>
              </a:ext>
            </a:extLst>
          </p:cNvPr>
          <p:cNvSpPr/>
          <p:nvPr/>
        </p:nvSpPr>
        <p:spPr>
          <a:xfrm>
            <a:off x="1980508" y="2020687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5FFC8E18-58E8-06B7-3A76-1AC43BFA2BE9}"/>
              </a:ext>
            </a:extLst>
          </p:cNvPr>
          <p:cNvSpPr/>
          <p:nvPr/>
        </p:nvSpPr>
        <p:spPr>
          <a:xfrm>
            <a:off x="1980508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84EBBDE5-A79B-C68A-0D9D-9DBCAFD7EFC5}"/>
              </a:ext>
            </a:extLst>
          </p:cNvPr>
          <p:cNvSpPr/>
          <p:nvPr/>
        </p:nvSpPr>
        <p:spPr>
          <a:xfrm>
            <a:off x="1587316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65A8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TRIGGER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5080B89D-DE58-AFDD-7461-879E81E99BE5}"/>
              </a:ext>
            </a:extLst>
          </p:cNvPr>
          <p:cNvSpPr/>
          <p:nvPr/>
        </p:nvSpPr>
        <p:spPr>
          <a:xfrm>
            <a:off x="1477588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5A973B0B-0D24-C5AC-AEEA-F701AB5FE26F}"/>
              </a:ext>
            </a:extLst>
          </p:cNvPr>
          <p:cNvSpPr/>
          <p:nvPr/>
        </p:nvSpPr>
        <p:spPr>
          <a:xfrm>
            <a:off x="1569028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Recruiter uploads a JD, resume, or interview transcript in the app.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53B9AF7-10AA-844E-E6E0-9106EC241E24}"/>
              </a:ext>
            </a:extLst>
          </p:cNvPr>
          <p:cNvSpPr/>
          <p:nvPr/>
        </p:nvSpPr>
        <p:spPr>
          <a:xfrm>
            <a:off x="3050356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A30D9A0A-53C9-0CB8-932A-73FA36E6A437}"/>
              </a:ext>
            </a:extLst>
          </p:cNvPr>
          <p:cNvSpPr/>
          <p:nvPr/>
        </p:nvSpPr>
        <p:spPr>
          <a:xfrm>
            <a:off x="3699580" y="2020687"/>
            <a:ext cx="512064" cy="512064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EEE95857-817B-E8AB-71EA-B9BD27EB0B63}"/>
              </a:ext>
            </a:extLst>
          </p:cNvPr>
          <p:cNvSpPr/>
          <p:nvPr/>
        </p:nvSpPr>
        <p:spPr>
          <a:xfrm>
            <a:off x="3699580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2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0D765FBC-764F-461C-A544-E660056C8FC8}"/>
              </a:ext>
            </a:extLst>
          </p:cNvPr>
          <p:cNvSpPr/>
          <p:nvPr/>
        </p:nvSpPr>
        <p:spPr>
          <a:xfrm>
            <a:off x="3306388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SENSE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690F238D-4478-7312-CAB2-E35E6B531262}"/>
              </a:ext>
            </a:extLst>
          </p:cNvPr>
          <p:cNvSpPr/>
          <p:nvPr/>
        </p:nvSpPr>
        <p:spPr>
          <a:xfrm>
            <a:off x="3196660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74FE83E-16F2-F47E-AF2D-FE6A5EB04343}"/>
              </a:ext>
            </a:extLst>
          </p:cNvPr>
          <p:cNvSpPr/>
          <p:nvPr/>
        </p:nvSpPr>
        <p:spPr>
          <a:xfrm>
            <a:off x="3288100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Structured extraction of requirements and anonymised profile; privacy-filtered embeddings and historical cases retrieved via pgvector.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8A7BFCF3-E59D-06C1-AE55-C3024A6E773E}"/>
              </a:ext>
            </a:extLst>
          </p:cNvPr>
          <p:cNvSpPr/>
          <p:nvPr/>
        </p:nvSpPr>
        <p:spPr>
          <a:xfrm>
            <a:off x="4769428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E5488C70-3282-B681-EC54-0F5852E88F05}"/>
              </a:ext>
            </a:extLst>
          </p:cNvPr>
          <p:cNvSpPr/>
          <p:nvPr/>
        </p:nvSpPr>
        <p:spPr>
          <a:xfrm>
            <a:off x="5418652" y="2020687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4D91659B-57EE-B603-5C6A-68D67E16F5A7}"/>
              </a:ext>
            </a:extLst>
          </p:cNvPr>
          <p:cNvSpPr/>
          <p:nvPr/>
        </p:nvSpPr>
        <p:spPr>
          <a:xfrm>
            <a:off x="5418652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3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E543CC4C-AA34-C81C-54A2-A6DA74F4DF01}"/>
              </a:ext>
            </a:extLst>
          </p:cNvPr>
          <p:cNvSpPr/>
          <p:nvPr/>
        </p:nvSpPr>
        <p:spPr>
          <a:xfrm>
            <a:off x="5025460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D7377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REASON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87D58017-4037-F80E-9650-B680DBD242B2}"/>
              </a:ext>
            </a:extLst>
          </p:cNvPr>
          <p:cNvSpPr/>
          <p:nvPr/>
        </p:nvSpPr>
        <p:spPr>
          <a:xfrm>
            <a:off x="4915732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4F449F00-96EE-ACB7-CCE6-7994BF311485}"/>
              </a:ext>
            </a:extLst>
          </p:cNvPr>
          <p:cNvSpPr/>
          <p:nvPr/>
        </p:nvSpPr>
        <p:spPr>
          <a:xfrm>
            <a:off x="5007172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Supervisor routes depth; Evidence Retrieval plans 2–4 semantic queries; Gap Analysis reconciles LLM judgment with a deterministic coverage anchor.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925DF610-3355-C205-3410-0ADBDC9DB136}"/>
              </a:ext>
            </a:extLst>
          </p:cNvPr>
          <p:cNvSpPr/>
          <p:nvPr/>
        </p:nvSpPr>
        <p:spPr>
          <a:xfrm>
            <a:off x="6488500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6A962A26-C1C5-1027-90F3-25D0E0785FF4}"/>
              </a:ext>
            </a:extLst>
          </p:cNvPr>
          <p:cNvSpPr/>
          <p:nvPr/>
        </p:nvSpPr>
        <p:spPr>
          <a:xfrm>
            <a:off x="7137724" y="2020687"/>
            <a:ext cx="512064" cy="51206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7E2C6FA3-1752-78FB-9967-645E5B8574AE}"/>
              </a:ext>
            </a:extLst>
          </p:cNvPr>
          <p:cNvSpPr/>
          <p:nvPr/>
        </p:nvSpPr>
        <p:spPr>
          <a:xfrm>
            <a:off x="7137724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4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4BF69B35-EEC5-BE64-C4DB-98C73891AC4C}"/>
              </a:ext>
            </a:extLst>
          </p:cNvPr>
          <p:cNvSpPr/>
          <p:nvPr/>
        </p:nvSpPr>
        <p:spPr>
          <a:xfrm>
            <a:off x="6744532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8620A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B45E5123-9152-01DA-D6BC-E1996D8AB8C1}"/>
              </a:ext>
            </a:extLst>
          </p:cNvPr>
          <p:cNvSpPr/>
          <p:nvPr/>
        </p:nvSpPr>
        <p:spPr>
          <a:xfrm>
            <a:off x="6634804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58668D9C-C397-C34B-EEAD-9D2DABD59FC8}"/>
              </a:ext>
            </a:extLst>
          </p:cNvPr>
          <p:cNvSpPr/>
          <p:nvPr/>
        </p:nvSpPr>
        <p:spPr>
          <a:xfrm>
            <a:off x="6726244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Persist match analysis, question sets, evaluations, red flags; index verified outcomes; assemble the reviewer decision packet.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DADB2254-71EB-562D-7D34-7DCF3595FE43}"/>
              </a:ext>
            </a:extLst>
          </p:cNvPr>
          <p:cNvSpPr/>
          <p:nvPr/>
        </p:nvSpPr>
        <p:spPr>
          <a:xfrm>
            <a:off x="8207572" y="2240143"/>
            <a:ext cx="146304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412DEFB3-E34C-F949-71F3-B5541FDAE1ED}"/>
              </a:ext>
            </a:extLst>
          </p:cNvPr>
          <p:cNvSpPr/>
          <p:nvPr/>
        </p:nvSpPr>
        <p:spPr>
          <a:xfrm>
            <a:off x="8856796" y="2020687"/>
            <a:ext cx="512064" cy="51206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B0AD1E88-DFC1-A658-8CCE-627411942A6A}"/>
              </a:ext>
            </a:extLst>
          </p:cNvPr>
          <p:cNvSpPr/>
          <p:nvPr/>
        </p:nvSpPr>
        <p:spPr>
          <a:xfrm>
            <a:off x="8856796" y="20206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5</a:t>
            </a:r>
            <a:endParaRPr lang="en-US" sz="16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47B87DB2-C3AF-E0AB-A660-BE4812EAB03E}"/>
              </a:ext>
            </a:extLst>
          </p:cNvPr>
          <p:cNvSpPr/>
          <p:nvPr/>
        </p:nvSpPr>
        <p:spPr>
          <a:xfrm>
            <a:off x="8463604" y="2587615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6D2E46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OBSERVE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6A761136-2A56-2147-E513-590B8E9D3743}"/>
              </a:ext>
            </a:extLst>
          </p:cNvPr>
          <p:cNvSpPr/>
          <p:nvPr/>
        </p:nvSpPr>
        <p:spPr>
          <a:xfrm>
            <a:off x="8353876" y="2861935"/>
            <a:ext cx="1572768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A3868067-1C2F-EC86-D820-3B9F19F07DFE}"/>
              </a:ext>
            </a:extLst>
          </p:cNvPr>
          <p:cNvSpPr/>
          <p:nvPr/>
        </p:nvSpPr>
        <p:spPr>
          <a:xfrm>
            <a:off x="8445316" y="2925943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Validators check every quote and case ID; reflexion retries failures; human review decides; overrides and verified gaps feed memory and RAG.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2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07D50-0E21-7866-7365-E2A32AF2C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DE5007-68E9-57EB-5F2B-0B48861B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7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Agentic Workflow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B9336-1727-98D6-7B09-C3787F3EE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1C2069E1-6E08-9806-D862-1297660BC93D}"/>
              </a:ext>
            </a:extLst>
          </p:cNvPr>
          <p:cNvSpPr/>
          <p:nvPr/>
        </p:nvSpPr>
        <p:spPr>
          <a:xfrm>
            <a:off x="1449692" y="1794836"/>
            <a:ext cx="196596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970069D-83E2-32FD-670B-E5E0A2D75843}"/>
              </a:ext>
            </a:extLst>
          </p:cNvPr>
          <p:cNvSpPr/>
          <p:nvPr/>
        </p:nvSpPr>
        <p:spPr>
          <a:xfrm>
            <a:off x="1449692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SENSE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E601BF77-C720-6354-E783-67E67A811DBA}"/>
              </a:ext>
            </a:extLst>
          </p:cNvPr>
          <p:cNvSpPr/>
          <p:nvPr/>
        </p:nvSpPr>
        <p:spPr>
          <a:xfrm>
            <a:off x="1449692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18F43CC-5283-AD21-28F1-76D0916EC56C}"/>
              </a:ext>
            </a:extLst>
          </p:cNvPr>
          <p:cNvSpPr/>
          <p:nvPr/>
        </p:nvSpPr>
        <p:spPr>
          <a:xfrm>
            <a:off x="1577708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JD, resume, and transcript uploads; deterministic parsing, PII redaction, and privacy-filtered vector indexing.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81406538-C17C-65C9-24CD-90754C0C00BA}"/>
              </a:ext>
            </a:extLst>
          </p:cNvPr>
          <p:cNvSpPr/>
          <p:nvPr/>
        </p:nvSpPr>
        <p:spPr>
          <a:xfrm>
            <a:off x="3415652" y="1922852"/>
            <a:ext cx="155448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0876A29E-8D97-1BA2-AC67-94B3F311C3AA}"/>
              </a:ext>
            </a:extLst>
          </p:cNvPr>
          <p:cNvSpPr/>
          <p:nvPr/>
        </p:nvSpPr>
        <p:spPr>
          <a:xfrm>
            <a:off x="3571100" y="1794836"/>
            <a:ext cx="1965960" cy="32918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0E4F5098-A20B-EC63-BCC0-87B2F3128F57}"/>
              </a:ext>
            </a:extLst>
          </p:cNvPr>
          <p:cNvSpPr/>
          <p:nvPr/>
        </p:nvSpPr>
        <p:spPr>
          <a:xfrm>
            <a:off x="3571100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REASON &amp; PLAN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61FECC6-0337-6B89-5537-59D020B03D87}"/>
              </a:ext>
            </a:extLst>
          </p:cNvPr>
          <p:cNvSpPr/>
          <p:nvPr/>
        </p:nvSpPr>
        <p:spPr>
          <a:xfrm>
            <a:off x="3571100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E26C1369-67EC-48D0-416B-2BC09DC26190}"/>
              </a:ext>
            </a:extLst>
          </p:cNvPr>
          <p:cNvSpPr/>
          <p:nvPr/>
        </p:nvSpPr>
        <p:spPr>
          <a:xfrm>
            <a:off x="3699116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Supervisor picks minimal/standard/deep depth; a retrieval planner resolves intent into semantic queries; agents reason over deduplicated cases.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5F506587-3C8D-A433-DBE4-1B3113AA62B1}"/>
              </a:ext>
            </a:extLst>
          </p:cNvPr>
          <p:cNvSpPr/>
          <p:nvPr/>
        </p:nvSpPr>
        <p:spPr>
          <a:xfrm>
            <a:off x="5537060" y="1922852"/>
            <a:ext cx="155448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64949B2-6292-91A4-DCFB-5C88CCCF669C}"/>
              </a:ext>
            </a:extLst>
          </p:cNvPr>
          <p:cNvSpPr/>
          <p:nvPr/>
        </p:nvSpPr>
        <p:spPr>
          <a:xfrm>
            <a:off x="5692508" y="1794836"/>
            <a:ext cx="196596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F8BA362-6979-45FD-39C7-77184E02A75D}"/>
              </a:ext>
            </a:extLst>
          </p:cNvPr>
          <p:cNvSpPr/>
          <p:nvPr/>
        </p:nvSpPr>
        <p:spPr>
          <a:xfrm>
            <a:off x="5692508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ACT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D24843B2-32E0-25EC-EE70-AA7C1B73FE09}"/>
              </a:ext>
            </a:extLst>
          </p:cNvPr>
          <p:cNvSpPr/>
          <p:nvPr/>
        </p:nvSpPr>
        <p:spPr>
          <a:xfrm>
            <a:off x="5692508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83C0CB5-64D5-189F-EE6E-86155CA49CB8}"/>
              </a:ext>
            </a:extLst>
          </p:cNvPr>
          <p:cNvSpPr/>
          <p:nvPr/>
        </p:nvSpPr>
        <p:spPr>
          <a:xfrm>
            <a:off x="5820524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Agents write match analyses, question sets, transcript evaluations, red flags, and decision packets to Postgres; verified results index back into pgvector.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67C60717-7B29-527D-392B-726C6D667DD3}"/>
              </a:ext>
            </a:extLst>
          </p:cNvPr>
          <p:cNvSpPr/>
          <p:nvPr/>
        </p:nvSpPr>
        <p:spPr>
          <a:xfrm>
            <a:off x="7658468" y="1922852"/>
            <a:ext cx="155448" cy="5486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7B3B7891-5B77-4529-2799-A2CFD9BF9DEE}"/>
              </a:ext>
            </a:extLst>
          </p:cNvPr>
          <p:cNvSpPr/>
          <p:nvPr/>
        </p:nvSpPr>
        <p:spPr>
          <a:xfrm>
            <a:off x="7813916" y="1794836"/>
            <a:ext cx="1965960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366B5549-9FDC-F80F-4D82-BAF9F2B0EA62}"/>
              </a:ext>
            </a:extLst>
          </p:cNvPr>
          <p:cNvSpPr/>
          <p:nvPr/>
        </p:nvSpPr>
        <p:spPr>
          <a:xfrm>
            <a:off x="7813916" y="1794836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OBSERVE &amp; REFLECT</a:t>
            </a:r>
            <a:endParaRPr lang="en-US" sz="10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509EDB2E-64C1-9153-AC42-97371638684B}"/>
              </a:ext>
            </a:extLst>
          </p:cNvPr>
          <p:cNvSpPr/>
          <p:nvPr/>
        </p:nvSpPr>
        <p:spPr>
          <a:xfrm>
            <a:off x="7813916" y="2142308"/>
            <a:ext cx="1965960" cy="1188720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D9AC2C30-B8F8-65E8-89E2-3CBA4F58BCCC}"/>
              </a:ext>
            </a:extLst>
          </p:cNvPr>
          <p:cNvSpPr/>
          <p:nvPr/>
        </p:nvSpPr>
        <p:spPr>
          <a:xfrm>
            <a:off x="7941932" y="2233748"/>
            <a:ext cx="1783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Mechanical validators verify quotes and case IDs; reflexion retries invalid output; humans approve decisions; feedback becomes calibration memory.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52D6B40-C7C1-143B-2868-64682B7A3B3B}"/>
              </a:ext>
            </a:extLst>
          </p:cNvPr>
          <p:cNvSpPr/>
          <p:nvPr/>
        </p:nvSpPr>
        <p:spPr>
          <a:xfrm>
            <a:off x="1294244" y="4255219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Agentic Techniques Used:</a:t>
            </a:r>
            <a:endParaRPr lang="en-US" sz="9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37EFEADA-974F-88EC-F64A-1610D97FBEFB}"/>
              </a:ext>
            </a:extLst>
          </p:cNvPr>
          <p:cNvSpPr/>
          <p:nvPr/>
        </p:nvSpPr>
        <p:spPr>
          <a:xfrm>
            <a:off x="3214484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E52C8360-535E-CF00-1BB1-7E4782B934BF}"/>
              </a:ext>
            </a:extLst>
          </p:cNvPr>
          <p:cNvSpPr/>
          <p:nvPr/>
        </p:nvSpPr>
        <p:spPr>
          <a:xfrm>
            <a:off x="3214484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LLM Agent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14163F52-3545-F108-9028-2B0A2CE4B522}"/>
              </a:ext>
            </a:extLst>
          </p:cNvPr>
          <p:cNvSpPr/>
          <p:nvPr/>
        </p:nvSpPr>
        <p:spPr>
          <a:xfrm>
            <a:off x="4064876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BC1D177B-25CA-60FB-82CE-583D890F5F83}"/>
              </a:ext>
            </a:extLst>
          </p:cNvPr>
          <p:cNvSpPr/>
          <p:nvPr/>
        </p:nvSpPr>
        <p:spPr>
          <a:xfrm>
            <a:off x="4064876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Tool Calling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3C590E4D-3BF1-1676-AA91-DFBED67396AB}"/>
              </a:ext>
            </a:extLst>
          </p:cNvPr>
          <p:cNvSpPr/>
          <p:nvPr/>
        </p:nvSpPr>
        <p:spPr>
          <a:xfrm>
            <a:off x="4915268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D88EE7A0-F893-4C86-BF04-C73150C6A715}"/>
              </a:ext>
            </a:extLst>
          </p:cNvPr>
          <p:cNvSpPr/>
          <p:nvPr/>
        </p:nvSpPr>
        <p:spPr>
          <a:xfrm>
            <a:off x="4915268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RAG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8" name="Shape 38">
            <a:extLst>
              <a:ext uri="{FF2B5EF4-FFF2-40B4-BE49-F238E27FC236}">
                <a16:creationId xmlns:a16="http://schemas.microsoft.com/office/drawing/2014/main" id="{A04D0898-1182-19E5-7BCD-A9C8B5E1F09B}"/>
              </a:ext>
            </a:extLst>
          </p:cNvPr>
          <p:cNvSpPr/>
          <p:nvPr/>
        </p:nvSpPr>
        <p:spPr>
          <a:xfrm>
            <a:off x="5765660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9" name="Text 39">
            <a:extLst>
              <a:ext uri="{FF2B5EF4-FFF2-40B4-BE49-F238E27FC236}">
                <a16:creationId xmlns:a16="http://schemas.microsoft.com/office/drawing/2014/main" id="{9573346F-829A-081C-8B99-C29D5B29FC96}"/>
              </a:ext>
            </a:extLst>
          </p:cNvPr>
          <p:cNvSpPr/>
          <p:nvPr/>
        </p:nvSpPr>
        <p:spPr>
          <a:xfrm>
            <a:off x="5765660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Multi-Agent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A3901B97-8C8F-52E6-8DA6-55A4AF4E0556}"/>
              </a:ext>
            </a:extLst>
          </p:cNvPr>
          <p:cNvSpPr/>
          <p:nvPr/>
        </p:nvSpPr>
        <p:spPr>
          <a:xfrm>
            <a:off x="6616052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1" name="Text 41">
            <a:extLst>
              <a:ext uri="{FF2B5EF4-FFF2-40B4-BE49-F238E27FC236}">
                <a16:creationId xmlns:a16="http://schemas.microsoft.com/office/drawing/2014/main" id="{497E422C-ADC8-367A-FA66-22920465805A}"/>
              </a:ext>
            </a:extLst>
          </p:cNvPr>
          <p:cNvSpPr/>
          <p:nvPr/>
        </p:nvSpPr>
        <p:spPr>
          <a:xfrm>
            <a:off x="6616052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Planning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43048BB1-DAA4-C662-48D4-D9DF6D7E7AA1}"/>
              </a:ext>
            </a:extLst>
          </p:cNvPr>
          <p:cNvSpPr/>
          <p:nvPr/>
        </p:nvSpPr>
        <p:spPr>
          <a:xfrm>
            <a:off x="7466444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3" name="Text 43">
            <a:extLst>
              <a:ext uri="{FF2B5EF4-FFF2-40B4-BE49-F238E27FC236}">
                <a16:creationId xmlns:a16="http://schemas.microsoft.com/office/drawing/2014/main" id="{454A68E9-0077-3C01-45FD-74CE03FF84A8}"/>
              </a:ext>
            </a:extLst>
          </p:cNvPr>
          <p:cNvSpPr/>
          <p:nvPr/>
        </p:nvSpPr>
        <p:spPr>
          <a:xfrm>
            <a:off x="7466444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Memory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718FD7C5-E4F1-6468-3B02-479C1E211BF7}"/>
              </a:ext>
            </a:extLst>
          </p:cNvPr>
          <p:cNvSpPr/>
          <p:nvPr/>
        </p:nvSpPr>
        <p:spPr>
          <a:xfrm>
            <a:off x="8316836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04470D17-2D85-0610-673A-4B2AA398120B}"/>
              </a:ext>
            </a:extLst>
          </p:cNvPr>
          <p:cNvSpPr/>
          <p:nvPr/>
        </p:nvSpPr>
        <p:spPr>
          <a:xfrm>
            <a:off x="8316836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HITL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CA867CC6-C1DD-C3F8-EB28-38C02364D0DE}"/>
              </a:ext>
            </a:extLst>
          </p:cNvPr>
          <p:cNvSpPr/>
          <p:nvPr/>
        </p:nvSpPr>
        <p:spPr>
          <a:xfrm>
            <a:off x="9167228" y="4236931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D6E4FF"/>
          </a:solidFill>
          <a:ln w="12700">
            <a:solidFill>
              <a:srgbClr val="A0B8E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67" name="Text 47">
            <a:extLst>
              <a:ext uri="{FF2B5EF4-FFF2-40B4-BE49-F238E27FC236}">
                <a16:creationId xmlns:a16="http://schemas.microsoft.com/office/drawing/2014/main" id="{B53C9386-5EB5-3671-D617-304E9F37D69E}"/>
              </a:ext>
            </a:extLst>
          </p:cNvPr>
          <p:cNvSpPr/>
          <p:nvPr/>
        </p:nvSpPr>
        <p:spPr>
          <a:xfrm>
            <a:off x="9167228" y="4236931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RL</a:t>
            </a:r>
            <a:endParaRPr lang="en-US" sz="7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0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3C778-F766-E4C1-BE01-90F190AF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264DE2-6CCC-7160-77B4-6DF3B929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Implementation and Demo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35632-1F5F-6136-69D3-287FCA065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A0CA0-0C57-1B5B-B820-C54B63446401}"/>
              </a:ext>
            </a:extLst>
          </p:cNvPr>
          <p:cNvSpPr txBox="1"/>
          <p:nvPr/>
        </p:nvSpPr>
        <p:spPr>
          <a:xfrm>
            <a:off x="537417" y="1010498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sz="1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Live walkthrough of the working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Demo flow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Dashboard — open/closed positions, expandable candidate rows, pipeline stats.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Job intake — JD Agent extracts weighted requirements; candidate added via job picker.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Candidate analysis — evidence match score, gaps, peer context, generated questions.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Transcript review — evaluation scores with quotes; red flags grounded in retrieved cases.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Under the Hood (Demo mode) — live agent runs, workflow path, prompt overrides.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Settings → Tokens usage — per-agent and per-candidate token and cost metrics.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Human review — decision packet, overrides, and expert-verified gap capture.</a:t>
            </a:r>
          </a:p>
        </p:txBody>
      </p:sp>
    </p:spTree>
    <p:extLst>
      <p:ext uri="{BB962C8B-B14F-4D97-AF65-F5344CB8AC3E}">
        <p14:creationId xmlns:p14="http://schemas.microsoft.com/office/powerpoint/2010/main" val="403976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0FF8-A644-BDDA-502F-0223EF76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D48C899-20CF-9FBA-1DF9-D6C9E082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61" y="328138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Testing and Validation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7D8DE-C68A-0739-B959-3A46656A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7C854-2F56-26CC-71A7-8A887D6AA875}"/>
              </a:ext>
            </a:extLst>
          </p:cNvPr>
          <p:cNvSpPr txBox="1"/>
          <p:nvPr/>
        </p:nvSpPr>
        <p:spPr>
          <a:xfrm>
            <a:off x="412727" y="937248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sz="1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Use cases, edge cases, and validation metrics. Values are design targets from pilot runs, not production measurements.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E7C134CE-9944-1F20-25A0-16123850FEEC}"/>
              </a:ext>
            </a:extLst>
          </p:cNvPr>
          <p:cNvSpPr/>
          <p:nvPr/>
        </p:nvSpPr>
        <p:spPr>
          <a:xfrm>
            <a:off x="1517442" y="1604045"/>
            <a:ext cx="2377440" cy="320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B7B21B6B-3D7D-1EA5-7AD2-42A2D7C5CE36}"/>
              </a:ext>
            </a:extLst>
          </p:cNvPr>
          <p:cNvSpPr/>
          <p:nvPr/>
        </p:nvSpPr>
        <p:spPr>
          <a:xfrm>
            <a:off x="1517442" y="160404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Metric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2EF4EF7D-083D-4F4F-16A8-22D1876C8813}"/>
              </a:ext>
            </a:extLst>
          </p:cNvPr>
          <p:cNvSpPr/>
          <p:nvPr/>
        </p:nvSpPr>
        <p:spPr>
          <a:xfrm>
            <a:off x="3894882" y="1604045"/>
            <a:ext cx="1874520" cy="3200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0909A3A-1749-C92E-39BB-135958A37B45}"/>
              </a:ext>
            </a:extLst>
          </p:cNvPr>
          <p:cNvSpPr/>
          <p:nvPr/>
        </p:nvSpPr>
        <p:spPr>
          <a:xfrm>
            <a:off x="3894882" y="1604045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Current (Manual)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C2686C0B-A8BA-BE9F-4913-82D15EEF5535}"/>
              </a:ext>
            </a:extLst>
          </p:cNvPr>
          <p:cNvSpPr/>
          <p:nvPr/>
        </p:nvSpPr>
        <p:spPr>
          <a:xfrm>
            <a:off x="5769402" y="1604045"/>
            <a:ext cx="18745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284D2A57-F47A-C872-CC87-FB3F3D637541}"/>
              </a:ext>
            </a:extLst>
          </p:cNvPr>
          <p:cNvSpPr/>
          <p:nvPr/>
        </p:nvSpPr>
        <p:spPr>
          <a:xfrm>
            <a:off x="5769402" y="1604045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With Agentic AI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482D31B0-164A-91C3-B05E-EF41DA9E6276}"/>
              </a:ext>
            </a:extLst>
          </p:cNvPr>
          <p:cNvSpPr/>
          <p:nvPr/>
        </p:nvSpPr>
        <p:spPr>
          <a:xfrm>
            <a:off x="7643922" y="1604045"/>
            <a:ext cx="1874520" cy="3200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7C6AD52-F145-111A-620F-ECDD9DEA9DBD}"/>
              </a:ext>
            </a:extLst>
          </p:cNvPr>
          <p:cNvSpPr/>
          <p:nvPr/>
        </p:nvSpPr>
        <p:spPr>
          <a:xfrm>
            <a:off x="7643922" y="1604045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Improvement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C24A5F5E-BFAB-F47C-EC88-AABAA37B7C04}"/>
              </a:ext>
            </a:extLst>
          </p:cNvPr>
          <p:cNvSpPr/>
          <p:nvPr/>
        </p:nvSpPr>
        <p:spPr>
          <a:xfrm>
            <a:off x="1517442" y="1924085"/>
            <a:ext cx="237744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CEC873FF-FB3E-09E7-320D-9272BA10712C}"/>
              </a:ext>
            </a:extLst>
          </p:cNvPr>
          <p:cNvSpPr/>
          <p:nvPr/>
        </p:nvSpPr>
        <p:spPr>
          <a:xfrm>
            <a:off x="1608882" y="1924085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Screening time per candidate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165B1447-C40F-CEBE-1126-00D2B97EAEA5}"/>
              </a:ext>
            </a:extLst>
          </p:cNvPr>
          <p:cNvSpPr/>
          <p:nvPr/>
        </p:nvSpPr>
        <p:spPr>
          <a:xfrm>
            <a:off x="3894882" y="1924085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0C30B3A-7A9E-5A51-97FF-9C31DC5D92F9}"/>
              </a:ext>
            </a:extLst>
          </p:cNvPr>
          <p:cNvSpPr/>
          <p:nvPr/>
        </p:nvSpPr>
        <p:spPr>
          <a:xfrm>
            <a:off x="3986322" y="1924085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~20–30 min manual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023D9556-7047-0103-BE62-8172EFD1135C}"/>
              </a:ext>
            </a:extLst>
          </p:cNvPr>
          <p:cNvSpPr/>
          <p:nvPr/>
        </p:nvSpPr>
        <p:spPr>
          <a:xfrm>
            <a:off x="5769402" y="1924085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F247F57F-6A6A-1109-6EF3-9A9A8168E964}"/>
              </a:ext>
            </a:extLst>
          </p:cNvPr>
          <p:cNvSpPr/>
          <p:nvPr/>
        </p:nvSpPr>
        <p:spPr>
          <a:xfrm>
            <a:off x="5860842" y="1924085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~2–3 min automated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6EEAA957-9492-D360-C118-1EDADB7A4566}"/>
              </a:ext>
            </a:extLst>
          </p:cNvPr>
          <p:cNvSpPr/>
          <p:nvPr/>
        </p:nvSpPr>
        <p:spPr>
          <a:xfrm>
            <a:off x="7643922" y="1924085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263ED974-2925-BCB1-7DC1-5DE8786B5689}"/>
              </a:ext>
            </a:extLst>
          </p:cNvPr>
          <p:cNvSpPr/>
          <p:nvPr/>
        </p:nvSpPr>
        <p:spPr>
          <a:xfrm>
            <a:off x="7735362" y="1924085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~85–90% faster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607DFD03-00CD-F45E-8EFD-AE9E1D7973AF}"/>
              </a:ext>
            </a:extLst>
          </p:cNvPr>
          <p:cNvSpPr/>
          <p:nvPr/>
        </p:nvSpPr>
        <p:spPr>
          <a:xfrm>
            <a:off x="1517442" y="2399573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F2BD0D03-1251-D156-411A-24E6E3CA817B}"/>
              </a:ext>
            </a:extLst>
          </p:cNvPr>
          <p:cNvSpPr/>
          <p:nvPr/>
        </p:nvSpPr>
        <p:spPr>
          <a:xfrm>
            <a:off x="1608882" y="2399573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Interview evaluation turnaround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83C58549-FFDA-F329-54C6-3E45EC504575}"/>
              </a:ext>
            </a:extLst>
          </p:cNvPr>
          <p:cNvSpPr/>
          <p:nvPr/>
        </p:nvSpPr>
        <p:spPr>
          <a:xfrm>
            <a:off x="3894882" y="2399573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C59EA0C-E100-AAA5-51E3-1347D4F613EF}"/>
              </a:ext>
            </a:extLst>
          </p:cNvPr>
          <p:cNvSpPr/>
          <p:nvPr/>
        </p:nvSpPr>
        <p:spPr>
          <a:xfrm>
            <a:off x="3986322" y="2399573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Hours to days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80193F9F-979E-4AF2-2C62-BEE85BD101CD}"/>
              </a:ext>
            </a:extLst>
          </p:cNvPr>
          <p:cNvSpPr/>
          <p:nvPr/>
        </p:nvSpPr>
        <p:spPr>
          <a:xfrm>
            <a:off x="5769402" y="2399573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043F4594-7784-EBB2-2A5F-F7C6214D3364}"/>
              </a:ext>
            </a:extLst>
          </p:cNvPr>
          <p:cNvSpPr/>
          <p:nvPr/>
        </p:nvSpPr>
        <p:spPr>
          <a:xfrm>
            <a:off x="5860842" y="2399573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Minutes after upload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B3029FB0-A127-64FF-801C-2EB99C203AFF}"/>
              </a:ext>
            </a:extLst>
          </p:cNvPr>
          <p:cNvSpPr/>
          <p:nvPr/>
        </p:nvSpPr>
        <p:spPr>
          <a:xfrm>
            <a:off x="7643922" y="2399573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8BB9F56A-8B32-D43B-42A3-68AE078CF8E0}"/>
              </a:ext>
            </a:extLst>
          </p:cNvPr>
          <p:cNvSpPr/>
          <p:nvPr/>
        </p:nvSpPr>
        <p:spPr>
          <a:xfrm>
            <a:off x="7735362" y="2399573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Near real-time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919EFD51-E81C-56B2-0720-7E3B98D802EE}"/>
              </a:ext>
            </a:extLst>
          </p:cNvPr>
          <p:cNvSpPr/>
          <p:nvPr/>
        </p:nvSpPr>
        <p:spPr>
          <a:xfrm>
            <a:off x="1517442" y="2875061"/>
            <a:ext cx="237744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201BE007-FCE0-F5D5-53B6-5A973833A42A}"/>
              </a:ext>
            </a:extLst>
          </p:cNvPr>
          <p:cNvSpPr/>
          <p:nvPr/>
        </p:nvSpPr>
        <p:spPr>
          <a:xfrm>
            <a:off x="1608882" y="2875061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Ungrounded AI claims in flags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F81A971A-A2D7-35E2-9755-C071AA20071F}"/>
              </a:ext>
            </a:extLst>
          </p:cNvPr>
          <p:cNvSpPr/>
          <p:nvPr/>
        </p:nvSpPr>
        <p:spPr>
          <a:xfrm>
            <a:off x="3894882" y="2875061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41CA72A-2DCE-B5F4-6087-E07AE9429318}"/>
              </a:ext>
            </a:extLst>
          </p:cNvPr>
          <p:cNvSpPr/>
          <p:nvPr/>
        </p:nvSpPr>
        <p:spPr>
          <a:xfrm>
            <a:off x="3986322" y="2875061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Uncontrolled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4" name="Shape 36">
            <a:extLst>
              <a:ext uri="{FF2B5EF4-FFF2-40B4-BE49-F238E27FC236}">
                <a16:creationId xmlns:a16="http://schemas.microsoft.com/office/drawing/2014/main" id="{9D4CF10E-EC90-4067-9657-5812860B73C7}"/>
              </a:ext>
            </a:extLst>
          </p:cNvPr>
          <p:cNvSpPr/>
          <p:nvPr/>
        </p:nvSpPr>
        <p:spPr>
          <a:xfrm>
            <a:off x="5769402" y="2875061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2A9DD103-D2E7-F76F-DB0B-593E9DD3BDF2}"/>
              </a:ext>
            </a:extLst>
          </p:cNvPr>
          <p:cNvSpPr/>
          <p:nvPr/>
        </p:nvSpPr>
        <p:spPr>
          <a:xfrm>
            <a:off x="5860842" y="2875061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Quote + case ID required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6" name="Shape 38">
            <a:extLst>
              <a:ext uri="{FF2B5EF4-FFF2-40B4-BE49-F238E27FC236}">
                <a16:creationId xmlns:a16="http://schemas.microsoft.com/office/drawing/2014/main" id="{8663A0E6-B6C0-9D86-DDE4-752D6D4C6EC8}"/>
              </a:ext>
            </a:extLst>
          </p:cNvPr>
          <p:cNvSpPr/>
          <p:nvPr/>
        </p:nvSpPr>
        <p:spPr>
          <a:xfrm>
            <a:off x="7643922" y="2875061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C7CDB23F-BA8E-2178-96EF-916EB02B456D}"/>
              </a:ext>
            </a:extLst>
          </p:cNvPr>
          <p:cNvSpPr/>
          <p:nvPr/>
        </p:nvSpPr>
        <p:spPr>
          <a:xfrm>
            <a:off x="7735362" y="2875061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100% mechanically checked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8" name="Shape 40">
            <a:extLst>
              <a:ext uri="{FF2B5EF4-FFF2-40B4-BE49-F238E27FC236}">
                <a16:creationId xmlns:a16="http://schemas.microsoft.com/office/drawing/2014/main" id="{CEF99E68-32B8-DD66-3DA2-4A4C5F607E68}"/>
              </a:ext>
            </a:extLst>
          </p:cNvPr>
          <p:cNvSpPr/>
          <p:nvPr/>
        </p:nvSpPr>
        <p:spPr>
          <a:xfrm>
            <a:off x="1517442" y="3350549"/>
            <a:ext cx="2377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04B9BA63-26C5-5131-6ED7-C98696F6836A}"/>
              </a:ext>
            </a:extLst>
          </p:cNvPr>
          <p:cNvSpPr/>
          <p:nvPr/>
        </p:nvSpPr>
        <p:spPr>
          <a:xfrm>
            <a:off x="1608882" y="3350549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Candidate PII sent to models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0" name="Shape 42">
            <a:extLst>
              <a:ext uri="{FF2B5EF4-FFF2-40B4-BE49-F238E27FC236}">
                <a16:creationId xmlns:a16="http://schemas.microsoft.com/office/drawing/2014/main" id="{99435AED-4882-C9D6-BD2B-AF6958871321}"/>
              </a:ext>
            </a:extLst>
          </p:cNvPr>
          <p:cNvSpPr/>
          <p:nvPr/>
        </p:nvSpPr>
        <p:spPr>
          <a:xfrm>
            <a:off x="3894882" y="3350549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536D064C-3D2F-D377-DE08-5BAA3569FBB5}"/>
              </a:ext>
            </a:extLst>
          </p:cNvPr>
          <p:cNvSpPr/>
          <p:nvPr/>
        </p:nvSpPr>
        <p:spPr>
          <a:xfrm>
            <a:off x="3986322" y="3350549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Full documents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2" name="Shape 44">
            <a:extLst>
              <a:ext uri="{FF2B5EF4-FFF2-40B4-BE49-F238E27FC236}">
                <a16:creationId xmlns:a16="http://schemas.microsoft.com/office/drawing/2014/main" id="{248C4EE6-3022-B7C8-BBA0-D71400751616}"/>
              </a:ext>
            </a:extLst>
          </p:cNvPr>
          <p:cNvSpPr/>
          <p:nvPr/>
        </p:nvSpPr>
        <p:spPr>
          <a:xfrm>
            <a:off x="5769402" y="3350549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3" name="Text 45">
            <a:extLst>
              <a:ext uri="{FF2B5EF4-FFF2-40B4-BE49-F238E27FC236}">
                <a16:creationId xmlns:a16="http://schemas.microsoft.com/office/drawing/2014/main" id="{FDB9C460-3F07-E1D9-2130-E2DDEEEB214F}"/>
              </a:ext>
            </a:extLst>
          </p:cNvPr>
          <p:cNvSpPr/>
          <p:nvPr/>
        </p:nvSpPr>
        <p:spPr>
          <a:xfrm>
            <a:off x="5860842" y="3350549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Filtered at boundary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D3F32976-D717-5CB4-23A4-8E195BA6784B}"/>
              </a:ext>
            </a:extLst>
          </p:cNvPr>
          <p:cNvSpPr/>
          <p:nvPr/>
        </p:nvSpPr>
        <p:spPr>
          <a:xfrm>
            <a:off x="7643922" y="3350549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6C121DF2-D5ED-3F54-7AD0-D8AF18E48484}"/>
              </a:ext>
            </a:extLst>
          </p:cNvPr>
          <p:cNvSpPr/>
          <p:nvPr/>
        </p:nvSpPr>
        <p:spPr>
          <a:xfrm>
            <a:off x="7735362" y="3350549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0 PII by design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6" name="Shape 48">
            <a:extLst>
              <a:ext uri="{FF2B5EF4-FFF2-40B4-BE49-F238E27FC236}">
                <a16:creationId xmlns:a16="http://schemas.microsoft.com/office/drawing/2014/main" id="{646415EC-7081-433F-03B8-5E6F5BBBA311}"/>
              </a:ext>
            </a:extLst>
          </p:cNvPr>
          <p:cNvSpPr/>
          <p:nvPr/>
        </p:nvSpPr>
        <p:spPr>
          <a:xfrm>
            <a:off x="1517442" y="3826037"/>
            <a:ext cx="237744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5C15B778-0309-232D-4345-5009CEC18FEC}"/>
              </a:ext>
            </a:extLst>
          </p:cNvPr>
          <p:cNvSpPr/>
          <p:nvPr/>
        </p:nvSpPr>
        <p:spPr>
          <a:xfrm>
            <a:off x="1608882" y="3826037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E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Reviewer effort per decision</a:t>
            </a:r>
            <a:endParaRPr lang="en-US" sz="90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8" name="Shape 50">
            <a:extLst>
              <a:ext uri="{FF2B5EF4-FFF2-40B4-BE49-F238E27FC236}">
                <a16:creationId xmlns:a16="http://schemas.microsoft.com/office/drawing/2014/main" id="{32CA8CCE-DE50-2BF2-326F-8EB181FAE299}"/>
              </a:ext>
            </a:extLst>
          </p:cNvPr>
          <p:cNvSpPr/>
          <p:nvPr/>
        </p:nvSpPr>
        <p:spPr>
          <a:xfrm>
            <a:off x="3894882" y="3826037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884B6F39-9CAB-EBC0-C617-FC9F1B2FA4AC}"/>
              </a:ext>
            </a:extLst>
          </p:cNvPr>
          <p:cNvSpPr/>
          <p:nvPr/>
        </p:nvSpPr>
        <p:spPr>
          <a:xfrm>
            <a:off x="3986322" y="3826037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Assemble manually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0" name="Shape 52">
            <a:extLst>
              <a:ext uri="{FF2B5EF4-FFF2-40B4-BE49-F238E27FC236}">
                <a16:creationId xmlns:a16="http://schemas.microsoft.com/office/drawing/2014/main" id="{0C5FD1B6-347F-D01C-5E84-C3055648C7C2}"/>
              </a:ext>
            </a:extLst>
          </p:cNvPr>
          <p:cNvSpPr/>
          <p:nvPr/>
        </p:nvSpPr>
        <p:spPr>
          <a:xfrm>
            <a:off x="5769402" y="3826037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B1D3EE11-03A5-5DE5-B844-4DBA065645FB}"/>
              </a:ext>
            </a:extLst>
          </p:cNvPr>
          <p:cNvSpPr/>
          <p:nvPr/>
        </p:nvSpPr>
        <p:spPr>
          <a:xfrm>
            <a:off x="5860842" y="3826037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Pre-built packet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2" name="Shape 54">
            <a:extLst>
              <a:ext uri="{FF2B5EF4-FFF2-40B4-BE49-F238E27FC236}">
                <a16:creationId xmlns:a16="http://schemas.microsoft.com/office/drawing/2014/main" id="{676FD89C-29C4-48C3-9B1F-26111846D8D1}"/>
              </a:ext>
            </a:extLst>
          </p:cNvPr>
          <p:cNvSpPr/>
          <p:nvPr/>
        </p:nvSpPr>
        <p:spPr>
          <a:xfrm>
            <a:off x="7643922" y="3826037"/>
            <a:ext cx="1874520" cy="438912"/>
          </a:xfrm>
          <a:prstGeom prst="rect">
            <a:avLst/>
          </a:prstGeom>
          <a:solidFill>
            <a:srgbClr val="F4F7FC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US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53" name="Text 55">
            <a:extLst>
              <a:ext uri="{FF2B5EF4-FFF2-40B4-BE49-F238E27FC236}">
                <a16:creationId xmlns:a16="http://schemas.microsoft.com/office/drawing/2014/main" id="{0624245F-46F5-B75D-A586-ADB4D2887C44}"/>
              </a:ext>
            </a:extLst>
          </p:cNvPr>
          <p:cNvSpPr/>
          <p:nvPr/>
        </p:nvSpPr>
        <p:spPr>
          <a:xfrm>
            <a:off x="7735362" y="3826037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74151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Single review step</a:t>
            </a:r>
            <a:endParaRPr lang="en-US" sz="8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3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A64C-E4E4-4774-E4A8-9705F85C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C34869-9129-22A9-9C35-5E0CD1DF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217692"/>
            <a:ext cx="6379901" cy="59160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Analysis and Results</a:t>
            </a:r>
            <a:endParaRPr lang="en-IN" dirty="0">
              <a:solidFill>
                <a:srgbClr val="4A4C55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49E9F-1B73-59CC-1DF9-6F50FBA87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E526F-D66B-4901-CC3E-4964D715C5C0}"/>
              </a:ext>
            </a:extLst>
          </p:cNvPr>
          <p:cNvSpPr txBox="1"/>
          <p:nvPr/>
        </p:nvSpPr>
        <p:spPr>
          <a:xfrm>
            <a:off x="402336" y="1000107"/>
            <a:ext cx="1009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What we validated, what the evidence shows, and how feedback loops back.</a:t>
            </a:r>
            <a:endParaRPr lang="en-IN" sz="18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Validation coverage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Schema validation on every structured output; quote verification against source documents; retrieved case IDs checked against what was actually fetched.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Reflexion loops recover invalid outputs; systematic failures are written to shared agent memory as bias warnings.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Edge cases exercised: missing sections, weak resumes, contradictory transcripts, duplicate skill phrasing, PII-heavy documents.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Results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Deterministic coverage anchor keeps LLM scores within a fixed tolerance, preventing score drift between runs.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Red flags without both a direct quote and a retrieved case ID are rejected by validators — no unsupported claims reach reviewers.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Expert-verified gaps become embedded precedent, measurably improving subsequent retrieval relevance.</a:t>
            </a:r>
          </a:p>
        </p:txBody>
      </p:sp>
    </p:spTree>
    <p:extLst>
      <p:ext uri="{BB962C8B-B14F-4D97-AF65-F5344CB8AC3E}">
        <p14:creationId xmlns:p14="http://schemas.microsoft.com/office/powerpoint/2010/main" val="257350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DA99AF-DCAD-4B93-4CCF-54214CBEB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8" y="300856"/>
            <a:ext cx="6832600" cy="5916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A4C55"/>
                </a:solidFill>
                <a:cs typeface="Poppins" panose="00000500000000000000" pitchFamily="2" charset="0"/>
              </a:rPr>
              <a:t>Suggestions and Conclusions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9B0CB51-9BA3-AEE8-A8EA-8B8970A81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0FD1C-44C3-884D-6D0D-5F6546A8378A}"/>
              </a:ext>
            </a:extLst>
          </p:cNvPr>
          <p:cNvSpPr txBox="1"/>
          <p:nvPr/>
        </p:nvSpPr>
        <p:spPr>
          <a:xfrm>
            <a:off x="436696" y="10062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Insights  |  Next steps  |  Future scope</a:t>
            </a:r>
            <a:endParaRPr lang="en-US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Insights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Grounding AI claims in quotes and retrieved cases is what makes reviewers trust the system.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A deterministic anchor plus LLM reasoning beats either approach alone.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Privacy filtering at a central boundary is simpler to audit than per-agent rules.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Observability (run history, workflow path, token metrics) turned AI behavior into something recruiters can inspect and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Next steps &amp; future scope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Calendar and ATS integrations for end-to-end pipeline coverage.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Calibration analytics: track override rates per agent to tune prompts and thresholds.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Richer knowledge base: outcome data (hired/not) as retrieval precedent.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Role-based access and per-team workspaces on top of the shared model.</a:t>
            </a:r>
          </a:p>
        </p:txBody>
      </p:sp>
    </p:spTree>
    <p:extLst>
      <p:ext uri="{BB962C8B-B14F-4D97-AF65-F5344CB8AC3E}">
        <p14:creationId xmlns:p14="http://schemas.microsoft.com/office/powerpoint/2010/main" val="132493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A7C5-4183-4B10-5404-0B5BF594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C5621D-08CC-0FCC-818B-0E8F712C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A4C55"/>
                </a:solidFill>
                <a:cs typeface="Poppins" panose="00000500000000000000" pitchFamily="2" charset="0"/>
              </a:rPr>
              <a:t>Annexure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178194B-555A-CAF5-3DD3-292BD3239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28AED9-0C48-4188-A606-9E40331E64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87DEC-AEDF-D5D4-C072-37A15256F06B}"/>
              </a:ext>
            </a:extLst>
          </p:cNvPr>
          <p:cNvSpPr txBox="1"/>
          <p:nvPr/>
        </p:nvSpPr>
        <p:spPr>
          <a:xfrm>
            <a:off x="349251" y="1006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References | Codebase | Documentation</a:t>
            </a:r>
            <a:endParaRPr lang="en-US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Codebase &amp; artefacts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HireLens application — Next.js 16, React 19, LangChain/LangGraph, Supabase + pgvector, OpenAI chat and embedding models.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Project documentation — PRD, multi-agent architecture notes, token usage optimisation plan, knowledge-base usage guide (documentation/ folder).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References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LangGraph and LangChain documentation — agent orchestration and structured output.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OpenAI API documentation — chat models, embeddings, structured outputs.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333333"/>
                </a:solidFill>
              </a:rPr>
              <a:t>•  Supabase documentation — Postgres, pgvector similarity search, Auth with RLS.</a:t>
            </a:r>
          </a:p>
        </p:txBody>
      </p:sp>
    </p:spTree>
    <p:extLst>
      <p:ext uri="{BB962C8B-B14F-4D97-AF65-F5344CB8AC3E}">
        <p14:creationId xmlns:p14="http://schemas.microsoft.com/office/powerpoint/2010/main" val="140950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3E31-DBB9-0153-8982-45886575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4A4C55"/>
                </a:solidFill>
                <a:latin typeface="Roboto Slab"/>
              </a:rPr>
              <a:t>Thank you — questions welcome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HireLens: privacy-aware, evidence-grounded agentic recruitment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42892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3093</TotalTime>
  <Words>1427</Words>
  <Application>Microsoft Office PowerPoint</Application>
  <PresentationFormat>Widescreen</PresentationFormat>
  <Paragraphs>174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Roboto Slab</vt:lpstr>
      <vt:lpstr>Poppins</vt:lpstr>
      <vt:lpstr>Office Theme</vt:lpstr>
      <vt:lpstr>PowerPoint Presentation</vt:lpstr>
      <vt:lpstr>PowerPoint Presentation</vt:lpstr>
      <vt:lpstr>Problem Statement and Context </vt:lpstr>
      <vt:lpstr>Project Objectives</vt:lpstr>
      <vt:lpstr>Current Vs Proposed Approach</vt:lpstr>
      <vt:lpstr>System Architecture</vt:lpstr>
      <vt:lpstr>Agentic Workflow</vt:lpstr>
      <vt:lpstr>Implementation and Demo</vt:lpstr>
      <vt:lpstr>Testing and Validation</vt:lpstr>
      <vt:lpstr>Analysis and Results</vt:lpstr>
      <vt:lpstr>Suggestions and Conclusions</vt:lpstr>
      <vt:lpstr>Annexure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Pavan</dc:creator>
  <cp:lastModifiedBy>Rajat Srivastava</cp:lastModifiedBy>
  <cp:revision>203</cp:revision>
  <dcterms:created xsi:type="dcterms:W3CDTF">2020-09-21T17:38:15Z</dcterms:created>
  <dcterms:modified xsi:type="dcterms:W3CDTF">2026-09-22T14:14:08Z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caace6-0147-4eb4-9424-999efb4dea48_Enabled">
    <vt:lpwstr>true</vt:lpwstr>
  </property>
  <property fmtid="{D5CDD505-2E9C-101B-9397-08002B2CF9AE}" pid="3" name="MSIP_Label_c9caace6-0147-4eb4-9424-999efb4dea48_SetDate">
    <vt:lpwstr>2026-09-22T14:11:37Z</vt:lpwstr>
  </property>
  <property fmtid="{D5CDD505-2E9C-101B-9397-08002B2CF9AE}" pid="4" name="MSIP_Label_c9caace6-0147-4eb4-9424-999efb4dea48_Method">
    <vt:lpwstr>Standard</vt:lpwstr>
  </property>
  <property fmtid="{D5CDD505-2E9C-101B-9397-08002B2CF9AE}" pid="5" name="MSIP_Label_c9caace6-0147-4eb4-9424-999efb4dea48_Name">
    <vt:lpwstr>defa4170-0d19-0005-0004-bc88714345d2</vt:lpwstr>
  </property>
  <property fmtid="{D5CDD505-2E9C-101B-9397-08002B2CF9AE}" pid="6" name="MSIP_Label_c9caace6-0147-4eb4-9424-999efb4dea48_SiteId">
    <vt:lpwstr>c1edc258-9f36-468d-a860-685701f0c76b</vt:lpwstr>
  </property>
  <property fmtid="{D5CDD505-2E9C-101B-9397-08002B2CF9AE}" pid="7" name="MSIP_Label_c9caace6-0147-4eb4-9424-999efb4dea48_ActionId">
    <vt:lpwstr>1f28cebb-bc5e-4198-9c56-9d5c9fdfefc0</vt:lpwstr>
  </property>
  <property fmtid="{D5CDD505-2E9C-101B-9397-08002B2CF9AE}" pid="8" name="MSIP_Label_c9caace6-0147-4eb4-9424-999efb4dea48_ContentBits">
    <vt:lpwstr>0</vt:lpwstr>
  </property>
  <property fmtid="{D5CDD505-2E9C-101B-9397-08002B2CF9AE}" pid="9" name="MSIP_Label_c9caace6-0147-4eb4-9424-999efb4dea48_Tag">
    <vt:lpwstr>10, 3, 0, 1</vt:lpwstr>
  </property>
</Properties>
</file>